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6858000" cx="12192000"/>
  <p:notesSz cx="6858000" cy="9144000"/>
  <p:embeddedFontLst>
    <p:embeddedFont>
      <p:font typeface="Playfair Display"/>
      <p:bold r:id="rId26"/>
      <p:boldItalic r:id="rId27"/>
    </p:embeddedFont>
    <p:embeddedFont>
      <p:font typeface="Lora"/>
      <p:bold r:id="rId28"/>
      <p:boldItalic r:id="rId29"/>
    </p:embeddedFont>
    <p:embeddedFont>
      <p:font typeface="Fira Code"/>
      <p:bold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PlayfairDisplay-bold.fntdata"/><Relationship Id="rId25" Type="http://schemas.openxmlformats.org/officeDocument/2006/relationships/slide" Target="slides/slide20.xml"/><Relationship Id="rId28" Type="http://schemas.openxmlformats.org/officeDocument/2006/relationships/font" Target="fonts/Lora-bold.fntdata"/><Relationship Id="rId27" Type="http://schemas.openxmlformats.org/officeDocument/2006/relationships/font" Target="fonts/PlayfairDisplay-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Lora-boldItalic.fntdata"/><Relationship Id="rId7" Type="http://schemas.openxmlformats.org/officeDocument/2006/relationships/slide" Target="slides/slide2.xml"/><Relationship Id="rId8" Type="http://schemas.openxmlformats.org/officeDocument/2006/relationships/slide" Target="slides/slide3.xml"/><Relationship Id="rId30" Type="http://schemas.openxmlformats.org/officeDocument/2006/relationships/font" Target="fonts/FiraCode-bold.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d8b813cec8_0_17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d8b813cec8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d8b813cec8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g3d8b813cec8_0_9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d8b813cec8_0_2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g3d8b813cec8_0_26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d8b813cec8_0_4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g3d8b813cec8_0_45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d8b813cec8_0_6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g3d8b813cec8_0_64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d8b813cec8_0_8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g3d8b813cec8_0_83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d8b813cec8_0_10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g3d8b813cec8_0_10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d8be7e12a2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g3d8be7e12a2_0_9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d8be7e12a2_0_16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g3d8be7e12a2_0_16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3d8be7e12a2_0_2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g3d8be7e12a2_0_219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3d8be7e12a2_0_3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g3d8be7e12a2_0_31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1" name="Shape 11"/>
        <p:cNvGrpSpPr/>
        <p:nvPr/>
      </p:nvGrpSpPr>
      <p:grpSpPr>
        <a:xfrm>
          <a:off x="0" y="0"/>
          <a:ext cx="0" cy="0"/>
          <a:chOff x="0" y="0"/>
          <a:chExt cx="0" cy="0"/>
        </a:xfrm>
      </p:grpSpPr>
      <p:sp>
        <p:nvSpPr>
          <p:cNvPr id="12" name="Google Shape;12;p2"/>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4" name="Google Shape;14;p2"/>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7" name="Shape 17"/>
        <p:cNvGrpSpPr/>
        <p:nvPr/>
      </p:nvGrpSpPr>
      <p:grpSpPr>
        <a:xfrm>
          <a:off x="0" y="0"/>
          <a:ext cx="0" cy="0"/>
          <a:chOff x="0" y="0"/>
          <a:chExt cx="0" cy="0"/>
        </a:xfrm>
      </p:grpSpPr>
      <p:sp>
        <p:nvSpPr>
          <p:cNvPr id="18" name="Google Shape;18;p3"/>
          <p:cNvSpPr txBox="1"/>
          <p:nvPr>
            <p:ph type="ctrTitle"/>
          </p:nvPr>
        </p:nvSpPr>
        <p:spPr>
          <a:xfrm>
            <a:off x="914400" y="2130426"/>
            <a:ext cx="103632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
          <p:cNvSpPr txBox="1"/>
          <p:nvPr>
            <p:ph idx="1" type="subTitle"/>
          </p:nvPr>
        </p:nvSpPr>
        <p:spPr>
          <a:xfrm>
            <a:off x="1828800" y="3886200"/>
            <a:ext cx="85344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0" name="Google Shape;20;p3"/>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3"/>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4"/>
          <p:cNvSpPr txBox="1"/>
          <p:nvPr>
            <p:ph type="title"/>
          </p:nvPr>
        </p:nvSpPr>
        <p:spPr>
          <a:xfrm>
            <a:off x="963084" y="4406901"/>
            <a:ext cx="103632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4"/>
          <p:cNvSpPr txBox="1"/>
          <p:nvPr>
            <p:ph idx="1" type="body"/>
          </p:nvPr>
        </p:nvSpPr>
        <p:spPr>
          <a:xfrm>
            <a:off x="963084" y="2906713"/>
            <a:ext cx="103632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26" name="Google Shape;26;p4"/>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4"/>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4"/>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5"/>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5"/>
          <p:cNvSpPr txBox="1"/>
          <p:nvPr>
            <p:ph idx="1" type="body"/>
          </p:nvPr>
        </p:nvSpPr>
        <p:spPr>
          <a:xfrm>
            <a:off x="609600" y="1600201"/>
            <a:ext cx="53848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2" name="Google Shape;32;p5"/>
          <p:cNvSpPr txBox="1"/>
          <p:nvPr>
            <p:ph idx="2" type="body"/>
          </p:nvPr>
        </p:nvSpPr>
        <p:spPr>
          <a:xfrm>
            <a:off x="6197600" y="1600201"/>
            <a:ext cx="53848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3" name="Google Shape;33;p5"/>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5"/>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6"/>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6"/>
          <p:cNvSpPr txBox="1"/>
          <p:nvPr>
            <p:ph idx="1" type="body"/>
          </p:nvPr>
        </p:nvSpPr>
        <p:spPr>
          <a:xfrm>
            <a:off x="609600" y="1535113"/>
            <a:ext cx="5386917"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39" name="Google Shape;39;p6"/>
          <p:cNvSpPr txBox="1"/>
          <p:nvPr>
            <p:ph idx="2" type="body"/>
          </p:nvPr>
        </p:nvSpPr>
        <p:spPr>
          <a:xfrm>
            <a:off x="609600" y="2174875"/>
            <a:ext cx="5386917"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0" name="Google Shape;40;p6"/>
          <p:cNvSpPr txBox="1"/>
          <p:nvPr>
            <p:ph idx="3" type="body"/>
          </p:nvPr>
        </p:nvSpPr>
        <p:spPr>
          <a:xfrm>
            <a:off x="6193368" y="1535113"/>
            <a:ext cx="5389033"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1" name="Google Shape;41;p6"/>
          <p:cNvSpPr txBox="1"/>
          <p:nvPr>
            <p:ph idx="4" type="body"/>
          </p:nvPr>
        </p:nvSpPr>
        <p:spPr>
          <a:xfrm>
            <a:off x="6193368" y="2174875"/>
            <a:ext cx="5389033"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2" name="Google Shape;42;p6"/>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6"/>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7"/>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7"/>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7"/>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8"/>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609601" y="273050"/>
            <a:ext cx="4011084"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4766733" y="273051"/>
            <a:ext cx="6815667"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609601" y="1435101"/>
            <a:ext cx="4011084"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2389717" y="4800600"/>
            <a:ext cx="73152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2389717" y="612775"/>
            <a:ext cx="7315200" cy="4114800"/>
          </a:xfrm>
          <a:prstGeom prst="rect">
            <a:avLst/>
          </a:prstGeom>
          <a:noFill/>
          <a:ln>
            <a:noFill/>
          </a:ln>
        </p:spPr>
      </p:sp>
      <p:sp>
        <p:nvSpPr>
          <p:cNvPr id="64" name="Google Shape;64;p10"/>
          <p:cNvSpPr txBox="1"/>
          <p:nvPr>
            <p:ph idx="1" type="body"/>
          </p:nvPr>
        </p:nvSpPr>
        <p:spPr>
          <a:xfrm>
            <a:off x="2389717" y="5367338"/>
            <a:ext cx="73152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3833019" y="-1623218"/>
            <a:ext cx="4525963" cy="10972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7285038" y="1828802"/>
            <a:ext cx="5851525" cy="27432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1697038" y="-812799"/>
            <a:ext cx="5851525" cy="80264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B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0.jp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0.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0.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0.jpg"/><Relationship Id="rId4" Type="http://schemas.openxmlformats.org/officeDocument/2006/relationships/image" Target="../media/image15.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0.jpg"/><Relationship Id="rId4" Type="http://schemas.openxmlformats.org/officeDocument/2006/relationships/image" Target="../media/image13.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8.jpg"/><Relationship Id="rId4" Type="http://schemas.openxmlformats.org/officeDocument/2006/relationships/image" Target="../media/image26.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9.jpg"/><Relationship Id="rId4" Type="http://schemas.openxmlformats.org/officeDocument/2006/relationships/image" Target="../media/image23.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1.jpg"/><Relationship Id="rId4" Type="http://schemas.openxmlformats.org/officeDocument/2006/relationships/image" Target="../media/image30.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1.jpg"/><Relationship Id="rId4" Type="http://schemas.openxmlformats.org/officeDocument/2006/relationships/image" Target="../media/image28.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4.jpg"/><Relationship Id="rId4" Type="http://schemas.openxmlformats.org/officeDocument/2006/relationships/image" Target="../media/image22.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6.jpg"/><Relationship Id="rId4" Type="http://schemas.openxmlformats.org/officeDocument/2006/relationships/image" Target="../media/image27.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14.jpg"/><Relationship Id="rId5" Type="http://schemas.openxmlformats.org/officeDocument/2006/relationships/image" Target="../media/image32.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31.jpg"/><Relationship Id="rId4" Type="http://schemas.openxmlformats.org/officeDocument/2006/relationships/image" Target="../media/image29.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descr="melhore o design deste slide. utilize um fundo escuro alusivo à tela do vs code. o texto contido no slide coloque como texto no editor do VS code" id="84" name="Google Shape;84;p13"/>
          <p:cNvPicPr preferRelativeResize="0"/>
          <p:nvPr/>
        </p:nvPicPr>
        <p:blipFill>
          <a:blip r:embed="rId3">
            <a:alphaModFix/>
          </a:blip>
          <a:stretch>
            <a:fillRect/>
          </a:stretch>
        </p:blipFill>
        <p:spPr>
          <a:xfrm>
            <a:off x="-47625" y="0"/>
            <a:ext cx="12287250" cy="6858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pic>
        <p:nvPicPr>
          <p:cNvPr descr="A high-resolution, dark-themed background resembling a Visual Studio Code editor screen. The image should feature a deep charcoal or navy blue background with blurred lines of colorful source code (syntax highlighting in shades of cyan, magenta, orange, and green). There should be subtle UI elements like a vertical sidebar on the left and a status bar at the bottom to evoke a professional programming environment." id="89" name="Google Shape;89;p14"/>
          <p:cNvPicPr preferRelativeResize="0"/>
          <p:nvPr/>
        </p:nvPicPr>
        <p:blipFill rotWithShape="1">
          <a:blip r:embed="rId3">
            <a:alphaModFix/>
          </a:blip>
          <a:srcRect b="0" l="0" r="0" t="0"/>
          <a:stretch/>
        </p:blipFill>
        <p:spPr>
          <a:xfrm>
            <a:off x="0" y="0"/>
            <a:ext cx="12192000" cy="6858000"/>
          </a:xfrm>
          <a:prstGeom prst="rect">
            <a:avLst/>
          </a:prstGeom>
          <a:noFill/>
          <a:ln>
            <a:noFill/>
          </a:ln>
        </p:spPr>
      </p:pic>
      <p:grpSp>
        <p:nvGrpSpPr>
          <p:cNvPr id="90" name="Google Shape;90;p14"/>
          <p:cNvGrpSpPr/>
          <p:nvPr/>
        </p:nvGrpSpPr>
        <p:grpSpPr>
          <a:xfrm>
            <a:off x="1143000" y="2286000"/>
            <a:ext cx="9906000" cy="1143000"/>
            <a:chOff x="1143000" y="2286000"/>
            <a:chExt cx="9906000" cy="1143000"/>
          </a:xfrm>
        </p:grpSpPr>
        <p:sp>
          <p:nvSpPr>
            <p:cNvPr id="91" name="Google Shape;91;p14"/>
            <p:cNvSpPr/>
            <p:nvPr/>
          </p:nvSpPr>
          <p:spPr>
            <a:xfrm>
              <a:off x="1143000" y="2286000"/>
              <a:ext cx="9906000" cy="1143000"/>
            </a:xfrm>
            <a:prstGeom prst="roundRect">
              <a:avLst>
                <a:gd fmla="val 8333" name="adj"/>
              </a:avLst>
            </a:prstGeom>
            <a:solidFill>
              <a:srgbClr val="1E1E1E">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2" name="Google Shape;92;p14"/>
            <p:cNvSpPr txBox="1"/>
            <p:nvPr/>
          </p:nvSpPr>
          <p:spPr>
            <a:xfrm>
              <a:off x="1143000" y="2286000"/>
              <a:ext cx="9906000" cy="1143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pt-BR" sz="3720">
                  <a:solidFill>
                    <a:srgbClr val="569CD6"/>
                  </a:solidFill>
                  <a:latin typeface="Fira Code"/>
                  <a:ea typeface="Fira Code"/>
                  <a:cs typeface="Fira Code"/>
                  <a:sym typeface="Fira Code"/>
                </a:rPr>
                <a:t>def</a:t>
              </a:r>
              <a:r>
                <a:rPr b="1" lang="pt-BR" sz="3720">
                  <a:solidFill>
                    <a:srgbClr val="DCDCAA"/>
                  </a:solidFill>
                  <a:latin typeface="Fira Code"/>
                  <a:ea typeface="Fira Code"/>
                  <a:cs typeface="Fira Code"/>
                  <a:sym typeface="Fira Code"/>
                </a:rPr>
                <a:t> Funções_Modularização_Depuração():</a:t>
              </a:r>
              <a:endParaRPr b="1" sz="3720">
                <a:solidFill>
                  <a:srgbClr val="DCDCAA"/>
                </a:solidFill>
                <a:latin typeface="Fira Code"/>
                <a:ea typeface="Fira Code"/>
                <a:cs typeface="Fira Code"/>
                <a:sym typeface="Fira Code"/>
              </a:endParaRPr>
            </a:p>
          </p:txBody>
        </p:sp>
      </p:grpSp>
      <p:grpSp>
        <p:nvGrpSpPr>
          <p:cNvPr id="93" name="Google Shape;93;p14"/>
          <p:cNvGrpSpPr/>
          <p:nvPr/>
        </p:nvGrpSpPr>
        <p:grpSpPr>
          <a:xfrm>
            <a:off x="1143000" y="3619500"/>
            <a:ext cx="9906000" cy="952500"/>
            <a:chOff x="1143000" y="3619500"/>
            <a:chExt cx="9906000" cy="952500"/>
          </a:xfrm>
        </p:grpSpPr>
        <p:sp>
          <p:nvSpPr>
            <p:cNvPr id="94" name="Google Shape;94;p14"/>
            <p:cNvSpPr/>
            <p:nvPr/>
          </p:nvSpPr>
          <p:spPr>
            <a:xfrm>
              <a:off x="1143000" y="3619500"/>
              <a:ext cx="9906000" cy="952500"/>
            </a:xfrm>
            <a:prstGeom prst="roundRect">
              <a:avLst>
                <a:gd fmla="val 10000" name="adj"/>
              </a:avLst>
            </a:prstGeom>
            <a:solidFill>
              <a:srgbClr val="1E1E1E">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5" name="Google Shape;95;p14"/>
            <p:cNvSpPr txBox="1"/>
            <p:nvPr/>
          </p:nvSpPr>
          <p:spPr>
            <a:xfrm>
              <a:off x="1143000" y="3619500"/>
              <a:ext cx="9906000" cy="952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pt-BR" sz="2400">
                  <a:solidFill>
                    <a:srgbClr val="CE9178"/>
                  </a:solidFill>
                  <a:latin typeface="Fira Code"/>
                  <a:ea typeface="Fira Code"/>
                  <a:cs typeface="Fira Code"/>
                  <a:sym typeface="Fira Code"/>
                </a:rPr>
                <a:t>"Prof. Anderson Marcolino"</a:t>
              </a:r>
              <a:endParaRPr sz="2400">
                <a:solidFill>
                  <a:srgbClr val="9CDCFE"/>
                </a:solidFill>
                <a:latin typeface="Fira Code"/>
                <a:ea typeface="Fira Code"/>
                <a:cs typeface="Fira Code"/>
                <a:sym typeface="Fira Code"/>
              </a:endParaRPr>
            </a:p>
            <a:p>
              <a:pPr indent="0" lvl="0" marL="0" rtl="0" algn="ctr">
                <a:spcBef>
                  <a:spcPts val="0"/>
                </a:spcBef>
                <a:spcAft>
                  <a:spcPts val="0"/>
                </a:spcAft>
                <a:buNone/>
              </a:pPr>
              <a:r>
                <a:rPr lang="pt-BR" sz="2000">
                  <a:solidFill>
                    <a:srgbClr val="6A9955"/>
                  </a:solidFill>
                  <a:latin typeface="Fira Code"/>
                  <a:ea typeface="Fira Code"/>
                  <a:cs typeface="Fira Code"/>
                  <a:sym typeface="Fira Code"/>
                </a:rPr>
                <a:t># Fundamentos de programação</a:t>
              </a:r>
              <a:endParaRPr sz="2000">
                <a:solidFill>
                  <a:srgbClr val="6A9955"/>
                </a:solidFill>
                <a:latin typeface="Fira Code"/>
                <a:ea typeface="Fira Code"/>
                <a:cs typeface="Fira Code"/>
                <a:sym typeface="Fira Code"/>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9" name="Shape 99"/>
        <p:cNvGrpSpPr/>
        <p:nvPr/>
      </p:nvGrpSpPr>
      <p:grpSpPr>
        <a:xfrm>
          <a:off x="0" y="0"/>
          <a:ext cx="0" cy="0"/>
          <a:chOff x="0" y="0"/>
          <a:chExt cx="0" cy="0"/>
        </a:xfrm>
      </p:grpSpPr>
      <p:sp>
        <p:nvSpPr>
          <p:cNvPr id="100" name="Google Shape;100;p15"/>
          <p:cNvSpPr txBox="1"/>
          <p:nvPr/>
        </p:nvSpPr>
        <p:spPr>
          <a:xfrm>
            <a:off x="476250" y="381000"/>
            <a:ext cx="11239500" cy="6096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pt-BR" sz="1400">
                <a:solidFill>
                  <a:srgbClr val="BDC3C7"/>
                </a:solidFill>
                <a:latin typeface="Courier New"/>
                <a:ea typeface="Courier New"/>
                <a:cs typeface="Courier New"/>
                <a:sym typeface="Courier New"/>
              </a:rPr>
              <a:t>def calculate_logic(data):</a:t>
            </a:r>
            <a:endParaRPr sz="1400">
              <a:solidFill>
                <a:srgbClr val="BDC3C7"/>
              </a:solidFill>
              <a:latin typeface="Courier New"/>
              <a:ea typeface="Courier New"/>
              <a:cs typeface="Courier New"/>
              <a:sym typeface="Courier New"/>
            </a:endParaRPr>
          </a:p>
          <a:p>
            <a:pPr indent="0" lvl="0" marL="0" rtl="0" algn="l">
              <a:spcBef>
                <a:spcPts val="0"/>
              </a:spcBef>
              <a:spcAft>
                <a:spcPts val="0"/>
              </a:spcAft>
              <a:buNone/>
            </a:pPr>
            <a:r>
              <a:rPr lang="pt-BR" sz="1400">
                <a:solidFill>
                  <a:srgbClr val="BDC3C7"/>
                </a:solidFill>
                <a:latin typeface="Courier New"/>
                <a:ea typeface="Courier New"/>
                <a:cs typeface="Courier New"/>
                <a:sym typeface="Courier New"/>
              </a:rPr>
              <a:t>if not data: return None</a:t>
            </a:r>
            <a:endParaRPr sz="1400">
              <a:solidFill>
                <a:srgbClr val="BDC3C7"/>
              </a:solidFill>
              <a:latin typeface="Courier New"/>
              <a:ea typeface="Courier New"/>
              <a:cs typeface="Courier New"/>
              <a:sym typeface="Courier New"/>
            </a:endParaRPr>
          </a:p>
          <a:p>
            <a:pPr indent="0" lvl="0" marL="0" rtl="0" algn="l">
              <a:spcBef>
                <a:spcPts val="0"/>
              </a:spcBef>
              <a:spcAft>
                <a:spcPts val="0"/>
              </a:spcAft>
              <a:buNone/>
            </a:pPr>
            <a:r>
              <a:rPr lang="pt-BR" sz="1400">
                <a:solidFill>
                  <a:srgbClr val="BDC3C7"/>
                </a:solidFill>
                <a:latin typeface="Courier New"/>
                <a:ea typeface="Courier New"/>
                <a:cs typeface="Courier New"/>
                <a:sym typeface="Courier New"/>
              </a:rPr>
              <a:t>result = [x * 2 for x in data if x % 2 == 0]</a:t>
            </a:r>
            <a:endParaRPr sz="1400">
              <a:solidFill>
                <a:srgbClr val="BDC3C7"/>
              </a:solidFill>
              <a:latin typeface="Courier New"/>
              <a:ea typeface="Courier New"/>
              <a:cs typeface="Courier New"/>
              <a:sym typeface="Courier New"/>
            </a:endParaRPr>
          </a:p>
          <a:p>
            <a:pPr indent="0" lvl="0" marL="0" rtl="0" algn="l">
              <a:spcBef>
                <a:spcPts val="0"/>
              </a:spcBef>
              <a:spcAft>
                <a:spcPts val="0"/>
              </a:spcAft>
              <a:buNone/>
            </a:pPr>
            <a:r>
              <a:rPr lang="pt-BR" sz="1400">
                <a:solidFill>
                  <a:srgbClr val="BDC3C7"/>
                </a:solidFill>
                <a:latin typeface="Courier New"/>
                <a:ea typeface="Courier New"/>
                <a:cs typeface="Courier New"/>
                <a:sym typeface="Courier New"/>
              </a:rPr>
              <a:t>return sorted(result)</a:t>
            </a:r>
            <a:endParaRPr sz="1400">
              <a:solidFill>
                <a:srgbClr val="BDC3C7"/>
              </a:solidFill>
              <a:latin typeface="Courier New"/>
              <a:ea typeface="Courier New"/>
              <a:cs typeface="Courier New"/>
              <a:sym typeface="Courier New"/>
            </a:endParaRPr>
          </a:p>
          <a:p>
            <a:pPr indent="0" lvl="0" marL="0" rtl="0" algn="r">
              <a:spcBef>
                <a:spcPts val="0"/>
              </a:spcBef>
              <a:spcAft>
                <a:spcPts val="0"/>
              </a:spcAft>
              <a:buNone/>
            </a:pPr>
            <a:r>
              <a:rPr lang="pt-BR" sz="1400">
                <a:solidFill>
                  <a:srgbClr val="BDC3C7"/>
                </a:solidFill>
                <a:latin typeface="Courier New"/>
                <a:ea typeface="Courier New"/>
                <a:cs typeface="Courier New"/>
                <a:sym typeface="Courier New"/>
              </a:rPr>
              <a:t>class ModuleHandler:</a:t>
            </a:r>
            <a:endParaRPr sz="1400">
              <a:solidFill>
                <a:srgbClr val="BDC3C7"/>
              </a:solidFill>
              <a:latin typeface="Courier New"/>
              <a:ea typeface="Courier New"/>
              <a:cs typeface="Courier New"/>
              <a:sym typeface="Courier New"/>
            </a:endParaRPr>
          </a:p>
          <a:p>
            <a:pPr indent="0" lvl="0" marL="0" rtl="0" algn="r">
              <a:spcBef>
                <a:spcPts val="0"/>
              </a:spcBef>
              <a:spcAft>
                <a:spcPts val="0"/>
              </a:spcAft>
              <a:buNone/>
            </a:pPr>
            <a:r>
              <a:rPr lang="pt-BR" sz="1400">
                <a:solidFill>
                  <a:srgbClr val="BDC3C7"/>
                </a:solidFill>
                <a:latin typeface="Courier New"/>
                <a:ea typeface="Courier New"/>
                <a:cs typeface="Courier New"/>
                <a:sym typeface="Courier New"/>
              </a:rPr>
              <a:t>def __init__(self, config):</a:t>
            </a:r>
            <a:endParaRPr sz="1400">
              <a:solidFill>
                <a:srgbClr val="BDC3C7"/>
              </a:solidFill>
              <a:latin typeface="Courier New"/>
              <a:ea typeface="Courier New"/>
              <a:cs typeface="Courier New"/>
              <a:sym typeface="Courier New"/>
            </a:endParaRPr>
          </a:p>
          <a:p>
            <a:pPr indent="0" lvl="0" marL="0" rtl="0" algn="r">
              <a:spcBef>
                <a:spcPts val="0"/>
              </a:spcBef>
              <a:spcAft>
                <a:spcPts val="0"/>
              </a:spcAft>
              <a:buNone/>
            </a:pPr>
            <a:r>
              <a:rPr lang="pt-BR" sz="1400">
                <a:solidFill>
                  <a:srgbClr val="BDC3C7"/>
                </a:solidFill>
                <a:latin typeface="Courier New"/>
                <a:ea typeface="Courier New"/>
                <a:cs typeface="Courier New"/>
                <a:sym typeface="Courier New"/>
              </a:rPr>
              <a:t>self.config = config</a:t>
            </a:r>
            <a:endParaRPr sz="1400">
              <a:solidFill>
                <a:srgbClr val="BDC3C7"/>
              </a:solidFill>
              <a:latin typeface="Courier New"/>
              <a:ea typeface="Courier New"/>
              <a:cs typeface="Courier New"/>
              <a:sym typeface="Courier New"/>
            </a:endParaRPr>
          </a:p>
          <a:p>
            <a:pPr indent="0" lvl="0" marL="0" rtl="0" algn="l">
              <a:spcBef>
                <a:spcPts val="0"/>
              </a:spcBef>
              <a:spcAft>
                <a:spcPts val="0"/>
              </a:spcAft>
              <a:buNone/>
            </a:pPr>
            <a:r>
              <a:rPr lang="pt-BR" sz="1400">
                <a:solidFill>
                  <a:srgbClr val="BDC3C7"/>
                </a:solidFill>
                <a:latin typeface="Courier New"/>
                <a:ea typeface="Courier New"/>
                <a:cs typeface="Courier New"/>
                <a:sym typeface="Courier New"/>
              </a:rPr>
              <a:t>try:</a:t>
            </a:r>
            <a:endParaRPr sz="1400">
              <a:solidFill>
                <a:srgbClr val="BDC3C7"/>
              </a:solidFill>
              <a:latin typeface="Courier New"/>
              <a:ea typeface="Courier New"/>
              <a:cs typeface="Courier New"/>
              <a:sym typeface="Courier New"/>
            </a:endParaRPr>
          </a:p>
          <a:p>
            <a:pPr indent="0" lvl="0" marL="0" rtl="0" algn="l">
              <a:spcBef>
                <a:spcPts val="0"/>
              </a:spcBef>
              <a:spcAft>
                <a:spcPts val="0"/>
              </a:spcAft>
              <a:buNone/>
            </a:pPr>
            <a:r>
              <a:rPr lang="pt-BR" sz="1400">
                <a:solidFill>
                  <a:srgbClr val="BDC3C7"/>
                </a:solidFill>
                <a:latin typeface="Courier New"/>
                <a:ea typeface="Courier New"/>
                <a:cs typeface="Courier New"/>
                <a:sym typeface="Courier New"/>
              </a:rPr>
              <a:t>process_stream(input_buffer)</a:t>
            </a:r>
            <a:endParaRPr sz="1400">
              <a:solidFill>
                <a:srgbClr val="BDC3C7"/>
              </a:solidFill>
              <a:latin typeface="Courier New"/>
              <a:ea typeface="Courier New"/>
              <a:cs typeface="Courier New"/>
              <a:sym typeface="Courier New"/>
            </a:endParaRPr>
          </a:p>
          <a:p>
            <a:pPr indent="0" lvl="0" marL="0" rtl="0" algn="l">
              <a:spcBef>
                <a:spcPts val="0"/>
              </a:spcBef>
              <a:spcAft>
                <a:spcPts val="0"/>
              </a:spcAft>
              <a:buNone/>
            </a:pPr>
            <a:r>
              <a:rPr lang="pt-BR" sz="1400">
                <a:solidFill>
                  <a:srgbClr val="BDC3C7"/>
                </a:solidFill>
                <a:latin typeface="Courier New"/>
                <a:ea typeface="Courier New"/>
                <a:cs typeface="Courier New"/>
                <a:sym typeface="Courier New"/>
              </a:rPr>
              <a:t>except Exception as e:</a:t>
            </a:r>
            <a:endParaRPr sz="1400">
              <a:solidFill>
                <a:srgbClr val="BDC3C7"/>
              </a:solidFill>
              <a:latin typeface="Courier New"/>
              <a:ea typeface="Courier New"/>
              <a:cs typeface="Courier New"/>
              <a:sym typeface="Courier New"/>
            </a:endParaRPr>
          </a:p>
          <a:p>
            <a:pPr indent="0" lvl="0" marL="0" rtl="0" algn="l">
              <a:spcBef>
                <a:spcPts val="0"/>
              </a:spcBef>
              <a:spcAft>
                <a:spcPts val="0"/>
              </a:spcAft>
              <a:buNone/>
            </a:pPr>
            <a:r>
              <a:rPr lang="pt-BR" sz="1400">
                <a:solidFill>
                  <a:srgbClr val="BDC3C7"/>
                </a:solidFill>
                <a:latin typeface="Courier New"/>
                <a:ea typeface="Courier New"/>
                <a:cs typeface="Courier New"/>
                <a:sym typeface="Courier New"/>
              </a:rPr>
              <a:t>log.error(f"Debug: {e}")</a:t>
            </a:r>
            <a:endParaRPr sz="1400">
              <a:solidFill>
                <a:srgbClr val="BDC3C7"/>
              </a:solidFill>
              <a:latin typeface="Courier New"/>
              <a:ea typeface="Courier New"/>
              <a:cs typeface="Courier New"/>
              <a:sym typeface="Courier New"/>
            </a:endParaRPr>
          </a:p>
        </p:txBody>
      </p:sp>
      <p:grpSp>
        <p:nvGrpSpPr>
          <p:cNvPr id="101" name="Google Shape;101;p15"/>
          <p:cNvGrpSpPr/>
          <p:nvPr/>
        </p:nvGrpSpPr>
        <p:grpSpPr>
          <a:xfrm>
            <a:off x="609600" y="381000"/>
            <a:ext cx="10972800" cy="952500"/>
            <a:chOff x="609600" y="381000"/>
            <a:chExt cx="10972800" cy="952500"/>
          </a:xfrm>
        </p:grpSpPr>
        <p:sp>
          <p:nvSpPr>
            <p:cNvPr id="102" name="Google Shape;102;p15"/>
            <p:cNvSpPr/>
            <p:nvPr/>
          </p:nvSpPr>
          <p:spPr>
            <a:xfrm>
              <a:off x="609600" y="381000"/>
              <a:ext cx="10972800" cy="952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3" name="Google Shape;103;p15"/>
            <p:cNvSpPr txBox="1"/>
            <p:nvPr/>
          </p:nvSpPr>
          <p:spPr>
            <a:xfrm>
              <a:off x="609600" y="381000"/>
              <a:ext cx="10972800" cy="952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pt-BR" sz="4800">
                  <a:solidFill>
                    <a:srgbClr val="2C3E50"/>
                  </a:solidFill>
                  <a:latin typeface="Playfair Display"/>
                  <a:ea typeface="Playfair Display"/>
                  <a:cs typeface="Playfair Display"/>
                  <a:sym typeface="Playfair Display"/>
                </a:rPr>
                <a:t>Funções, Modularização e Depuração</a:t>
              </a:r>
              <a:endParaRPr b="1" sz="4800">
                <a:solidFill>
                  <a:srgbClr val="2C3E50"/>
                </a:solidFill>
                <a:latin typeface="Playfair Display"/>
                <a:ea typeface="Playfair Display"/>
                <a:cs typeface="Playfair Display"/>
                <a:sym typeface="Playfair Display"/>
              </a:endParaRPr>
            </a:p>
          </p:txBody>
        </p:sp>
      </p:grpSp>
      <p:grpSp>
        <p:nvGrpSpPr>
          <p:cNvPr id="104" name="Google Shape;104;p15"/>
          <p:cNvGrpSpPr/>
          <p:nvPr/>
        </p:nvGrpSpPr>
        <p:grpSpPr>
          <a:xfrm>
            <a:off x="1333500" y="1714500"/>
            <a:ext cx="9525000" cy="1714500"/>
            <a:chOff x="1333500" y="1714500"/>
            <a:chExt cx="9525000" cy="1714500"/>
          </a:xfrm>
        </p:grpSpPr>
        <p:sp>
          <p:nvSpPr>
            <p:cNvPr id="105" name="Google Shape;105;p15"/>
            <p:cNvSpPr/>
            <p:nvPr/>
          </p:nvSpPr>
          <p:spPr>
            <a:xfrm>
              <a:off x="1333500" y="1714500"/>
              <a:ext cx="9525000" cy="1714500"/>
            </a:xfrm>
            <a:prstGeom prst="roundRect">
              <a:avLst>
                <a:gd fmla="val 8333" name="adj"/>
              </a:avLst>
            </a:prstGeom>
            <a:solidFill>
              <a:srgbClr val="FFFFFF">
                <a:alpha val="6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6" name="Google Shape;106;p15"/>
            <p:cNvSpPr txBox="1"/>
            <p:nvPr/>
          </p:nvSpPr>
          <p:spPr>
            <a:xfrm>
              <a:off x="1524000" y="1915795"/>
              <a:ext cx="571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pt-BR" sz="3700">
                  <a:solidFill>
                    <a:srgbClr val="E74C3C"/>
                  </a:solidFill>
                  <a:latin typeface="Material Icons"/>
                  <a:ea typeface="Material Icons"/>
                  <a:cs typeface="Material Icons"/>
                  <a:sym typeface="Material Icons"/>
                </a:rPr>
                <a:t>settings_suggest</a:t>
              </a:r>
              <a:endParaRPr sz="3700">
                <a:solidFill>
                  <a:srgbClr val="E74C3C"/>
                </a:solidFill>
                <a:latin typeface="Material Icons"/>
                <a:ea typeface="Material Icons"/>
                <a:cs typeface="Material Icons"/>
                <a:sym typeface="Material Icons"/>
              </a:endParaRPr>
            </a:p>
          </p:txBody>
        </p:sp>
        <p:sp>
          <p:nvSpPr>
            <p:cNvPr id="107" name="Google Shape;107;p15"/>
            <p:cNvSpPr txBox="1"/>
            <p:nvPr/>
          </p:nvSpPr>
          <p:spPr>
            <a:xfrm>
              <a:off x="2286000" y="1809750"/>
              <a:ext cx="8382000" cy="1524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pt-BR" sz="2200">
                  <a:solidFill>
                    <a:srgbClr val="34495E"/>
                  </a:solidFill>
                  <a:latin typeface="Lora"/>
                  <a:ea typeface="Lora"/>
                  <a:cs typeface="Lora"/>
                  <a:sym typeface="Lora"/>
                </a:rPr>
                <a:t>Tema da aula</a:t>
              </a:r>
              <a:endParaRPr b="1" sz="2200">
                <a:solidFill>
                  <a:srgbClr val="34495E"/>
                </a:solidFill>
                <a:latin typeface="Lora"/>
                <a:ea typeface="Lora"/>
                <a:cs typeface="Lora"/>
                <a:sym typeface="Lora"/>
              </a:endParaRPr>
            </a:p>
            <a:p>
              <a:pPr indent="0" lvl="0" marL="0" rtl="0" algn="l">
                <a:spcBef>
                  <a:spcPts val="750"/>
                </a:spcBef>
                <a:spcAft>
                  <a:spcPts val="0"/>
                </a:spcAft>
                <a:buNone/>
              </a:pPr>
              <a:r>
                <a:rPr lang="pt-BR" sz="1800">
                  <a:solidFill>
                    <a:srgbClr val="34495E"/>
                  </a:solidFill>
                  <a:latin typeface="Lora"/>
                  <a:ea typeface="Lora"/>
                  <a:cs typeface="Lora"/>
                  <a:sym typeface="Lora"/>
                </a:rPr>
                <a:t>Organização de programas com </a:t>
              </a:r>
              <a:r>
                <a:rPr lang="pt-BR" sz="1800">
                  <a:solidFill>
                    <a:srgbClr val="C0392B"/>
                  </a:solidFill>
                  <a:latin typeface="Courier New"/>
                  <a:ea typeface="Courier New"/>
                  <a:cs typeface="Courier New"/>
                  <a:sym typeface="Courier New"/>
                </a:rPr>
                <a:t>funções</a:t>
              </a:r>
              <a:r>
                <a:rPr lang="pt-BR" sz="1800">
                  <a:solidFill>
                    <a:srgbClr val="34495E"/>
                  </a:solidFill>
                  <a:latin typeface="Lora"/>
                  <a:ea typeface="Lora"/>
                  <a:cs typeface="Lora"/>
                  <a:sym typeface="Lora"/>
                </a:rPr>
                <a:t> e estratégias de correção de erros</a:t>
              </a:r>
              <a:endParaRPr sz="1800">
                <a:solidFill>
                  <a:srgbClr val="34495E"/>
                </a:solidFill>
                <a:latin typeface="Lora"/>
                <a:ea typeface="Lora"/>
                <a:cs typeface="Lora"/>
                <a:sym typeface="Lora"/>
              </a:endParaRPr>
            </a:p>
          </p:txBody>
        </p:sp>
      </p:grpSp>
      <p:grpSp>
        <p:nvGrpSpPr>
          <p:cNvPr id="108" name="Google Shape;108;p15"/>
          <p:cNvGrpSpPr/>
          <p:nvPr/>
        </p:nvGrpSpPr>
        <p:grpSpPr>
          <a:xfrm>
            <a:off x="1333500" y="3619500"/>
            <a:ext cx="9525000" cy="1714500"/>
            <a:chOff x="1333500" y="3619500"/>
            <a:chExt cx="9525000" cy="1714500"/>
          </a:xfrm>
        </p:grpSpPr>
        <p:sp>
          <p:nvSpPr>
            <p:cNvPr id="109" name="Google Shape;109;p15"/>
            <p:cNvSpPr/>
            <p:nvPr/>
          </p:nvSpPr>
          <p:spPr>
            <a:xfrm>
              <a:off x="1333500" y="3619500"/>
              <a:ext cx="9525000" cy="1714500"/>
            </a:xfrm>
            <a:prstGeom prst="roundRect">
              <a:avLst>
                <a:gd fmla="val 8333" name="adj"/>
              </a:avLst>
            </a:prstGeom>
            <a:solidFill>
              <a:srgbClr val="FFFFFF">
                <a:alpha val="6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0" name="Google Shape;110;p15"/>
            <p:cNvSpPr txBox="1"/>
            <p:nvPr/>
          </p:nvSpPr>
          <p:spPr>
            <a:xfrm>
              <a:off x="1524000" y="3820795"/>
              <a:ext cx="571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pt-BR" sz="3700">
                  <a:solidFill>
                    <a:srgbClr val="E74C3C"/>
                  </a:solidFill>
                  <a:latin typeface="Material Icons"/>
                  <a:ea typeface="Material Icons"/>
                  <a:cs typeface="Material Icons"/>
                  <a:sym typeface="Material Icons"/>
                </a:rPr>
                <a:t>school</a:t>
              </a:r>
              <a:endParaRPr sz="3700">
                <a:solidFill>
                  <a:srgbClr val="E74C3C"/>
                </a:solidFill>
                <a:latin typeface="Material Icons"/>
                <a:ea typeface="Material Icons"/>
                <a:cs typeface="Material Icons"/>
                <a:sym typeface="Material Icons"/>
              </a:endParaRPr>
            </a:p>
          </p:txBody>
        </p:sp>
        <p:sp>
          <p:nvSpPr>
            <p:cNvPr id="111" name="Google Shape;111;p15"/>
            <p:cNvSpPr txBox="1"/>
            <p:nvPr/>
          </p:nvSpPr>
          <p:spPr>
            <a:xfrm>
              <a:off x="2286000" y="3714750"/>
              <a:ext cx="8382000" cy="1524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pt-BR" sz="2200">
                  <a:solidFill>
                    <a:srgbClr val="34495E"/>
                  </a:solidFill>
                  <a:latin typeface="Lora"/>
                  <a:ea typeface="Lora"/>
                  <a:cs typeface="Lora"/>
                  <a:sym typeface="Lora"/>
                </a:rPr>
                <a:t>Contexto</a:t>
              </a:r>
              <a:endParaRPr b="1" sz="2200">
                <a:solidFill>
                  <a:srgbClr val="34495E"/>
                </a:solidFill>
                <a:latin typeface="Lora"/>
                <a:ea typeface="Lora"/>
                <a:cs typeface="Lora"/>
                <a:sym typeface="Lora"/>
              </a:endParaRPr>
            </a:p>
            <a:p>
              <a:pPr indent="0" lvl="0" marL="0" rtl="0" algn="l">
                <a:spcBef>
                  <a:spcPts val="750"/>
                </a:spcBef>
                <a:spcAft>
                  <a:spcPts val="0"/>
                </a:spcAft>
                <a:buNone/>
              </a:pPr>
              <a:r>
                <a:rPr lang="pt-BR" sz="1800">
                  <a:solidFill>
                    <a:srgbClr val="34495E"/>
                  </a:solidFill>
                  <a:latin typeface="Lora"/>
                  <a:ea typeface="Lora"/>
                  <a:cs typeface="Lora"/>
                  <a:sym typeface="Lora"/>
                </a:rPr>
                <a:t>Base do desenvolvimento estruturado em cursos introdutórios</a:t>
              </a:r>
              <a:endParaRPr sz="1800">
                <a:solidFill>
                  <a:srgbClr val="34495E"/>
                </a:solidFill>
                <a:latin typeface="Lora"/>
                <a:ea typeface="Lora"/>
                <a:cs typeface="Lora"/>
                <a:sym typeface="Lora"/>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5" name="Shape 115"/>
        <p:cNvGrpSpPr/>
        <p:nvPr/>
      </p:nvGrpSpPr>
      <p:grpSpPr>
        <a:xfrm>
          <a:off x="0" y="0"/>
          <a:ext cx="0" cy="0"/>
          <a:chOff x="0" y="0"/>
          <a:chExt cx="0" cy="0"/>
        </a:xfrm>
      </p:grpSpPr>
      <p:sp>
        <p:nvSpPr>
          <p:cNvPr id="116" name="Google Shape;116;p16"/>
          <p:cNvSpPr txBox="1"/>
          <p:nvPr/>
        </p:nvSpPr>
        <p:spPr>
          <a:xfrm>
            <a:off x="476250" y="381000"/>
            <a:ext cx="11239500" cy="6096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pt-BR" sz="1400">
                <a:solidFill>
                  <a:srgbClr val="D1D8E0"/>
                </a:solidFill>
                <a:latin typeface="Courier New"/>
                <a:ea typeface="Courier New"/>
                <a:cs typeface="Courier New"/>
                <a:sym typeface="Courier New"/>
              </a:rPr>
              <a:t>def calculate_logic(data):</a:t>
            </a:r>
            <a:endParaRPr b="0" sz="1400">
              <a:solidFill>
                <a:srgbClr val="D1D8E0"/>
              </a:solidFill>
              <a:latin typeface="Courier New"/>
              <a:ea typeface="Courier New"/>
              <a:cs typeface="Courier New"/>
              <a:sym typeface="Courier New"/>
            </a:endParaRPr>
          </a:p>
          <a:p>
            <a:pPr indent="0" lvl="0" marL="0" rtl="0" algn="l">
              <a:spcBef>
                <a:spcPts val="0"/>
              </a:spcBef>
              <a:spcAft>
                <a:spcPts val="0"/>
              </a:spcAft>
              <a:buNone/>
            </a:pPr>
            <a:r>
              <a:rPr b="0" lang="pt-BR" sz="1400">
                <a:solidFill>
                  <a:srgbClr val="D1D8E0"/>
                </a:solidFill>
                <a:latin typeface="Courier New"/>
                <a:ea typeface="Courier New"/>
                <a:cs typeface="Courier New"/>
                <a:sym typeface="Courier New"/>
              </a:rPr>
              <a:t>if not data: return None</a:t>
            </a:r>
            <a:endParaRPr b="0" sz="1400">
              <a:solidFill>
                <a:srgbClr val="D1D8E0"/>
              </a:solidFill>
              <a:latin typeface="Courier New"/>
              <a:ea typeface="Courier New"/>
              <a:cs typeface="Courier New"/>
              <a:sym typeface="Courier New"/>
            </a:endParaRPr>
          </a:p>
          <a:p>
            <a:pPr indent="0" lvl="0" marL="0" rtl="0" algn="l">
              <a:spcBef>
                <a:spcPts val="0"/>
              </a:spcBef>
              <a:spcAft>
                <a:spcPts val="0"/>
              </a:spcAft>
              <a:buNone/>
            </a:pPr>
            <a:r>
              <a:rPr b="0" lang="pt-BR" sz="1400">
                <a:solidFill>
                  <a:srgbClr val="D1D8E0"/>
                </a:solidFill>
                <a:latin typeface="Courier New"/>
                <a:ea typeface="Courier New"/>
                <a:cs typeface="Courier New"/>
                <a:sym typeface="Courier New"/>
              </a:rPr>
              <a:t>result = [x * 2 for x in data if x % 2 == 0]</a:t>
            </a:r>
            <a:endParaRPr b="0" sz="1400">
              <a:solidFill>
                <a:srgbClr val="D1D8E0"/>
              </a:solidFill>
              <a:latin typeface="Courier New"/>
              <a:ea typeface="Courier New"/>
              <a:cs typeface="Courier New"/>
              <a:sym typeface="Courier New"/>
            </a:endParaRPr>
          </a:p>
          <a:p>
            <a:pPr indent="0" lvl="0" marL="0" rtl="0" algn="l">
              <a:spcBef>
                <a:spcPts val="0"/>
              </a:spcBef>
              <a:spcAft>
                <a:spcPts val="0"/>
              </a:spcAft>
              <a:buNone/>
            </a:pPr>
            <a:r>
              <a:rPr b="0" lang="pt-BR" sz="1400">
                <a:solidFill>
                  <a:srgbClr val="D1D8E0"/>
                </a:solidFill>
                <a:latin typeface="Courier New"/>
                <a:ea typeface="Courier New"/>
                <a:cs typeface="Courier New"/>
                <a:sym typeface="Courier New"/>
              </a:rPr>
              <a:t>return sorted(result)</a:t>
            </a:r>
            <a:endParaRPr b="0" sz="1400">
              <a:solidFill>
                <a:srgbClr val="D1D8E0"/>
              </a:solidFill>
              <a:latin typeface="Courier New"/>
              <a:ea typeface="Courier New"/>
              <a:cs typeface="Courier New"/>
              <a:sym typeface="Courier New"/>
            </a:endParaRPr>
          </a:p>
          <a:p>
            <a:pPr indent="0" lvl="0" marL="0" rtl="0" algn="r">
              <a:spcBef>
                <a:spcPts val="0"/>
              </a:spcBef>
              <a:spcAft>
                <a:spcPts val="0"/>
              </a:spcAft>
              <a:buNone/>
            </a:pPr>
            <a:r>
              <a:rPr b="0" lang="pt-BR" sz="1400">
                <a:solidFill>
                  <a:srgbClr val="D1D8E0"/>
                </a:solidFill>
                <a:latin typeface="Courier New"/>
                <a:ea typeface="Courier New"/>
                <a:cs typeface="Courier New"/>
                <a:sym typeface="Courier New"/>
              </a:rPr>
              <a:t>class ModuleHandler:</a:t>
            </a:r>
            <a:endParaRPr b="0" sz="1400">
              <a:solidFill>
                <a:srgbClr val="D1D8E0"/>
              </a:solidFill>
              <a:latin typeface="Courier New"/>
              <a:ea typeface="Courier New"/>
              <a:cs typeface="Courier New"/>
              <a:sym typeface="Courier New"/>
            </a:endParaRPr>
          </a:p>
          <a:p>
            <a:pPr indent="0" lvl="0" marL="0" rtl="0" algn="r">
              <a:spcBef>
                <a:spcPts val="0"/>
              </a:spcBef>
              <a:spcAft>
                <a:spcPts val="0"/>
              </a:spcAft>
              <a:buNone/>
            </a:pPr>
            <a:r>
              <a:rPr b="0" lang="pt-BR" sz="1400">
                <a:solidFill>
                  <a:srgbClr val="D1D8E0"/>
                </a:solidFill>
                <a:latin typeface="Courier New"/>
                <a:ea typeface="Courier New"/>
                <a:cs typeface="Courier New"/>
                <a:sym typeface="Courier New"/>
              </a:rPr>
              <a:t>def __init__(self, config):</a:t>
            </a:r>
            <a:endParaRPr b="0" sz="1400">
              <a:solidFill>
                <a:srgbClr val="D1D8E0"/>
              </a:solidFill>
              <a:latin typeface="Courier New"/>
              <a:ea typeface="Courier New"/>
              <a:cs typeface="Courier New"/>
              <a:sym typeface="Courier New"/>
            </a:endParaRPr>
          </a:p>
          <a:p>
            <a:pPr indent="0" lvl="0" marL="0" rtl="0" algn="r">
              <a:spcBef>
                <a:spcPts val="0"/>
              </a:spcBef>
              <a:spcAft>
                <a:spcPts val="0"/>
              </a:spcAft>
              <a:buNone/>
            </a:pPr>
            <a:r>
              <a:rPr b="0" lang="pt-BR" sz="1400">
                <a:solidFill>
                  <a:srgbClr val="D1D8E0"/>
                </a:solidFill>
                <a:latin typeface="Courier New"/>
                <a:ea typeface="Courier New"/>
                <a:cs typeface="Courier New"/>
                <a:sym typeface="Courier New"/>
              </a:rPr>
              <a:t>self.config = config</a:t>
            </a:r>
            <a:endParaRPr b="0" sz="1400">
              <a:solidFill>
                <a:srgbClr val="D1D8E0"/>
              </a:solidFill>
              <a:latin typeface="Courier New"/>
              <a:ea typeface="Courier New"/>
              <a:cs typeface="Courier New"/>
              <a:sym typeface="Courier New"/>
            </a:endParaRPr>
          </a:p>
          <a:p>
            <a:pPr indent="0" lvl="0" marL="0" rtl="0" algn="l">
              <a:spcBef>
                <a:spcPts val="0"/>
              </a:spcBef>
              <a:spcAft>
                <a:spcPts val="0"/>
              </a:spcAft>
              <a:buNone/>
            </a:pPr>
            <a:r>
              <a:rPr b="0" lang="pt-BR" sz="1400">
                <a:solidFill>
                  <a:srgbClr val="D1D8E0"/>
                </a:solidFill>
                <a:latin typeface="Courier New"/>
                <a:ea typeface="Courier New"/>
                <a:cs typeface="Courier New"/>
                <a:sym typeface="Courier New"/>
              </a:rPr>
              <a:t>try:</a:t>
            </a:r>
            <a:endParaRPr b="0" sz="1400">
              <a:solidFill>
                <a:srgbClr val="D1D8E0"/>
              </a:solidFill>
              <a:latin typeface="Courier New"/>
              <a:ea typeface="Courier New"/>
              <a:cs typeface="Courier New"/>
              <a:sym typeface="Courier New"/>
            </a:endParaRPr>
          </a:p>
          <a:p>
            <a:pPr indent="0" lvl="0" marL="0" rtl="0" algn="l">
              <a:spcBef>
                <a:spcPts val="0"/>
              </a:spcBef>
              <a:spcAft>
                <a:spcPts val="0"/>
              </a:spcAft>
              <a:buNone/>
            </a:pPr>
            <a:r>
              <a:rPr b="0" lang="pt-BR" sz="1400">
                <a:solidFill>
                  <a:srgbClr val="D1D8E0"/>
                </a:solidFill>
                <a:latin typeface="Courier New"/>
                <a:ea typeface="Courier New"/>
                <a:cs typeface="Courier New"/>
                <a:sym typeface="Courier New"/>
              </a:rPr>
              <a:t>process_stream(input_buffer)</a:t>
            </a:r>
            <a:endParaRPr b="0" sz="1400">
              <a:solidFill>
                <a:srgbClr val="D1D8E0"/>
              </a:solidFill>
              <a:latin typeface="Courier New"/>
              <a:ea typeface="Courier New"/>
              <a:cs typeface="Courier New"/>
              <a:sym typeface="Courier New"/>
            </a:endParaRPr>
          </a:p>
          <a:p>
            <a:pPr indent="0" lvl="0" marL="0" rtl="0" algn="l">
              <a:spcBef>
                <a:spcPts val="0"/>
              </a:spcBef>
              <a:spcAft>
                <a:spcPts val="0"/>
              </a:spcAft>
              <a:buNone/>
            </a:pPr>
            <a:r>
              <a:rPr b="0" lang="pt-BR" sz="1400">
                <a:solidFill>
                  <a:srgbClr val="D1D8E0"/>
                </a:solidFill>
                <a:latin typeface="Courier New"/>
                <a:ea typeface="Courier New"/>
                <a:cs typeface="Courier New"/>
                <a:sym typeface="Courier New"/>
              </a:rPr>
              <a:t>except Exception as e:</a:t>
            </a:r>
            <a:endParaRPr b="0" sz="1400">
              <a:solidFill>
                <a:srgbClr val="D1D8E0"/>
              </a:solidFill>
              <a:latin typeface="Courier New"/>
              <a:ea typeface="Courier New"/>
              <a:cs typeface="Courier New"/>
              <a:sym typeface="Courier New"/>
            </a:endParaRPr>
          </a:p>
          <a:p>
            <a:pPr indent="0" lvl="0" marL="0" rtl="0" algn="l">
              <a:spcBef>
                <a:spcPts val="0"/>
              </a:spcBef>
              <a:spcAft>
                <a:spcPts val="0"/>
              </a:spcAft>
              <a:buNone/>
            </a:pPr>
            <a:r>
              <a:rPr b="0" lang="pt-BR" sz="1400">
                <a:solidFill>
                  <a:srgbClr val="D1D8E0"/>
                </a:solidFill>
                <a:latin typeface="Courier New"/>
                <a:ea typeface="Courier New"/>
                <a:cs typeface="Courier New"/>
                <a:sym typeface="Courier New"/>
              </a:rPr>
              <a:t>log.error(f"Debug: {e}")</a:t>
            </a:r>
            <a:endParaRPr b="0" sz="1400">
              <a:solidFill>
                <a:srgbClr val="D1D8E0"/>
              </a:solidFill>
              <a:latin typeface="Courier New"/>
              <a:ea typeface="Courier New"/>
              <a:cs typeface="Courier New"/>
              <a:sym typeface="Courier New"/>
            </a:endParaRPr>
          </a:p>
        </p:txBody>
      </p:sp>
      <p:grpSp>
        <p:nvGrpSpPr>
          <p:cNvPr id="117" name="Google Shape;117;p16"/>
          <p:cNvGrpSpPr/>
          <p:nvPr/>
        </p:nvGrpSpPr>
        <p:grpSpPr>
          <a:xfrm>
            <a:off x="609600" y="381000"/>
            <a:ext cx="10972800" cy="952500"/>
            <a:chOff x="609600" y="381000"/>
            <a:chExt cx="10972800" cy="952500"/>
          </a:xfrm>
        </p:grpSpPr>
        <p:sp>
          <p:nvSpPr>
            <p:cNvPr id="118" name="Google Shape;118;p16"/>
            <p:cNvSpPr/>
            <p:nvPr/>
          </p:nvSpPr>
          <p:spPr>
            <a:xfrm>
              <a:off x="609600" y="381000"/>
              <a:ext cx="10972800" cy="952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9" name="Google Shape;119;p16"/>
            <p:cNvSpPr txBox="1"/>
            <p:nvPr/>
          </p:nvSpPr>
          <p:spPr>
            <a:xfrm>
              <a:off x="609600" y="381000"/>
              <a:ext cx="10972800" cy="952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pt-BR" sz="4800">
                  <a:solidFill>
                    <a:srgbClr val="2C3E50"/>
                  </a:solidFill>
                  <a:latin typeface="Playfair Display"/>
                  <a:ea typeface="Playfair Display"/>
                  <a:cs typeface="Playfair Display"/>
                  <a:sym typeface="Playfair Display"/>
                </a:rPr>
                <a:t>Objetivos da Aula</a:t>
              </a:r>
              <a:endParaRPr b="1" sz="4800">
                <a:solidFill>
                  <a:srgbClr val="2C3E50"/>
                </a:solidFill>
                <a:latin typeface="Playfair Display"/>
                <a:ea typeface="Playfair Display"/>
                <a:cs typeface="Playfair Display"/>
                <a:sym typeface="Playfair Display"/>
              </a:endParaRPr>
            </a:p>
          </p:txBody>
        </p:sp>
      </p:grpSp>
      <p:grpSp>
        <p:nvGrpSpPr>
          <p:cNvPr id="120" name="Google Shape;120;p16"/>
          <p:cNvGrpSpPr/>
          <p:nvPr/>
        </p:nvGrpSpPr>
        <p:grpSpPr>
          <a:xfrm>
            <a:off x="1333500" y="1524000"/>
            <a:ext cx="9525000" cy="1047900"/>
            <a:chOff x="1333500" y="1524000"/>
            <a:chExt cx="9525000" cy="1047900"/>
          </a:xfrm>
        </p:grpSpPr>
        <p:sp>
          <p:nvSpPr>
            <p:cNvPr id="121" name="Google Shape;121;p16"/>
            <p:cNvSpPr/>
            <p:nvPr/>
          </p:nvSpPr>
          <p:spPr>
            <a:xfrm>
              <a:off x="1333500" y="1524000"/>
              <a:ext cx="9525000" cy="1047900"/>
            </a:xfrm>
            <a:prstGeom prst="roundRect">
              <a:avLst>
                <a:gd fmla="val 13636" name="adj"/>
              </a:avLst>
            </a:prstGeom>
            <a:solidFill>
              <a:srgbClr val="FFFFFF">
                <a:alpha val="7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2" name="Google Shape;122;p16"/>
            <p:cNvSpPr txBox="1"/>
            <p:nvPr/>
          </p:nvSpPr>
          <p:spPr>
            <a:xfrm>
              <a:off x="1524000" y="1814703"/>
              <a:ext cx="571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pt-BR" sz="3600">
                  <a:solidFill>
                    <a:srgbClr val="E74C3C"/>
                  </a:solidFill>
                  <a:latin typeface="Material Icons"/>
                  <a:ea typeface="Material Icons"/>
                  <a:cs typeface="Material Icons"/>
                  <a:sym typeface="Material Icons"/>
                </a:rPr>
                <a:t>view_module</a:t>
              </a:r>
              <a:endParaRPr sz="3600">
                <a:solidFill>
                  <a:srgbClr val="E74C3C"/>
                </a:solidFill>
                <a:latin typeface="Material Icons"/>
                <a:ea typeface="Material Icons"/>
                <a:cs typeface="Material Icons"/>
                <a:sym typeface="Material Icons"/>
              </a:endParaRPr>
            </a:p>
          </p:txBody>
        </p:sp>
        <p:sp>
          <p:nvSpPr>
            <p:cNvPr id="123" name="Google Shape;123;p16"/>
            <p:cNvSpPr txBox="1"/>
            <p:nvPr/>
          </p:nvSpPr>
          <p:spPr>
            <a:xfrm>
              <a:off x="2286000" y="1619250"/>
              <a:ext cx="83820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pt-BR" sz="2000">
                  <a:solidFill>
                    <a:srgbClr val="34495E"/>
                  </a:solidFill>
                  <a:latin typeface="Lora"/>
                  <a:ea typeface="Lora"/>
                  <a:cs typeface="Lora"/>
                  <a:sym typeface="Lora"/>
                </a:rPr>
                <a:t>Modularizar</a:t>
              </a:r>
              <a:endParaRPr b="1" sz="2000">
                <a:solidFill>
                  <a:srgbClr val="34495E"/>
                </a:solidFill>
                <a:latin typeface="Lora"/>
                <a:ea typeface="Lora"/>
                <a:cs typeface="Lora"/>
                <a:sym typeface="Lora"/>
              </a:endParaRPr>
            </a:p>
            <a:p>
              <a:pPr indent="0" lvl="0" marL="0" rtl="0" algn="l">
                <a:spcBef>
                  <a:spcPts val="0"/>
                </a:spcBef>
                <a:spcAft>
                  <a:spcPts val="0"/>
                </a:spcAft>
                <a:buNone/>
              </a:pPr>
              <a:r>
                <a:rPr b="0" lang="pt-BR" sz="1600">
                  <a:solidFill>
                    <a:srgbClr val="34495E"/>
                  </a:solidFill>
                  <a:latin typeface="Lora"/>
                  <a:ea typeface="Lora"/>
                  <a:cs typeface="Lora"/>
                  <a:sym typeface="Lora"/>
                </a:rPr>
                <a:t>Compreender por que dividir problemas em partes menores</a:t>
              </a:r>
              <a:endParaRPr b="0" sz="1600">
                <a:solidFill>
                  <a:srgbClr val="34495E"/>
                </a:solidFill>
                <a:latin typeface="Lora"/>
                <a:ea typeface="Lora"/>
                <a:cs typeface="Lora"/>
                <a:sym typeface="Lora"/>
              </a:endParaRPr>
            </a:p>
          </p:txBody>
        </p:sp>
      </p:grpSp>
      <p:grpSp>
        <p:nvGrpSpPr>
          <p:cNvPr id="124" name="Google Shape;124;p16"/>
          <p:cNvGrpSpPr/>
          <p:nvPr/>
        </p:nvGrpSpPr>
        <p:grpSpPr>
          <a:xfrm>
            <a:off x="1333500" y="2714625"/>
            <a:ext cx="9525000" cy="1047900"/>
            <a:chOff x="1333500" y="2714625"/>
            <a:chExt cx="9525000" cy="1047900"/>
          </a:xfrm>
        </p:grpSpPr>
        <p:sp>
          <p:nvSpPr>
            <p:cNvPr id="125" name="Google Shape;125;p16"/>
            <p:cNvSpPr/>
            <p:nvPr/>
          </p:nvSpPr>
          <p:spPr>
            <a:xfrm>
              <a:off x="1333500" y="2714625"/>
              <a:ext cx="9525000" cy="1047900"/>
            </a:xfrm>
            <a:prstGeom prst="roundRect">
              <a:avLst>
                <a:gd fmla="val 13636" name="adj"/>
              </a:avLst>
            </a:prstGeom>
            <a:solidFill>
              <a:srgbClr val="FFFFFF">
                <a:alpha val="7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6" name="Google Shape;126;p16"/>
            <p:cNvSpPr txBox="1"/>
            <p:nvPr/>
          </p:nvSpPr>
          <p:spPr>
            <a:xfrm>
              <a:off x="1524000" y="3005328"/>
              <a:ext cx="571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pt-BR" sz="3600">
                  <a:solidFill>
                    <a:srgbClr val="E74C3C"/>
                  </a:solidFill>
                  <a:latin typeface="Material Icons"/>
                  <a:ea typeface="Material Icons"/>
                  <a:cs typeface="Material Icons"/>
                  <a:sym typeface="Material Icons"/>
                </a:rPr>
                <a:t>functions</a:t>
              </a:r>
              <a:endParaRPr sz="3600">
                <a:solidFill>
                  <a:srgbClr val="E74C3C"/>
                </a:solidFill>
                <a:latin typeface="Material Icons"/>
                <a:ea typeface="Material Icons"/>
                <a:cs typeface="Material Icons"/>
                <a:sym typeface="Material Icons"/>
              </a:endParaRPr>
            </a:p>
          </p:txBody>
        </p:sp>
        <p:sp>
          <p:nvSpPr>
            <p:cNvPr id="127" name="Google Shape;127;p16"/>
            <p:cNvSpPr txBox="1"/>
            <p:nvPr/>
          </p:nvSpPr>
          <p:spPr>
            <a:xfrm>
              <a:off x="2286000" y="2809875"/>
              <a:ext cx="83820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pt-BR" sz="2000">
                  <a:solidFill>
                    <a:srgbClr val="34495E"/>
                  </a:solidFill>
                  <a:latin typeface="Lora"/>
                  <a:ea typeface="Lora"/>
                  <a:cs typeface="Lora"/>
                  <a:sym typeface="Lora"/>
                </a:rPr>
                <a:t>Criar </a:t>
              </a:r>
              <a:r>
                <a:rPr b="1" lang="pt-BR" sz="2000">
                  <a:solidFill>
                    <a:srgbClr val="E74C3C"/>
                  </a:solidFill>
                  <a:latin typeface="Courier New"/>
                  <a:ea typeface="Courier New"/>
                  <a:cs typeface="Courier New"/>
                  <a:sym typeface="Courier New"/>
                </a:rPr>
                <a:t>funções</a:t>
              </a:r>
              <a:endParaRPr b="1" sz="2000">
                <a:solidFill>
                  <a:srgbClr val="34495E"/>
                </a:solidFill>
                <a:latin typeface="Lora"/>
                <a:ea typeface="Lora"/>
                <a:cs typeface="Lora"/>
                <a:sym typeface="Lora"/>
              </a:endParaRPr>
            </a:p>
            <a:p>
              <a:pPr indent="0" lvl="0" marL="0" rtl="0" algn="l">
                <a:spcBef>
                  <a:spcPts val="0"/>
                </a:spcBef>
                <a:spcAft>
                  <a:spcPts val="0"/>
                </a:spcAft>
                <a:buNone/>
              </a:pPr>
              <a:r>
                <a:rPr b="0" lang="pt-BR" sz="1600">
                  <a:solidFill>
                    <a:srgbClr val="34495E"/>
                  </a:solidFill>
                  <a:latin typeface="Lora"/>
                  <a:ea typeface="Lora"/>
                  <a:cs typeface="Lora"/>
                  <a:sym typeface="Lora"/>
                </a:rPr>
                <a:t>Utilizar parâmetros e retorno corretamente</a:t>
              </a:r>
              <a:endParaRPr b="0" sz="1600">
                <a:solidFill>
                  <a:srgbClr val="34495E"/>
                </a:solidFill>
                <a:latin typeface="Lora"/>
                <a:ea typeface="Lora"/>
                <a:cs typeface="Lora"/>
                <a:sym typeface="Lora"/>
              </a:endParaRPr>
            </a:p>
          </p:txBody>
        </p:sp>
      </p:grpSp>
      <p:grpSp>
        <p:nvGrpSpPr>
          <p:cNvPr id="128" name="Google Shape;128;p16"/>
          <p:cNvGrpSpPr/>
          <p:nvPr/>
        </p:nvGrpSpPr>
        <p:grpSpPr>
          <a:xfrm>
            <a:off x="1333500" y="3905250"/>
            <a:ext cx="9525000" cy="1047900"/>
            <a:chOff x="1333500" y="3905250"/>
            <a:chExt cx="9525000" cy="1047900"/>
          </a:xfrm>
        </p:grpSpPr>
        <p:sp>
          <p:nvSpPr>
            <p:cNvPr id="129" name="Google Shape;129;p16"/>
            <p:cNvSpPr/>
            <p:nvPr/>
          </p:nvSpPr>
          <p:spPr>
            <a:xfrm>
              <a:off x="1333500" y="3905250"/>
              <a:ext cx="9525000" cy="1047900"/>
            </a:xfrm>
            <a:prstGeom prst="roundRect">
              <a:avLst>
                <a:gd fmla="val 13636" name="adj"/>
              </a:avLst>
            </a:prstGeom>
            <a:solidFill>
              <a:srgbClr val="FFFFFF">
                <a:alpha val="7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0" name="Google Shape;130;p16"/>
            <p:cNvSpPr txBox="1"/>
            <p:nvPr/>
          </p:nvSpPr>
          <p:spPr>
            <a:xfrm>
              <a:off x="1524000" y="4195953"/>
              <a:ext cx="571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pt-BR" sz="3600">
                  <a:solidFill>
                    <a:srgbClr val="E74C3C"/>
                  </a:solidFill>
                  <a:latin typeface="Material Icons"/>
                  <a:ea typeface="Material Icons"/>
                  <a:cs typeface="Material Icons"/>
                  <a:sym typeface="Material Icons"/>
                </a:rPr>
                <a:t>bug_report</a:t>
              </a:r>
              <a:endParaRPr sz="3600">
                <a:solidFill>
                  <a:srgbClr val="E74C3C"/>
                </a:solidFill>
                <a:latin typeface="Material Icons"/>
                <a:ea typeface="Material Icons"/>
                <a:cs typeface="Material Icons"/>
                <a:sym typeface="Material Icons"/>
              </a:endParaRPr>
            </a:p>
          </p:txBody>
        </p:sp>
        <p:sp>
          <p:nvSpPr>
            <p:cNvPr id="131" name="Google Shape;131;p16"/>
            <p:cNvSpPr txBox="1"/>
            <p:nvPr/>
          </p:nvSpPr>
          <p:spPr>
            <a:xfrm>
              <a:off x="2286000" y="4000500"/>
              <a:ext cx="83820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pt-BR" sz="2000">
                  <a:solidFill>
                    <a:srgbClr val="34495E"/>
                  </a:solidFill>
                  <a:latin typeface="Lora"/>
                  <a:ea typeface="Lora"/>
                  <a:cs typeface="Lora"/>
                  <a:sym typeface="Lora"/>
                </a:rPr>
                <a:t>Depurar</a:t>
              </a:r>
              <a:endParaRPr b="1" sz="2000">
                <a:solidFill>
                  <a:srgbClr val="34495E"/>
                </a:solidFill>
                <a:latin typeface="Lora"/>
                <a:ea typeface="Lora"/>
                <a:cs typeface="Lora"/>
                <a:sym typeface="Lora"/>
              </a:endParaRPr>
            </a:p>
            <a:p>
              <a:pPr indent="0" lvl="0" marL="0" rtl="0" algn="l">
                <a:spcBef>
                  <a:spcPts val="0"/>
                </a:spcBef>
                <a:spcAft>
                  <a:spcPts val="0"/>
                </a:spcAft>
                <a:buNone/>
              </a:pPr>
              <a:r>
                <a:rPr b="0" lang="pt-BR" sz="1600">
                  <a:solidFill>
                    <a:srgbClr val="34495E"/>
                  </a:solidFill>
                  <a:latin typeface="Lora"/>
                  <a:ea typeface="Lora"/>
                  <a:cs typeface="Lora"/>
                  <a:sym typeface="Lora"/>
                </a:rPr>
                <a:t>Identificar e corrigir erros comuns</a:t>
              </a:r>
              <a:endParaRPr b="0" sz="1600">
                <a:solidFill>
                  <a:srgbClr val="34495E"/>
                </a:solidFill>
                <a:latin typeface="Lora"/>
                <a:ea typeface="Lora"/>
                <a:cs typeface="Lora"/>
                <a:sym typeface="Lora"/>
              </a:endParaRPr>
            </a:p>
          </p:txBody>
        </p:sp>
      </p:grpSp>
      <p:grpSp>
        <p:nvGrpSpPr>
          <p:cNvPr id="132" name="Google Shape;132;p16"/>
          <p:cNvGrpSpPr/>
          <p:nvPr/>
        </p:nvGrpSpPr>
        <p:grpSpPr>
          <a:xfrm>
            <a:off x="1333500" y="5095875"/>
            <a:ext cx="9525000" cy="1047900"/>
            <a:chOff x="1333500" y="5095875"/>
            <a:chExt cx="9525000" cy="1047900"/>
          </a:xfrm>
        </p:grpSpPr>
        <p:sp>
          <p:nvSpPr>
            <p:cNvPr id="133" name="Google Shape;133;p16"/>
            <p:cNvSpPr/>
            <p:nvPr/>
          </p:nvSpPr>
          <p:spPr>
            <a:xfrm>
              <a:off x="1333500" y="5095875"/>
              <a:ext cx="9525000" cy="1047900"/>
            </a:xfrm>
            <a:prstGeom prst="roundRect">
              <a:avLst>
                <a:gd fmla="val 13636" name="adj"/>
              </a:avLst>
            </a:prstGeom>
            <a:solidFill>
              <a:srgbClr val="FFFFFF">
                <a:alpha val="7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4" name="Google Shape;134;p16"/>
            <p:cNvSpPr txBox="1"/>
            <p:nvPr/>
          </p:nvSpPr>
          <p:spPr>
            <a:xfrm>
              <a:off x="1524000" y="5386578"/>
              <a:ext cx="571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pt-BR" sz="3600">
                  <a:solidFill>
                    <a:srgbClr val="E74C3C"/>
                  </a:solidFill>
                  <a:latin typeface="Material Icons"/>
                  <a:ea typeface="Material Icons"/>
                  <a:cs typeface="Material Icons"/>
                  <a:sym typeface="Material Icons"/>
                </a:rPr>
                <a:t>rule</a:t>
              </a:r>
              <a:endParaRPr sz="3600">
                <a:solidFill>
                  <a:srgbClr val="E74C3C"/>
                </a:solidFill>
                <a:latin typeface="Material Icons"/>
                <a:ea typeface="Material Icons"/>
                <a:cs typeface="Material Icons"/>
                <a:sym typeface="Material Icons"/>
              </a:endParaRPr>
            </a:p>
          </p:txBody>
        </p:sp>
        <p:sp>
          <p:nvSpPr>
            <p:cNvPr id="135" name="Google Shape;135;p16"/>
            <p:cNvSpPr txBox="1"/>
            <p:nvPr/>
          </p:nvSpPr>
          <p:spPr>
            <a:xfrm>
              <a:off x="2286000" y="5191125"/>
              <a:ext cx="83820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pt-BR" sz="2000">
                  <a:solidFill>
                    <a:srgbClr val="34495E"/>
                  </a:solidFill>
                  <a:latin typeface="Lora"/>
                  <a:ea typeface="Lora"/>
                  <a:cs typeface="Lora"/>
                  <a:sym typeface="Lora"/>
                </a:rPr>
                <a:t>Testar</a:t>
              </a:r>
              <a:endParaRPr b="1" sz="2000">
                <a:solidFill>
                  <a:srgbClr val="34495E"/>
                </a:solidFill>
                <a:latin typeface="Lora"/>
                <a:ea typeface="Lora"/>
                <a:cs typeface="Lora"/>
                <a:sym typeface="Lora"/>
              </a:endParaRPr>
            </a:p>
            <a:p>
              <a:pPr indent="0" lvl="0" marL="0" rtl="0" algn="l">
                <a:spcBef>
                  <a:spcPts val="0"/>
                </a:spcBef>
                <a:spcAft>
                  <a:spcPts val="0"/>
                </a:spcAft>
                <a:buNone/>
              </a:pPr>
              <a:r>
                <a:rPr b="0" lang="pt-BR" sz="1600">
                  <a:solidFill>
                    <a:srgbClr val="34495E"/>
                  </a:solidFill>
                  <a:latin typeface="Lora"/>
                  <a:ea typeface="Lora"/>
                  <a:cs typeface="Lora"/>
                  <a:sym typeface="Lora"/>
                </a:rPr>
                <a:t>Validar soluções com casos simples</a:t>
              </a:r>
              <a:endParaRPr b="0" sz="1600">
                <a:solidFill>
                  <a:srgbClr val="34495E"/>
                </a:solidFill>
                <a:latin typeface="Lora"/>
                <a:ea typeface="Lora"/>
                <a:cs typeface="Lora"/>
                <a:sym typeface="Lora"/>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9" name="Shape 139"/>
        <p:cNvGrpSpPr/>
        <p:nvPr/>
      </p:nvGrpSpPr>
      <p:grpSpPr>
        <a:xfrm>
          <a:off x="0" y="0"/>
          <a:ext cx="0" cy="0"/>
          <a:chOff x="0" y="0"/>
          <a:chExt cx="0" cy="0"/>
        </a:xfrm>
      </p:grpSpPr>
      <p:sp>
        <p:nvSpPr>
          <p:cNvPr id="140" name="Google Shape;140;p17"/>
          <p:cNvSpPr txBox="1"/>
          <p:nvPr/>
        </p:nvSpPr>
        <p:spPr>
          <a:xfrm>
            <a:off x="476250" y="381000"/>
            <a:ext cx="11239500" cy="6096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pt-BR" sz="1400">
                <a:solidFill>
                  <a:srgbClr val="D1D8E0"/>
                </a:solidFill>
                <a:latin typeface="Courier New"/>
                <a:ea typeface="Courier New"/>
                <a:cs typeface="Courier New"/>
                <a:sym typeface="Courier New"/>
              </a:rPr>
              <a:t>def debug_logic(input):</a:t>
            </a:r>
            <a:endParaRPr b="0" sz="1400">
              <a:solidFill>
                <a:srgbClr val="D1D8E0"/>
              </a:solidFill>
              <a:latin typeface="Courier New"/>
              <a:ea typeface="Courier New"/>
              <a:cs typeface="Courier New"/>
              <a:sym typeface="Courier New"/>
            </a:endParaRPr>
          </a:p>
          <a:p>
            <a:pPr indent="0" lvl="0" marL="0" rtl="0" algn="l">
              <a:spcBef>
                <a:spcPts val="0"/>
              </a:spcBef>
              <a:spcAft>
                <a:spcPts val="0"/>
              </a:spcAft>
              <a:buNone/>
            </a:pPr>
            <a:r>
              <a:rPr b="0" lang="pt-BR" sz="1400">
                <a:solidFill>
                  <a:srgbClr val="D1D8E0"/>
                </a:solidFill>
                <a:latin typeface="Courier New"/>
                <a:ea typeface="Courier New"/>
                <a:cs typeface="Courier New"/>
                <a:sym typeface="Courier New"/>
              </a:rPr>
              <a:t>if not input: return False</a:t>
            </a:r>
            <a:endParaRPr b="0" sz="1400">
              <a:solidFill>
                <a:srgbClr val="D1D8E0"/>
              </a:solidFill>
              <a:latin typeface="Courier New"/>
              <a:ea typeface="Courier New"/>
              <a:cs typeface="Courier New"/>
              <a:sym typeface="Courier New"/>
            </a:endParaRPr>
          </a:p>
          <a:p>
            <a:pPr indent="0" lvl="0" marL="0" rtl="0" algn="l">
              <a:spcBef>
                <a:spcPts val="0"/>
              </a:spcBef>
              <a:spcAft>
                <a:spcPts val="0"/>
              </a:spcAft>
              <a:buNone/>
            </a:pPr>
            <a:r>
              <a:rPr b="0" lang="pt-BR" sz="1400">
                <a:solidFill>
                  <a:srgbClr val="D1D8E0"/>
                </a:solidFill>
                <a:latin typeface="Courier New"/>
                <a:ea typeface="Courier New"/>
                <a:cs typeface="Courier New"/>
                <a:sym typeface="Courier New"/>
              </a:rPr>
              <a:t># Problematic long code segment...</a:t>
            </a:r>
            <a:endParaRPr b="0" sz="1400">
              <a:solidFill>
                <a:srgbClr val="D1D8E0"/>
              </a:solidFill>
              <a:latin typeface="Courier New"/>
              <a:ea typeface="Courier New"/>
              <a:cs typeface="Courier New"/>
              <a:sym typeface="Courier New"/>
            </a:endParaRPr>
          </a:p>
          <a:p>
            <a:pPr indent="0" lvl="0" marL="0" rtl="0" algn="l">
              <a:spcBef>
                <a:spcPts val="0"/>
              </a:spcBef>
              <a:spcAft>
                <a:spcPts val="0"/>
              </a:spcAft>
              <a:buNone/>
            </a:pPr>
            <a:r>
              <a:rPr b="0" lang="pt-BR" sz="1400">
                <a:solidFill>
                  <a:srgbClr val="D1D8E0"/>
                </a:solidFill>
                <a:latin typeface="Courier New"/>
                <a:ea typeface="Courier New"/>
                <a:cs typeface="Courier New"/>
                <a:sym typeface="Courier New"/>
              </a:rPr>
              <a:t>for i in range(len(input)):</a:t>
            </a:r>
            <a:endParaRPr b="0" sz="1400">
              <a:solidFill>
                <a:srgbClr val="D1D8E0"/>
              </a:solidFill>
              <a:latin typeface="Courier New"/>
              <a:ea typeface="Courier New"/>
              <a:cs typeface="Courier New"/>
              <a:sym typeface="Courier New"/>
            </a:endParaRPr>
          </a:p>
          <a:p>
            <a:pPr indent="0" lvl="0" marL="0" rtl="0" algn="r">
              <a:spcBef>
                <a:spcPts val="0"/>
              </a:spcBef>
              <a:spcAft>
                <a:spcPts val="0"/>
              </a:spcAft>
              <a:buNone/>
            </a:pPr>
            <a:r>
              <a:rPr b="0" lang="pt-BR" sz="1400">
                <a:solidFill>
                  <a:srgbClr val="D1D8E0"/>
                </a:solidFill>
                <a:latin typeface="Courier New"/>
                <a:ea typeface="Courier New"/>
                <a:cs typeface="Courier New"/>
                <a:sym typeface="Courier New"/>
              </a:rPr>
              <a:t>class ErrorHandler:</a:t>
            </a:r>
            <a:endParaRPr b="0" sz="1400">
              <a:solidFill>
                <a:srgbClr val="D1D8E0"/>
              </a:solidFill>
              <a:latin typeface="Courier New"/>
              <a:ea typeface="Courier New"/>
              <a:cs typeface="Courier New"/>
              <a:sym typeface="Courier New"/>
            </a:endParaRPr>
          </a:p>
          <a:p>
            <a:pPr indent="0" lvl="0" marL="0" rtl="0" algn="r">
              <a:spcBef>
                <a:spcPts val="0"/>
              </a:spcBef>
              <a:spcAft>
                <a:spcPts val="0"/>
              </a:spcAft>
              <a:buNone/>
            </a:pPr>
            <a:r>
              <a:rPr b="0" lang="pt-BR" sz="1400">
                <a:solidFill>
                  <a:srgbClr val="D1D8E0"/>
                </a:solidFill>
                <a:latin typeface="Courier New"/>
                <a:ea typeface="Courier New"/>
                <a:cs typeface="Courier New"/>
                <a:sym typeface="Courier New"/>
              </a:rPr>
              <a:t>def log_issue(self, err):</a:t>
            </a:r>
            <a:endParaRPr b="0" sz="1400">
              <a:solidFill>
                <a:srgbClr val="D1D8E0"/>
              </a:solidFill>
              <a:latin typeface="Courier New"/>
              <a:ea typeface="Courier New"/>
              <a:cs typeface="Courier New"/>
              <a:sym typeface="Courier New"/>
            </a:endParaRPr>
          </a:p>
          <a:p>
            <a:pPr indent="0" lvl="0" marL="0" rtl="0" algn="r">
              <a:spcBef>
                <a:spcPts val="0"/>
              </a:spcBef>
              <a:spcAft>
                <a:spcPts val="0"/>
              </a:spcAft>
              <a:buNone/>
            </a:pPr>
            <a:r>
              <a:rPr b="0" lang="pt-BR" sz="1400">
                <a:solidFill>
                  <a:srgbClr val="D1D8E0"/>
                </a:solidFill>
                <a:latin typeface="Courier New"/>
                <a:ea typeface="Courier New"/>
                <a:cs typeface="Courier New"/>
                <a:sym typeface="Courier New"/>
              </a:rPr>
              <a:t>print(f"Stack Trace: {err}")</a:t>
            </a:r>
            <a:endParaRPr b="0" sz="1400">
              <a:solidFill>
                <a:srgbClr val="D1D8E0"/>
              </a:solidFill>
              <a:latin typeface="Courier New"/>
              <a:ea typeface="Courier New"/>
              <a:cs typeface="Courier New"/>
              <a:sym typeface="Courier New"/>
            </a:endParaRPr>
          </a:p>
          <a:p>
            <a:pPr indent="0" lvl="0" marL="0" rtl="0" algn="l">
              <a:spcBef>
                <a:spcPts val="0"/>
              </a:spcBef>
              <a:spcAft>
                <a:spcPts val="0"/>
              </a:spcAft>
              <a:buNone/>
            </a:pPr>
            <a:r>
              <a:rPr b="0" lang="pt-BR" sz="1400">
                <a:solidFill>
                  <a:srgbClr val="D1D8E0"/>
                </a:solidFill>
                <a:latin typeface="Courier New"/>
                <a:ea typeface="Courier New"/>
                <a:cs typeface="Courier New"/>
                <a:sym typeface="Courier New"/>
              </a:rPr>
              <a:t>try:</a:t>
            </a:r>
            <a:endParaRPr b="0" sz="1400">
              <a:solidFill>
                <a:srgbClr val="D1D8E0"/>
              </a:solidFill>
              <a:latin typeface="Courier New"/>
              <a:ea typeface="Courier New"/>
              <a:cs typeface="Courier New"/>
              <a:sym typeface="Courier New"/>
            </a:endParaRPr>
          </a:p>
          <a:p>
            <a:pPr indent="0" lvl="0" marL="0" rtl="0" algn="l">
              <a:spcBef>
                <a:spcPts val="0"/>
              </a:spcBef>
              <a:spcAft>
                <a:spcPts val="0"/>
              </a:spcAft>
              <a:buNone/>
            </a:pPr>
            <a:r>
              <a:rPr b="0" lang="pt-BR" sz="1400">
                <a:solidFill>
                  <a:srgbClr val="D1D8E0"/>
                </a:solidFill>
                <a:latin typeface="Courier New"/>
                <a:ea typeface="Courier New"/>
                <a:cs typeface="Courier New"/>
                <a:sym typeface="Courier New"/>
              </a:rPr>
              <a:t>execute_process()</a:t>
            </a:r>
            <a:endParaRPr b="0" sz="1400">
              <a:solidFill>
                <a:srgbClr val="D1D8E0"/>
              </a:solidFill>
              <a:latin typeface="Courier New"/>
              <a:ea typeface="Courier New"/>
              <a:cs typeface="Courier New"/>
              <a:sym typeface="Courier New"/>
            </a:endParaRPr>
          </a:p>
          <a:p>
            <a:pPr indent="0" lvl="0" marL="0" rtl="0" algn="l">
              <a:spcBef>
                <a:spcPts val="0"/>
              </a:spcBef>
              <a:spcAft>
                <a:spcPts val="0"/>
              </a:spcAft>
              <a:buNone/>
            </a:pPr>
            <a:r>
              <a:rPr b="0" lang="pt-BR" sz="1400">
                <a:solidFill>
                  <a:srgbClr val="D1D8E0"/>
                </a:solidFill>
                <a:latin typeface="Courier New"/>
                <a:ea typeface="Courier New"/>
                <a:cs typeface="Courier New"/>
                <a:sym typeface="Courier New"/>
              </a:rPr>
              <a:t>except Exception as e:</a:t>
            </a:r>
            <a:endParaRPr b="0" sz="1400">
              <a:solidFill>
                <a:srgbClr val="D1D8E0"/>
              </a:solidFill>
              <a:latin typeface="Courier New"/>
              <a:ea typeface="Courier New"/>
              <a:cs typeface="Courier New"/>
              <a:sym typeface="Courier New"/>
            </a:endParaRPr>
          </a:p>
          <a:p>
            <a:pPr indent="0" lvl="0" marL="0" rtl="0" algn="l">
              <a:spcBef>
                <a:spcPts val="0"/>
              </a:spcBef>
              <a:spcAft>
                <a:spcPts val="0"/>
              </a:spcAft>
              <a:buNone/>
            </a:pPr>
            <a:r>
              <a:rPr b="0" lang="pt-BR" sz="1400">
                <a:solidFill>
                  <a:srgbClr val="D1D8E0"/>
                </a:solidFill>
                <a:latin typeface="Courier New"/>
                <a:ea typeface="Courier New"/>
                <a:cs typeface="Courier New"/>
                <a:sym typeface="Courier New"/>
              </a:rPr>
              <a:t>handle_bug(e)</a:t>
            </a:r>
            <a:endParaRPr b="0" sz="1400">
              <a:solidFill>
                <a:srgbClr val="D1D8E0"/>
              </a:solidFill>
              <a:latin typeface="Courier New"/>
              <a:ea typeface="Courier New"/>
              <a:cs typeface="Courier New"/>
              <a:sym typeface="Courier New"/>
            </a:endParaRPr>
          </a:p>
        </p:txBody>
      </p:sp>
      <p:sp>
        <p:nvSpPr>
          <p:cNvPr id="141" name="Google Shape;141;p17"/>
          <p:cNvSpPr txBox="1"/>
          <p:nvPr>
            <p:ph type="title"/>
          </p:nvPr>
        </p:nvSpPr>
        <p:spPr>
          <a:xfrm>
            <a:off x="609600" y="381000"/>
            <a:ext cx="10972800" cy="11430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ctr">
              <a:spcBef>
                <a:spcPts val="0"/>
              </a:spcBef>
              <a:spcAft>
                <a:spcPts val="0"/>
              </a:spcAft>
              <a:buNone/>
            </a:pPr>
            <a:r>
              <a:rPr b="1" lang="pt-BR" sz="4800">
                <a:solidFill>
                  <a:srgbClr val="2C3E50"/>
                </a:solidFill>
                <a:latin typeface="Playfair Display"/>
                <a:ea typeface="Playfair Display"/>
                <a:cs typeface="Playfair Display"/>
                <a:sym typeface="Playfair Display"/>
              </a:rPr>
              <a:t>Problematização Inicial</a:t>
            </a:r>
            <a:endParaRPr b="1" sz="4800">
              <a:solidFill>
                <a:srgbClr val="2C3E50"/>
              </a:solidFill>
              <a:latin typeface="Playfair Display"/>
              <a:ea typeface="Playfair Display"/>
              <a:cs typeface="Playfair Display"/>
              <a:sym typeface="Playfair Display"/>
            </a:endParaRPr>
          </a:p>
        </p:txBody>
      </p:sp>
      <p:grpSp>
        <p:nvGrpSpPr>
          <p:cNvPr id="142" name="Google Shape;142;p17"/>
          <p:cNvGrpSpPr/>
          <p:nvPr/>
        </p:nvGrpSpPr>
        <p:grpSpPr>
          <a:xfrm>
            <a:off x="1333500" y="1714500"/>
            <a:ext cx="9525000" cy="1143000"/>
            <a:chOff x="1333500" y="1714500"/>
            <a:chExt cx="9525000" cy="1143000"/>
          </a:xfrm>
        </p:grpSpPr>
        <p:sp>
          <p:nvSpPr>
            <p:cNvPr id="143" name="Google Shape;143;p17"/>
            <p:cNvSpPr/>
            <p:nvPr/>
          </p:nvSpPr>
          <p:spPr>
            <a:xfrm>
              <a:off x="1333500" y="1714500"/>
              <a:ext cx="9525000" cy="1143000"/>
            </a:xfrm>
            <a:prstGeom prst="roundRect">
              <a:avLst>
                <a:gd fmla="val 12500" name="adj"/>
              </a:avLst>
            </a:prstGeom>
            <a:solidFill>
              <a:srgbClr val="FFFFFF">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4" name="Google Shape;144;p17"/>
            <p:cNvSpPr txBox="1"/>
            <p:nvPr/>
          </p:nvSpPr>
          <p:spPr>
            <a:xfrm>
              <a:off x="1524000" y="2052828"/>
              <a:ext cx="571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pt-BR" sz="3600">
                  <a:solidFill>
                    <a:srgbClr val="E74C3C"/>
                  </a:solidFill>
                  <a:latin typeface="Material Icons"/>
                  <a:ea typeface="Material Icons"/>
                  <a:cs typeface="Material Icons"/>
                  <a:sym typeface="Material Icons"/>
                </a:rPr>
                <a:t>code</a:t>
              </a:r>
              <a:endParaRPr sz="3600">
                <a:solidFill>
                  <a:srgbClr val="E74C3C"/>
                </a:solidFill>
                <a:latin typeface="Material Icons"/>
                <a:ea typeface="Material Icons"/>
                <a:cs typeface="Material Icons"/>
                <a:sym typeface="Material Icons"/>
              </a:endParaRPr>
            </a:p>
          </p:txBody>
        </p:sp>
        <p:sp>
          <p:nvSpPr>
            <p:cNvPr id="145" name="Google Shape;145;p17"/>
            <p:cNvSpPr txBox="1"/>
            <p:nvPr/>
          </p:nvSpPr>
          <p:spPr>
            <a:xfrm>
              <a:off x="2286000" y="1809750"/>
              <a:ext cx="8382000" cy="9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pt-BR" sz="2000">
                  <a:solidFill>
                    <a:srgbClr val="E74C3C"/>
                  </a:solidFill>
                  <a:latin typeface="Courier New"/>
                  <a:ea typeface="Courier New"/>
                  <a:cs typeface="Courier New"/>
                  <a:sym typeface="Courier New"/>
                </a:rPr>
                <a:t>Código</a:t>
              </a:r>
              <a:r>
                <a:rPr b="1" lang="pt-BR" sz="2000">
                  <a:solidFill>
                    <a:srgbClr val="34495E"/>
                  </a:solidFill>
                  <a:latin typeface="Lora"/>
                  <a:ea typeface="Lora"/>
                  <a:cs typeface="Lora"/>
                  <a:sym typeface="Lora"/>
                </a:rPr>
                <a:t> extenso</a:t>
              </a:r>
              <a:endParaRPr b="1" sz="2000">
                <a:solidFill>
                  <a:srgbClr val="34495E"/>
                </a:solidFill>
                <a:latin typeface="Lora"/>
                <a:ea typeface="Lora"/>
                <a:cs typeface="Lora"/>
                <a:sym typeface="Lora"/>
              </a:endParaRPr>
            </a:p>
            <a:p>
              <a:pPr indent="0" lvl="0" marL="0" rtl="0" algn="l">
                <a:spcBef>
                  <a:spcPts val="0"/>
                </a:spcBef>
                <a:spcAft>
                  <a:spcPts val="0"/>
                </a:spcAft>
                <a:buNone/>
              </a:pPr>
              <a:r>
                <a:rPr b="0" lang="pt-BR" sz="1600">
                  <a:solidFill>
                    <a:srgbClr val="34495E"/>
                  </a:solidFill>
                  <a:latin typeface="Lora"/>
                  <a:ea typeface="Lora"/>
                  <a:cs typeface="Lora"/>
                  <a:sym typeface="Lora"/>
                </a:rPr>
                <a:t>Programas longos são difíceis de entender e corrigir</a:t>
              </a:r>
              <a:endParaRPr b="0" sz="1600">
                <a:solidFill>
                  <a:srgbClr val="34495E"/>
                </a:solidFill>
                <a:latin typeface="Lora"/>
                <a:ea typeface="Lora"/>
                <a:cs typeface="Lora"/>
                <a:sym typeface="Lora"/>
              </a:endParaRPr>
            </a:p>
          </p:txBody>
        </p:sp>
      </p:grpSp>
      <p:grpSp>
        <p:nvGrpSpPr>
          <p:cNvPr id="146" name="Google Shape;146;p17"/>
          <p:cNvGrpSpPr/>
          <p:nvPr/>
        </p:nvGrpSpPr>
        <p:grpSpPr>
          <a:xfrm>
            <a:off x="1333500" y="3048000"/>
            <a:ext cx="9525000" cy="1143000"/>
            <a:chOff x="1333500" y="3048000"/>
            <a:chExt cx="9525000" cy="1143000"/>
          </a:xfrm>
        </p:grpSpPr>
        <p:sp>
          <p:nvSpPr>
            <p:cNvPr id="147" name="Google Shape;147;p17"/>
            <p:cNvSpPr/>
            <p:nvPr/>
          </p:nvSpPr>
          <p:spPr>
            <a:xfrm>
              <a:off x="1333500" y="3048000"/>
              <a:ext cx="9525000" cy="1143000"/>
            </a:xfrm>
            <a:prstGeom prst="roundRect">
              <a:avLst>
                <a:gd fmla="val 12500" name="adj"/>
              </a:avLst>
            </a:prstGeom>
            <a:solidFill>
              <a:srgbClr val="FFFFFF">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8" name="Google Shape;148;p17"/>
            <p:cNvSpPr txBox="1"/>
            <p:nvPr/>
          </p:nvSpPr>
          <p:spPr>
            <a:xfrm>
              <a:off x="1524000" y="3386328"/>
              <a:ext cx="571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pt-BR" sz="3600">
                  <a:solidFill>
                    <a:srgbClr val="E74C3C"/>
                  </a:solidFill>
                  <a:latin typeface="Material Icons"/>
                  <a:ea typeface="Material Icons"/>
                  <a:cs typeface="Material Icons"/>
                  <a:sym typeface="Material Icons"/>
                </a:rPr>
                <a:t>bug_report</a:t>
              </a:r>
              <a:endParaRPr sz="3600">
                <a:solidFill>
                  <a:srgbClr val="E74C3C"/>
                </a:solidFill>
                <a:latin typeface="Material Icons"/>
                <a:ea typeface="Material Icons"/>
                <a:cs typeface="Material Icons"/>
                <a:sym typeface="Material Icons"/>
              </a:endParaRPr>
            </a:p>
          </p:txBody>
        </p:sp>
        <p:sp>
          <p:nvSpPr>
            <p:cNvPr id="149" name="Google Shape;149;p17"/>
            <p:cNvSpPr txBox="1"/>
            <p:nvPr/>
          </p:nvSpPr>
          <p:spPr>
            <a:xfrm>
              <a:off x="2286000" y="3143250"/>
              <a:ext cx="8382000" cy="9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pt-BR" sz="2000">
                  <a:solidFill>
                    <a:srgbClr val="34495E"/>
                  </a:solidFill>
                  <a:latin typeface="Lora"/>
                  <a:ea typeface="Lora"/>
                  <a:cs typeface="Lora"/>
                  <a:sym typeface="Lora"/>
                </a:rPr>
                <a:t>Erros frequentes</a:t>
              </a:r>
              <a:endParaRPr b="1" sz="2000">
                <a:solidFill>
                  <a:srgbClr val="34495E"/>
                </a:solidFill>
                <a:latin typeface="Lora"/>
                <a:ea typeface="Lora"/>
                <a:cs typeface="Lora"/>
                <a:sym typeface="Lora"/>
              </a:endParaRPr>
            </a:p>
            <a:p>
              <a:pPr indent="0" lvl="0" marL="0" rtl="0" algn="l">
                <a:spcBef>
                  <a:spcPts val="0"/>
                </a:spcBef>
                <a:spcAft>
                  <a:spcPts val="0"/>
                </a:spcAft>
                <a:buNone/>
              </a:pPr>
              <a:r>
                <a:rPr b="0" lang="pt-BR" sz="1600">
                  <a:solidFill>
                    <a:srgbClr val="34495E"/>
                  </a:solidFill>
                  <a:latin typeface="Lora"/>
                  <a:ea typeface="Lora"/>
                  <a:cs typeface="Lora"/>
                  <a:sym typeface="Lora"/>
                </a:rPr>
                <a:t>Pequenas mudanças geram falhas inesperadas</a:t>
              </a:r>
              <a:endParaRPr b="0" sz="1600">
                <a:solidFill>
                  <a:srgbClr val="34495E"/>
                </a:solidFill>
                <a:latin typeface="Lora"/>
                <a:ea typeface="Lora"/>
                <a:cs typeface="Lora"/>
                <a:sym typeface="Lora"/>
              </a:endParaRPr>
            </a:p>
          </p:txBody>
        </p:sp>
      </p:grpSp>
      <p:grpSp>
        <p:nvGrpSpPr>
          <p:cNvPr id="150" name="Google Shape;150;p17"/>
          <p:cNvGrpSpPr/>
          <p:nvPr/>
        </p:nvGrpSpPr>
        <p:grpSpPr>
          <a:xfrm>
            <a:off x="1333500" y="4381500"/>
            <a:ext cx="9525000" cy="1143000"/>
            <a:chOff x="1333500" y="4381500"/>
            <a:chExt cx="9525000" cy="1143000"/>
          </a:xfrm>
        </p:grpSpPr>
        <p:sp>
          <p:nvSpPr>
            <p:cNvPr id="151" name="Google Shape;151;p17"/>
            <p:cNvSpPr/>
            <p:nvPr/>
          </p:nvSpPr>
          <p:spPr>
            <a:xfrm>
              <a:off x="1333500" y="4381500"/>
              <a:ext cx="9525000" cy="1143000"/>
            </a:xfrm>
            <a:prstGeom prst="roundRect">
              <a:avLst>
                <a:gd fmla="val 12500" name="adj"/>
              </a:avLst>
            </a:prstGeom>
            <a:solidFill>
              <a:srgbClr val="FFFFFF">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2" name="Google Shape;152;p17"/>
            <p:cNvSpPr txBox="1"/>
            <p:nvPr/>
          </p:nvSpPr>
          <p:spPr>
            <a:xfrm>
              <a:off x="1524000" y="4719828"/>
              <a:ext cx="571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pt-BR" sz="3600">
                  <a:solidFill>
                    <a:srgbClr val="E74C3C"/>
                  </a:solidFill>
                  <a:latin typeface="Material Icons"/>
                  <a:ea typeface="Material Icons"/>
                  <a:cs typeface="Material Icons"/>
                  <a:sym typeface="Material Icons"/>
                </a:rPr>
                <a:t>help_outline</a:t>
              </a:r>
              <a:endParaRPr sz="3600">
                <a:solidFill>
                  <a:srgbClr val="E74C3C"/>
                </a:solidFill>
                <a:latin typeface="Material Icons"/>
                <a:ea typeface="Material Icons"/>
                <a:cs typeface="Material Icons"/>
                <a:sym typeface="Material Icons"/>
              </a:endParaRPr>
            </a:p>
          </p:txBody>
        </p:sp>
        <p:sp>
          <p:nvSpPr>
            <p:cNvPr id="153" name="Google Shape;153;p17"/>
            <p:cNvSpPr txBox="1"/>
            <p:nvPr/>
          </p:nvSpPr>
          <p:spPr>
            <a:xfrm>
              <a:off x="2286000" y="4476750"/>
              <a:ext cx="8382000" cy="9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pt-BR" sz="2000">
                  <a:solidFill>
                    <a:srgbClr val="34495E"/>
                  </a:solidFill>
                  <a:latin typeface="Lora"/>
                  <a:ea typeface="Lora"/>
                  <a:cs typeface="Lora"/>
                  <a:sym typeface="Lora"/>
                </a:rPr>
                <a:t>Pergunta-chave</a:t>
              </a:r>
              <a:endParaRPr b="1" sz="2000">
                <a:solidFill>
                  <a:srgbClr val="34495E"/>
                </a:solidFill>
                <a:latin typeface="Lora"/>
                <a:ea typeface="Lora"/>
                <a:cs typeface="Lora"/>
                <a:sym typeface="Lora"/>
              </a:endParaRPr>
            </a:p>
            <a:p>
              <a:pPr indent="0" lvl="0" marL="0" rtl="0" algn="l">
                <a:spcBef>
                  <a:spcPts val="0"/>
                </a:spcBef>
                <a:spcAft>
                  <a:spcPts val="0"/>
                </a:spcAft>
                <a:buNone/>
              </a:pPr>
              <a:r>
                <a:rPr b="0" lang="pt-BR" sz="1600">
                  <a:solidFill>
                    <a:srgbClr val="34495E"/>
                  </a:solidFill>
                  <a:latin typeface="Lora"/>
                  <a:ea typeface="Lora"/>
                  <a:cs typeface="Lora"/>
                  <a:sym typeface="Lora"/>
                </a:rPr>
                <a:t>Como organizar melhor nossas soluções?</a:t>
              </a:r>
              <a:endParaRPr b="0" sz="1600">
                <a:solidFill>
                  <a:srgbClr val="34495E"/>
                </a:solidFill>
                <a:latin typeface="Lora"/>
                <a:ea typeface="Lora"/>
                <a:cs typeface="Lora"/>
                <a:sym typeface="Lora"/>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7" name="Shape 157"/>
        <p:cNvGrpSpPr/>
        <p:nvPr/>
      </p:nvGrpSpPr>
      <p:grpSpPr>
        <a:xfrm>
          <a:off x="0" y="0"/>
          <a:ext cx="0" cy="0"/>
          <a:chOff x="0" y="0"/>
          <a:chExt cx="0" cy="0"/>
        </a:xfrm>
      </p:grpSpPr>
      <p:sp>
        <p:nvSpPr>
          <p:cNvPr id="158" name="Google Shape;158;p18"/>
          <p:cNvSpPr txBox="1"/>
          <p:nvPr/>
        </p:nvSpPr>
        <p:spPr>
          <a:xfrm>
            <a:off x="381000" y="381000"/>
            <a:ext cx="11430000" cy="6096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pt-BR" sz="1400">
                <a:solidFill>
                  <a:srgbClr val="A9CCE3"/>
                </a:solidFill>
                <a:latin typeface="Courier New"/>
                <a:ea typeface="Courier New"/>
                <a:cs typeface="Courier New"/>
                <a:sym typeface="Courier New"/>
              </a:rPr>
              <a:t>def process_data(value):</a:t>
            </a:r>
            <a:endParaRPr sz="1400">
              <a:solidFill>
                <a:srgbClr val="A9CCE3"/>
              </a:solidFill>
              <a:latin typeface="Courier New"/>
              <a:ea typeface="Courier New"/>
              <a:cs typeface="Courier New"/>
              <a:sym typeface="Courier New"/>
            </a:endParaRPr>
          </a:p>
          <a:p>
            <a:pPr indent="381000" lvl="0" marL="0" marR="0" rtl="0" algn="l">
              <a:spcBef>
                <a:spcPts val="0"/>
              </a:spcBef>
              <a:spcAft>
                <a:spcPts val="0"/>
              </a:spcAft>
              <a:buNone/>
            </a:pPr>
            <a:r>
              <a:rPr lang="pt-BR" sz="1400">
                <a:solidFill>
                  <a:srgbClr val="A9CCE3"/>
                </a:solidFill>
                <a:latin typeface="Courier New"/>
                <a:ea typeface="Courier New"/>
                <a:cs typeface="Courier New"/>
                <a:sym typeface="Courier New"/>
              </a:rPr>
              <a:t>result = value * 2</a:t>
            </a:r>
            <a:endParaRPr sz="1400">
              <a:solidFill>
                <a:srgbClr val="A9CCE3"/>
              </a:solidFill>
              <a:latin typeface="Courier New"/>
              <a:ea typeface="Courier New"/>
              <a:cs typeface="Courier New"/>
              <a:sym typeface="Courier New"/>
            </a:endParaRPr>
          </a:p>
          <a:p>
            <a:pPr indent="381000" lvl="0" marL="0" marR="0" rtl="0" algn="l">
              <a:spcBef>
                <a:spcPts val="0"/>
              </a:spcBef>
              <a:spcAft>
                <a:spcPts val="0"/>
              </a:spcAft>
              <a:buNone/>
            </a:pPr>
            <a:r>
              <a:rPr lang="pt-BR" sz="1400">
                <a:solidFill>
                  <a:srgbClr val="A9CCE3"/>
                </a:solidFill>
                <a:latin typeface="Courier New"/>
                <a:ea typeface="Courier New"/>
                <a:cs typeface="Courier New"/>
                <a:sym typeface="Courier New"/>
              </a:rPr>
              <a:t>return result</a:t>
            </a:r>
            <a:endParaRPr sz="1400">
              <a:solidFill>
                <a:srgbClr val="A9CCE3"/>
              </a:solidFill>
              <a:latin typeface="Courier New"/>
              <a:ea typeface="Courier New"/>
              <a:cs typeface="Courier New"/>
              <a:sym typeface="Courier New"/>
            </a:endParaRPr>
          </a:p>
          <a:p>
            <a:pPr indent="0" lvl="0" marL="0" rtl="0" algn="r">
              <a:spcBef>
                <a:spcPts val="0"/>
              </a:spcBef>
              <a:spcAft>
                <a:spcPts val="0"/>
              </a:spcAft>
              <a:buNone/>
            </a:pPr>
            <a:r>
              <a:rPr lang="pt-BR" sz="1400">
                <a:solidFill>
                  <a:srgbClr val="A9CCE3"/>
                </a:solidFill>
                <a:latin typeface="Courier New"/>
                <a:ea typeface="Courier New"/>
                <a:cs typeface="Courier New"/>
                <a:sym typeface="Courier New"/>
              </a:rPr>
              <a:t>void main() { print("Running..."); }</a:t>
            </a:r>
            <a:endParaRPr sz="1400">
              <a:solidFill>
                <a:srgbClr val="A9CCE3"/>
              </a:solidFill>
              <a:latin typeface="Courier New"/>
              <a:ea typeface="Courier New"/>
              <a:cs typeface="Courier New"/>
              <a:sym typeface="Courier New"/>
            </a:endParaRPr>
          </a:p>
          <a:p>
            <a:pPr indent="0" lvl="0" marL="0" rtl="0" algn="r">
              <a:spcBef>
                <a:spcPts val="0"/>
              </a:spcBef>
              <a:spcAft>
                <a:spcPts val="3000"/>
              </a:spcAft>
              <a:buNone/>
            </a:pPr>
            <a:r>
              <a:rPr lang="pt-BR" sz="1400">
                <a:solidFill>
                  <a:srgbClr val="A9CCE3"/>
                </a:solidFill>
                <a:latin typeface="Courier New"/>
                <a:ea typeface="Courier New"/>
                <a:cs typeface="Courier New"/>
                <a:sym typeface="Courier New"/>
              </a:rPr>
              <a:t>function init() { return true; }</a:t>
            </a:r>
            <a:endParaRPr sz="1400">
              <a:solidFill>
                <a:srgbClr val="A9CCE3"/>
              </a:solidFill>
              <a:latin typeface="Courier New"/>
              <a:ea typeface="Courier New"/>
              <a:cs typeface="Courier New"/>
              <a:sym typeface="Courier New"/>
            </a:endParaRPr>
          </a:p>
        </p:txBody>
      </p:sp>
      <p:sp>
        <p:nvSpPr>
          <p:cNvPr id="159" name="Google Shape;159;p18"/>
          <p:cNvSpPr txBox="1"/>
          <p:nvPr/>
        </p:nvSpPr>
        <p:spPr>
          <a:xfrm>
            <a:off x="609600" y="476250"/>
            <a:ext cx="10972800" cy="952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pt-BR" sz="4800">
                <a:solidFill>
                  <a:srgbClr val="1B2631"/>
                </a:solidFill>
                <a:latin typeface="Playfair Display"/>
                <a:ea typeface="Playfair Display"/>
                <a:cs typeface="Playfair Display"/>
                <a:sym typeface="Playfair Display"/>
              </a:rPr>
              <a:t>O que é uma Função?</a:t>
            </a:r>
            <a:endParaRPr b="1" sz="4800">
              <a:solidFill>
                <a:srgbClr val="1B2631"/>
              </a:solidFill>
              <a:latin typeface="Playfair Display"/>
              <a:ea typeface="Playfair Display"/>
              <a:cs typeface="Playfair Display"/>
              <a:sym typeface="Playfair Display"/>
            </a:endParaRPr>
          </a:p>
        </p:txBody>
      </p:sp>
      <p:grpSp>
        <p:nvGrpSpPr>
          <p:cNvPr id="160" name="Google Shape;160;p18"/>
          <p:cNvGrpSpPr/>
          <p:nvPr/>
        </p:nvGrpSpPr>
        <p:grpSpPr>
          <a:xfrm>
            <a:off x="1333500" y="1714500"/>
            <a:ext cx="9525000" cy="1143000"/>
            <a:chOff x="1333500" y="1714500"/>
            <a:chExt cx="9525000" cy="1143000"/>
          </a:xfrm>
        </p:grpSpPr>
        <p:sp>
          <p:nvSpPr>
            <p:cNvPr id="161" name="Google Shape;161;p18"/>
            <p:cNvSpPr/>
            <p:nvPr/>
          </p:nvSpPr>
          <p:spPr>
            <a:xfrm>
              <a:off x="1333500" y="1714500"/>
              <a:ext cx="9525000" cy="1143000"/>
            </a:xfrm>
            <a:prstGeom prst="roundRect">
              <a:avLst>
                <a:gd fmla="val 12500" name="adj"/>
              </a:avLst>
            </a:prstGeom>
            <a:solidFill>
              <a:srgbClr val="FFFFFF">
                <a:alpha val="7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2" name="Google Shape;162;p18"/>
            <p:cNvSpPr txBox="1"/>
            <p:nvPr/>
          </p:nvSpPr>
          <p:spPr>
            <a:xfrm>
              <a:off x="1524000" y="2052828"/>
              <a:ext cx="571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pt-BR" sz="3600">
                  <a:solidFill>
                    <a:srgbClr val="C0392B"/>
                  </a:solidFill>
                  <a:latin typeface="Material Icons"/>
                  <a:ea typeface="Material Icons"/>
                  <a:cs typeface="Material Icons"/>
                  <a:sym typeface="Material Icons"/>
                </a:rPr>
                <a:t>settings</a:t>
              </a:r>
              <a:endParaRPr sz="3600">
                <a:solidFill>
                  <a:srgbClr val="C0392B"/>
                </a:solidFill>
                <a:latin typeface="Material Icons"/>
                <a:ea typeface="Material Icons"/>
                <a:cs typeface="Material Icons"/>
                <a:sym typeface="Material Icons"/>
              </a:endParaRPr>
            </a:p>
          </p:txBody>
        </p:sp>
        <p:sp>
          <p:nvSpPr>
            <p:cNvPr id="163" name="Google Shape;163;p18"/>
            <p:cNvSpPr txBox="1"/>
            <p:nvPr/>
          </p:nvSpPr>
          <p:spPr>
            <a:xfrm>
              <a:off x="2286000" y="1809750"/>
              <a:ext cx="8382000" cy="9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pt-BR" sz="2000">
                  <a:solidFill>
                    <a:srgbClr val="1B2631"/>
                  </a:solidFill>
                  <a:latin typeface="Playfair Display"/>
                  <a:ea typeface="Playfair Display"/>
                  <a:cs typeface="Playfair Display"/>
                  <a:sym typeface="Playfair Display"/>
                </a:rPr>
                <a:t>Definição – </a:t>
              </a:r>
              <a:r>
                <a:rPr b="1" lang="pt-BR" sz="2000">
                  <a:solidFill>
                    <a:srgbClr val="C0392B"/>
                  </a:solidFill>
                  <a:latin typeface="Courier New"/>
                  <a:ea typeface="Courier New"/>
                  <a:cs typeface="Courier New"/>
                  <a:sym typeface="Courier New"/>
                </a:rPr>
                <a:t>Bloco de código</a:t>
              </a:r>
              <a:endParaRPr b="1" sz="2000">
                <a:solidFill>
                  <a:srgbClr val="1B2631"/>
                </a:solidFill>
                <a:latin typeface="Playfair Display"/>
                <a:ea typeface="Playfair Display"/>
                <a:cs typeface="Playfair Display"/>
                <a:sym typeface="Playfair Display"/>
              </a:endParaRPr>
            </a:p>
            <a:p>
              <a:pPr indent="0" lvl="0" marL="0" rtl="0" algn="l">
                <a:spcBef>
                  <a:spcPts val="0"/>
                </a:spcBef>
                <a:spcAft>
                  <a:spcPts val="0"/>
                </a:spcAft>
                <a:buNone/>
              </a:pPr>
              <a:r>
                <a:rPr lang="pt-BR" sz="1600">
                  <a:solidFill>
                    <a:srgbClr val="34495E"/>
                  </a:solidFill>
                  <a:latin typeface="Playfair Display"/>
                  <a:ea typeface="Playfair Display"/>
                  <a:cs typeface="Playfair Display"/>
                  <a:sym typeface="Playfair Display"/>
                </a:rPr>
                <a:t>Executa uma tarefa específica</a:t>
              </a:r>
              <a:endParaRPr sz="1600">
                <a:solidFill>
                  <a:srgbClr val="34495E"/>
                </a:solidFill>
                <a:latin typeface="Playfair Display"/>
                <a:ea typeface="Playfair Display"/>
                <a:cs typeface="Playfair Display"/>
                <a:sym typeface="Playfair Display"/>
              </a:endParaRPr>
            </a:p>
          </p:txBody>
        </p:sp>
      </p:grpSp>
      <p:grpSp>
        <p:nvGrpSpPr>
          <p:cNvPr id="164" name="Google Shape;164;p18"/>
          <p:cNvGrpSpPr/>
          <p:nvPr/>
        </p:nvGrpSpPr>
        <p:grpSpPr>
          <a:xfrm>
            <a:off x="1333500" y="3048000"/>
            <a:ext cx="9525000" cy="1143000"/>
            <a:chOff x="1333500" y="3048000"/>
            <a:chExt cx="9525000" cy="1143000"/>
          </a:xfrm>
        </p:grpSpPr>
        <p:sp>
          <p:nvSpPr>
            <p:cNvPr id="165" name="Google Shape;165;p18"/>
            <p:cNvSpPr/>
            <p:nvPr/>
          </p:nvSpPr>
          <p:spPr>
            <a:xfrm>
              <a:off x="1333500" y="3048000"/>
              <a:ext cx="9525000" cy="1143000"/>
            </a:xfrm>
            <a:prstGeom prst="roundRect">
              <a:avLst>
                <a:gd fmla="val 12500" name="adj"/>
              </a:avLst>
            </a:prstGeom>
            <a:solidFill>
              <a:srgbClr val="FFFFFF">
                <a:alpha val="7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6" name="Google Shape;166;p18"/>
            <p:cNvSpPr txBox="1"/>
            <p:nvPr/>
          </p:nvSpPr>
          <p:spPr>
            <a:xfrm>
              <a:off x="1524000" y="3386328"/>
              <a:ext cx="571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pt-BR" sz="3600">
                  <a:solidFill>
                    <a:srgbClr val="C0392B"/>
                  </a:solidFill>
                  <a:latin typeface="Material Icons"/>
                  <a:ea typeface="Material Icons"/>
                  <a:cs typeface="Material Icons"/>
                  <a:sym typeface="Material Icons"/>
                </a:rPr>
                <a:t>input</a:t>
              </a:r>
              <a:endParaRPr sz="3600">
                <a:solidFill>
                  <a:srgbClr val="C0392B"/>
                </a:solidFill>
                <a:latin typeface="Material Icons"/>
                <a:ea typeface="Material Icons"/>
                <a:cs typeface="Material Icons"/>
                <a:sym typeface="Material Icons"/>
              </a:endParaRPr>
            </a:p>
          </p:txBody>
        </p:sp>
        <p:sp>
          <p:nvSpPr>
            <p:cNvPr id="167" name="Google Shape;167;p18"/>
            <p:cNvSpPr txBox="1"/>
            <p:nvPr/>
          </p:nvSpPr>
          <p:spPr>
            <a:xfrm>
              <a:off x="2286000" y="3143250"/>
              <a:ext cx="8382000" cy="9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pt-BR" sz="2000">
                  <a:solidFill>
                    <a:srgbClr val="1B2631"/>
                  </a:solidFill>
                  <a:latin typeface="Playfair Display"/>
                  <a:ea typeface="Playfair Display"/>
                  <a:cs typeface="Playfair Display"/>
                  <a:sym typeface="Playfair Display"/>
                </a:rPr>
                <a:t>Entrada – Recebe dados</a:t>
              </a:r>
              <a:endParaRPr b="1" sz="2000">
                <a:solidFill>
                  <a:srgbClr val="1B2631"/>
                </a:solidFill>
                <a:latin typeface="Playfair Display"/>
                <a:ea typeface="Playfair Display"/>
                <a:cs typeface="Playfair Display"/>
                <a:sym typeface="Playfair Display"/>
              </a:endParaRPr>
            </a:p>
            <a:p>
              <a:pPr indent="0" lvl="0" marL="0" rtl="0" algn="l">
                <a:spcBef>
                  <a:spcPts val="0"/>
                </a:spcBef>
                <a:spcAft>
                  <a:spcPts val="0"/>
                </a:spcAft>
                <a:buNone/>
              </a:pPr>
              <a:r>
                <a:rPr lang="pt-BR" sz="1600">
                  <a:solidFill>
                    <a:srgbClr val="34495E"/>
                  </a:solidFill>
                  <a:latin typeface="Playfair Display"/>
                  <a:ea typeface="Playfair Display"/>
                  <a:cs typeface="Playfair Display"/>
                  <a:sym typeface="Playfair Display"/>
                </a:rPr>
                <a:t>Por meio de </a:t>
              </a:r>
              <a:r>
                <a:rPr lang="pt-BR" sz="1600">
                  <a:solidFill>
                    <a:srgbClr val="C0392B"/>
                  </a:solidFill>
                  <a:latin typeface="Courier New"/>
                  <a:ea typeface="Courier New"/>
                  <a:cs typeface="Courier New"/>
                  <a:sym typeface="Courier New"/>
                </a:rPr>
                <a:t>parâmetros</a:t>
              </a:r>
              <a:endParaRPr sz="1600">
                <a:solidFill>
                  <a:srgbClr val="34495E"/>
                </a:solidFill>
                <a:latin typeface="Playfair Display"/>
                <a:ea typeface="Playfair Display"/>
                <a:cs typeface="Playfair Display"/>
                <a:sym typeface="Playfair Display"/>
              </a:endParaRPr>
            </a:p>
          </p:txBody>
        </p:sp>
      </p:grpSp>
      <p:grpSp>
        <p:nvGrpSpPr>
          <p:cNvPr id="168" name="Google Shape;168;p18"/>
          <p:cNvGrpSpPr/>
          <p:nvPr/>
        </p:nvGrpSpPr>
        <p:grpSpPr>
          <a:xfrm>
            <a:off x="1333500" y="4381500"/>
            <a:ext cx="9525000" cy="1143000"/>
            <a:chOff x="1333500" y="4381500"/>
            <a:chExt cx="9525000" cy="1143000"/>
          </a:xfrm>
        </p:grpSpPr>
        <p:sp>
          <p:nvSpPr>
            <p:cNvPr id="169" name="Google Shape;169;p18"/>
            <p:cNvSpPr/>
            <p:nvPr/>
          </p:nvSpPr>
          <p:spPr>
            <a:xfrm>
              <a:off x="1333500" y="4381500"/>
              <a:ext cx="9525000" cy="1143000"/>
            </a:xfrm>
            <a:prstGeom prst="roundRect">
              <a:avLst>
                <a:gd fmla="val 12500" name="adj"/>
              </a:avLst>
            </a:prstGeom>
            <a:solidFill>
              <a:srgbClr val="FFFFFF">
                <a:alpha val="7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0" name="Google Shape;170;p18"/>
            <p:cNvSpPr txBox="1"/>
            <p:nvPr/>
          </p:nvSpPr>
          <p:spPr>
            <a:xfrm>
              <a:off x="1524000" y="4719828"/>
              <a:ext cx="571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pt-BR" sz="3600">
                  <a:solidFill>
                    <a:srgbClr val="C0392B"/>
                  </a:solidFill>
                  <a:latin typeface="Material Icons"/>
                  <a:ea typeface="Material Icons"/>
                  <a:cs typeface="Material Icons"/>
                  <a:sym typeface="Material Icons"/>
                </a:rPr>
                <a:t>output</a:t>
              </a:r>
              <a:endParaRPr sz="3600">
                <a:solidFill>
                  <a:srgbClr val="C0392B"/>
                </a:solidFill>
                <a:latin typeface="Material Icons"/>
                <a:ea typeface="Material Icons"/>
                <a:cs typeface="Material Icons"/>
                <a:sym typeface="Material Icons"/>
              </a:endParaRPr>
            </a:p>
          </p:txBody>
        </p:sp>
        <p:sp>
          <p:nvSpPr>
            <p:cNvPr id="171" name="Google Shape;171;p18"/>
            <p:cNvSpPr txBox="1"/>
            <p:nvPr/>
          </p:nvSpPr>
          <p:spPr>
            <a:xfrm>
              <a:off x="2286000" y="4476750"/>
              <a:ext cx="8382000" cy="9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pt-BR" sz="2000">
                  <a:solidFill>
                    <a:srgbClr val="1B2631"/>
                  </a:solidFill>
                  <a:latin typeface="Playfair Display"/>
                  <a:ea typeface="Playfair Display"/>
                  <a:cs typeface="Playfair Display"/>
                  <a:sym typeface="Playfair Display"/>
                </a:rPr>
                <a:t>Saída – Devolve um valor</a:t>
              </a:r>
              <a:endParaRPr b="1" sz="2000">
                <a:solidFill>
                  <a:srgbClr val="1B2631"/>
                </a:solidFill>
                <a:latin typeface="Playfair Display"/>
                <a:ea typeface="Playfair Display"/>
                <a:cs typeface="Playfair Display"/>
                <a:sym typeface="Playfair Display"/>
              </a:endParaRPr>
            </a:p>
            <a:p>
              <a:pPr indent="0" lvl="0" marL="0" rtl="0" algn="l">
                <a:spcBef>
                  <a:spcPts val="0"/>
                </a:spcBef>
                <a:spcAft>
                  <a:spcPts val="0"/>
                </a:spcAft>
                <a:buNone/>
              </a:pPr>
              <a:r>
                <a:rPr lang="pt-BR" sz="1600">
                  <a:solidFill>
                    <a:srgbClr val="34495E"/>
                  </a:solidFill>
                  <a:latin typeface="Playfair Display"/>
                  <a:ea typeface="Playfair Display"/>
                  <a:cs typeface="Playfair Display"/>
                  <a:sym typeface="Playfair Display"/>
                </a:rPr>
                <a:t>Utilizando a instrução </a:t>
              </a:r>
              <a:r>
                <a:rPr lang="pt-BR" sz="1600">
                  <a:solidFill>
                    <a:srgbClr val="C0392B"/>
                  </a:solidFill>
                  <a:latin typeface="Courier New"/>
                  <a:ea typeface="Courier New"/>
                  <a:cs typeface="Courier New"/>
                  <a:sym typeface="Courier New"/>
                </a:rPr>
                <a:t>return</a:t>
              </a:r>
              <a:endParaRPr sz="1600">
                <a:solidFill>
                  <a:srgbClr val="34495E"/>
                </a:solidFill>
                <a:latin typeface="Playfair Display"/>
                <a:ea typeface="Playfair Display"/>
                <a:cs typeface="Playfair Display"/>
                <a:sym typeface="Playfair Display"/>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5" name="Shape 175"/>
        <p:cNvGrpSpPr/>
        <p:nvPr/>
      </p:nvGrpSpPr>
      <p:grpSpPr>
        <a:xfrm>
          <a:off x="0" y="0"/>
          <a:ext cx="0" cy="0"/>
          <a:chOff x="0" y="0"/>
          <a:chExt cx="0" cy="0"/>
        </a:xfrm>
      </p:grpSpPr>
      <p:sp>
        <p:nvSpPr>
          <p:cNvPr id="176" name="Google Shape;176;p19"/>
          <p:cNvSpPr txBox="1"/>
          <p:nvPr/>
        </p:nvSpPr>
        <p:spPr>
          <a:xfrm>
            <a:off x="381000" y="381000"/>
            <a:ext cx="11430000" cy="6096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pt-BR" sz="1400">
                <a:solidFill>
                  <a:srgbClr val="BDC3C7"/>
                </a:solidFill>
                <a:latin typeface="Courier New"/>
                <a:ea typeface="Courier New"/>
                <a:cs typeface="Courier New"/>
                <a:sym typeface="Courier New"/>
              </a:rPr>
              <a:t>def calcular_area(base, altura):</a:t>
            </a:r>
            <a:endParaRPr sz="1400">
              <a:solidFill>
                <a:srgbClr val="BDC3C7"/>
              </a:solidFill>
              <a:latin typeface="Courier New"/>
              <a:ea typeface="Courier New"/>
              <a:cs typeface="Courier New"/>
              <a:sym typeface="Courier New"/>
            </a:endParaRPr>
          </a:p>
          <a:p>
            <a:pPr indent="381000" lvl="0" marL="0" marR="0" rtl="0" algn="l">
              <a:spcBef>
                <a:spcPts val="0"/>
              </a:spcBef>
              <a:spcAft>
                <a:spcPts val="0"/>
              </a:spcAft>
              <a:buNone/>
            </a:pPr>
            <a:r>
              <a:rPr lang="pt-BR" sz="1400">
                <a:solidFill>
                  <a:srgbClr val="BDC3C7"/>
                </a:solidFill>
                <a:latin typeface="Courier New"/>
                <a:ea typeface="Courier New"/>
                <a:cs typeface="Courier New"/>
                <a:sym typeface="Courier New"/>
              </a:rPr>
              <a:t>return base * altura</a:t>
            </a:r>
            <a:endParaRPr sz="1400">
              <a:solidFill>
                <a:srgbClr val="BDC3C7"/>
              </a:solidFill>
              <a:latin typeface="Courier New"/>
              <a:ea typeface="Courier New"/>
              <a:cs typeface="Courier New"/>
              <a:sym typeface="Courier New"/>
            </a:endParaRPr>
          </a:p>
          <a:p>
            <a:pPr indent="0" lvl="0" marL="0" rtl="0" algn="r">
              <a:spcBef>
                <a:spcPts val="0"/>
              </a:spcBef>
              <a:spcAft>
                <a:spcPts val="0"/>
              </a:spcAft>
              <a:buNone/>
            </a:pPr>
            <a:r>
              <a:rPr lang="pt-BR" sz="1400">
                <a:solidFill>
                  <a:srgbClr val="BDC3C7"/>
                </a:solidFill>
                <a:latin typeface="Courier New"/>
                <a:ea typeface="Courier New"/>
                <a:cs typeface="Courier New"/>
                <a:sym typeface="Courier New"/>
              </a:rPr>
              <a:t>print(calcular_area(10, 5))</a:t>
            </a:r>
            <a:endParaRPr sz="1400">
              <a:solidFill>
                <a:srgbClr val="BDC3C7"/>
              </a:solidFill>
              <a:latin typeface="Courier New"/>
              <a:ea typeface="Courier New"/>
              <a:cs typeface="Courier New"/>
              <a:sym typeface="Courier New"/>
            </a:endParaRPr>
          </a:p>
          <a:p>
            <a:pPr indent="0" lvl="0" marL="0" rtl="0" algn="r">
              <a:spcBef>
                <a:spcPts val="0"/>
              </a:spcBef>
              <a:spcAft>
                <a:spcPts val="0"/>
              </a:spcAft>
              <a:buNone/>
            </a:pPr>
            <a:r>
              <a:rPr lang="pt-BR" sz="1400">
                <a:solidFill>
                  <a:srgbClr val="BDC3C7"/>
                </a:solidFill>
                <a:latin typeface="Courier New"/>
                <a:ea typeface="Courier New"/>
                <a:cs typeface="Courier New"/>
                <a:sym typeface="Courier New"/>
              </a:rPr>
              <a:t># Argumentos: 10, 5</a:t>
            </a:r>
            <a:endParaRPr sz="1400">
              <a:solidFill>
                <a:srgbClr val="BDC3C7"/>
              </a:solidFill>
              <a:latin typeface="Courier New"/>
              <a:ea typeface="Courier New"/>
              <a:cs typeface="Courier New"/>
              <a:sym typeface="Courier New"/>
            </a:endParaRPr>
          </a:p>
        </p:txBody>
      </p:sp>
      <p:sp>
        <p:nvSpPr>
          <p:cNvPr id="177" name="Google Shape;177;p19"/>
          <p:cNvSpPr txBox="1"/>
          <p:nvPr/>
        </p:nvSpPr>
        <p:spPr>
          <a:xfrm>
            <a:off x="609600" y="476250"/>
            <a:ext cx="10972800" cy="952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pt-BR" sz="4800">
                <a:solidFill>
                  <a:srgbClr val="1B2631"/>
                </a:solidFill>
                <a:latin typeface="Playfair Display"/>
                <a:ea typeface="Playfair Display"/>
                <a:cs typeface="Playfair Display"/>
                <a:sym typeface="Playfair Display"/>
              </a:rPr>
              <a:t>Parâmetros e Argumentos</a:t>
            </a:r>
            <a:endParaRPr b="1" sz="4800">
              <a:solidFill>
                <a:srgbClr val="1B2631"/>
              </a:solidFill>
              <a:latin typeface="Playfair Display"/>
              <a:ea typeface="Playfair Display"/>
              <a:cs typeface="Playfair Display"/>
              <a:sym typeface="Playfair Display"/>
            </a:endParaRPr>
          </a:p>
        </p:txBody>
      </p:sp>
      <p:grpSp>
        <p:nvGrpSpPr>
          <p:cNvPr id="178" name="Google Shape;178;p19"/>
          <p:cNvGrpSpPr/>
          <p:nvPr/>
        </p:nvGrpSpPr>
        <p:grpSpPr>
          <a:xfrm>
            <a:off x="1333500" y="1714500"/>
            <a:ext cx="9525000" cy="1143000"/>
            <a:chOff x="1333500" y="1714500"/>
            <a:chExt cx="9525000" cy="1143000"/>
          </a:xfrm>
        </p:grpSpPr>
        <p:sp>
          <p:nvSpPr>
            <p:cNvPr id="179" name="Google Shape;179;p19"/>
            <p:cNvSpPr/>
            <p:nvPr/>
          </p:nvSpPr>
          <p:spPr>
            <a:xfrm>
              <a:off x="1333500" y="1714500"/>
              <a:ext cx="9525000" cy="1143000"/>
            </a:xfrm>
            <a:prstGeom prst="roundRect">
              <a:avLst>
                <a:gd fmla="val 12500" name="adj"/>
              </a:avLst>
            </a:prstGeom>
            <a:solidFill>
              <a:srgbClr val="FFFFFF">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0" name="Google Shape;180;p19"/>
            <p:cNvSpPr txBox="1"/>
            <p:nvPr/>
          </p:nvSpPr>
          <p:spPr>
            <a:xfrm>
              <a:off x="1524000" y="2052828"/>
              <a:ext cx="571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pt-BR" sz="3600">
                  <a:solidFill>
                    <a:srgbClr val="C0392B"/>
                  </a:solidFill>
                  <a:latin typeface="Material Icons"/>
                  <a:ea typeface="Material Icons"/>
                  <a:cs typeface="Material Icons"/>
                  <a:sym typeface="Material Icons"/>
                </a:rPr>
                <a:t>assignment_ind</a:t>
              </a:r>
              <a:endParaRPr sz="3600">
                <a:solidFill>
                  <a:srgbClr val="C0392B"/>
                </a:solidFill>
                <a:latin typeface="Material Icons"/>
                <a:ea typeface="Material Icons"/>
                <a:cs typeface="Material Icons"/>
                <a:sym typeface="Material Icons"/>
              </a:endParaRPr>
            </a:p>
          </p:txBody>
        </p:sp>
        <p:sp>
          <p:nvSpPr>
            <p:cNvPr id="181" name="Google Shape;181;p19"/>
            <p:cNvSpPr txBox="1"/>
            <p:nvPr/>
          </p:nvSpPr>
          <p:spPr>
            <a:xfrm>
              <a:off x="2286000" y="1809750"/>
              <a:ext cx="8382000" cy="9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pt-BR" sz="2000">
                  <a:solidFill>
                    <a:srgbClr val="1B2631"/>
                  </a:solidFill>
                  <a:latin typeface="Playfair Display"/>
                  <a:ea typeface="Playfair Display"/>
                  <a:cs typeface="Playfair Display"/>
                  <a:sym typeface="Playfair Display"/>
                </a:rPr>
                <a:t>Parâmetros – </a:t>
              </a:r>
              <a:r>
                <a:rPr b="1" lang="pt-BR" sz="2000">
                  <a:solidFill>
                    <a:srgbClr val="C0392B"/>
                  </a:solidFill>
                  <a:latin typeface="Courier New"/>
                  <a:ea typeface="Courier New"/>
                  <a:cs typeface="Courier New"/>
                  <a:sym typeface="Courier New"/>
                </a:rPr>
                <a:t>Variáveis</a:t>
              </a:r>
              <a:endParaRPr b="1" sz="2000">
                <a:solidFill>
                  <a:srgbClr val="1B2631"/>
                </a:solidFill>
                <a:latin typeface="Playfair Display"/>
                <a:ea typeface="Playfair Display"/>
                <a:cs typeface="Playfair Display"/>
                <a:sym typeface="Playfair Display"/>
              </a:endParaRPr>
            </a:p>
            <a:p>
              <a:pPr indent="0" lvl="0" marL="0" rtl="0" algn="l">
                <a:spcBef>
                  <a:spcPts val="0"/>
                </a:spcBef>
                <a:spcAft>
                  <a:spcPts val="0"/>
                </a:spcAft>
                <a:buNone/>
              </a:pPr>
              <a:r>
                <a:rPr b="0" lang="pt-BR" sz="1600">
                  <a:solidFill>
                    <a:srgbClr val="34495E"/>
                  </a:solidFill>
                  <a:latin typeface="Playfair Display"/>
                  <a:ea typeface="Playfair Display"/>
                  <a:cs typeface="Playfair Display"/>
                  <a:sym typeface="Playfair Display"/>
                </a:rPr>
                <a:t>Definidas na assinatura da função</a:t>
              </a:r>
              <a:endParaRPr b="0" sz="1600">
                <a:solidFill>
                  <a:srgbClr val="34495E"/>
                </a:solidFill>
                <a:latin typeface="Playfair Display"/>
                <a:ea typeface="Playfair Display"/>
                <a:cs typeface="Playfair Display"/>
                <a:sym typeface="Playfair Display"/>
              </a:endParaRPr>
            </a:p>
          </p:txBody>
        </p:sp>
      </p:grpSp>
      <p:grpSp>
        <p:nvGrpSpPr>
          <p:cNvPr id="182" name="Google Shape;182;p19"/>
          <p:cNvGrpSpPr/>
          <p:nvPr/>
        </p:nvGrpSpPr>
        <p:grpSpPr>
          <a:xfrm>
            <a:off x="1333500" y="3048000"/>
            <a:ext cx="9525000" cy="1143000"/>
            <a:chOff x="1333500" y="3048000"/>
            <a:chExt cx="9525000" cy="1143000"/>
          </a:xfrm>
        </p:grpSpPr>
        <p:sp>
          <p:nvSpPr>
            <p:cNvPr id="183" name="Google Shape;183;p19"/>
            <p:cNvSpPr/>
            <p:nvPr/>
          </p:nvSpPr>
          <p:spPr>
            <a:xfrm>
              <a:off x="1333500" y="3048000"/>
              <a:ext cx="9525000" cy="1143000"/>
            </a:xfrm>
            <a:prstGeom prst="roundRect">
              <a:avLst>
                <a:gd fmla="val 12500" name="adj"/>
              </a:avLst>
            </a:prstGeom>
            <a:solidFill>
              <a:srgbClr val="FFFFFF">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4" name="Google Shape;184;p19"/>
            <p:cNvSpPr txBox="1"/>
            <p:nvPr/>
          </p:nvSpPr>
          <p:spPr>
            <a:xfrm>
              <a:off x="1524000" y="3386328"/>
              <a:ext cx="571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pt-BR" sz="3600">
                  <a:solidFill>
                    <a:srgbClr val="C0392B"/>
                  </a:solidFill>
                  <a:latin typeface="Material Icons"/>
                  <a:ea typeface="Material Icons"/>
                  <a:cs typeface="Material Icons"/>
                  <a:sym typeface="Material Icons"/>
                </a:rPr>
                <a:t>forward</a:t>
              </a:r>
              <a:endParaRPr sz="3600">
                <a:solidFill>
                  <a:srgbClr val="C0392B"/>
                </a:solidFill>
                <a:latin typeface="Material Icons"/>
                <a:ea typeface="Material Icons"/>
                <a:cs typeface="Material Icons"/>
                <a:sym typeface="Material Icons"/>
              </a:endParaRPr>
            </a:p>
          </p:txBody>
        </p:sp>
        <p:sp>
          <p:nvSpPr>
            <p:cNvPr id="185" name="Google Shape;185;p19"/>
            <p:cNvSpPr txBox="1"/>
            <p:nvPr/>
          </p:nvSpPr>
          <p:spPr>
            <a:xfrm>
              <a:off x="2286000" y="3143250"/>
              <a:ext cx="8382000" cy="9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pt-BR" sz="2000">
                  <a:solidFill>
                    <a:srgbClr val="1B2631"/>
                  </a:solidFill>
                  <a:latin typeface="Playfair Display"/>
                  <a:ea typeface="Playfair Display"/>
                  <a:cs typeface="Playfair Display"/>
                  <a:sym typeface="Playfair Display"/>
                </a:rPr>
                <a:t>Argumentos – </a:t>
              </a:r>
              <a:r>
                <a:rPr b="1" lang="pt-BR" sz="2000">
                  <a:solidFill>
                    <a:srgbClr val="C0392B"/>
                  </a:solidFill>
                  <a:latin typeface="Courier New"/>
                  <a:ea typeface="Courier New"/>
                  <a:cs typeface="Courier New"/>
                  <a:sym typeface="Courier New"/>
                </a:rPr>
                <a:t>Valores</a:t>
              </a:r>
              <a:endParaRPr b="1" sz="2000">
                <a:solidFill>
                  <a:srgbClr val="1B2631"/>
                </a:solidFill>
                <a:latin typeface="Playfair Display"/>
                <a:ea typeface="Playfair Display"/>
                <a:cs typeface="Playfair Display"/>
                <a:sym typeface="Playfair Display"/>
              </a:endParaRPr>
            </a:p>
            <a:p>
              <a:pPr indent="0" lvl="0" marL="0" rtl="0" algn="l">
                <a:spcBef>
                  <a:spcPts val="0"/>
                </a:spcBef>
                <a:spcAft>
                  <a:spcPts val="0"/>
                </a:spcAft>
                <a:buNone/>
              </a:pPr>
              <a:r>
                <a:rPr b="0" lang="pt-BR" sz="1600">
                  <a:solidFill>
                    <a:srgbClr val="34495E"/>
                  </a:solidFill>
                  <a:latin typeface="Playfair Display"/>
                  <a:ea typeface="Playfair Display"/>
                  <a:cs typeface="Playfair Display"/>
                  <a:sym typeface="Playfair Display"/>
                </a:rPr>
                <a:t>Dados passados no momento da chamada</a:t>
              </a:r>
              <a:endParaRPr b="0" sz="1600">
                <a:solidFill>
                  <a:srgbClr val="34495E"/>
                </a:solidFill>
                <a:latin typeface="Playfair Display"/>
                <a:ea typeface="Playfair Display"/>
                <a:cs typeface="Playfair Display"/>
                <a:sym typeface="Playfair Display"/>
              </a:endParaRPr>
            </a:p>
          </p:txBody>
        </p:sp>
      </p:grpSp>
      <p:grpSp>
        <p:nvGrpSpPr>
          <p:cNvPr id="186" name="Google Shape;186;p19"/>
          <p:cNvGrpSpPr/>
          <p:nvPr/>
        </p:nvGrpSpPr>
        <p:grpSpPr>
          <a:xfrm>
            <a:off x="1333500" y="4381500"/>
            <a:ext cx="9525000" cy="1143000"/>
            <a:chOff x="1333500" y="4381500"/>
            <a:chExt cx="9525000" cy="1143000"/>
          </a:xfrm>
        </p:grpSpPr>
        <p:sp>
          <p:nvSpPr>
            <p:cNvPr id="187" name="Google Shape;187;p19"/>
            <p:cNvSpPr/>
            <p:nvPr/>
          </p:nvSpPr>
          <p:spPr>
            <a:xfrm>
              <a:off x="1333500" y="4381500"/>
              <a:ext cx="9525000" cy="1143000"/>
            </a:xfrm>
            <a:prstGeom prst="roundRect">
              <a:avLst>
                <a:gd fmla="val 12500" name="adj"/>
              </a:avLst>
            </a:prstGeom>
            <a:solidFill>
              <a:srgbClr val="FFFFFF">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8" name="Google Shape;188;p19"/>
            <p:cNvSpPr txBox="1"/>
            <p:nvPr/>
          </p:nvSpPr>
          <p:spPr>
            <a:xfrm>
              <a:off x="1524000" y="4719828"/>
              <a:ext cx="571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pt-BR" sz="3600">
                  <a:solidFill>
                    <a:srgbClr val="C0392B"/>
                  </a:solidFill>
                  <a:latin typeface="Material Icons"/>
                  <a:ea typeface="Material Icons"/>
                  <a:cs typeface="Material Icons"/>
                  <a:sym typeface="Material Icons"/>
                </a:rPr>
                <a:t>auto_awesome</a:t>
              </a:r>
              <a:endParaRPr sz="3600">
                <a:solidFill>
                  <a:srgbClr val="C0392B"/>
                </a:solidFill>
                <a:latin typeface="Material Icons"/>
                <a:ea typeface="Material Icons"/>
                <a:cs typeface="Material Icons"/>
                <a:sym typeface="Material Icons"/>
              </a:endParaRPr>
            </a:p>
          </p:txBody>
        </p:sp>
        <p:sp>
          <p:nvSpPr>
            <p:cNvPr id="189" name="Google Shape;189;p19"/>
            <p:cNvSpPr txBox="1"/>
            <p:nvPr/>
          </p:nvSpPr>
          <p:spPr>
            <a:xfrm>
              <a:off x="2286000" y="4476750"/>
              <a:ext cx="8382000" cy="9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pt-BR" sz="2000">
                  <a:solidFill>
                    <a:srgbClr val="1B2631"/>
                  </a:solidFill>
                  <a:latin typeface="Playfair Display"/>
                  <a:ea typeface="Playfair Display"/>
                  <a:cs typeface="Playfair Display"/>
                  <a:sym typeface="Playfair Display"/>
                </a:rPr>
                <a:t>Clareza – </a:t>
              </a:r>
              <a:r>
                <a:rPr b="1" lang="pt-BR" sz="2000">
                  <a:solidFill>
                    <a:srgbClr val="C0392B"/>
                  </a:solidFill>
                  <a:latin typeface="Courier New"/>
                  <a:ea typeface="Courier New"/>
                  <a:cs typeface="Courier New"/>
                  <a:sym typeface="Courier New"/>
                </a:rPr>
                <a:t>Reuso</a:t>
              </a:r>
              <a:endParaRPr b="1" sz="2000">
                <a:solidFill>
                  <a:srgbClr val="1B2631"/>
                </a:solidFill>
                <a:latin typeface="Playfair Display"/>
                <a:ea typeface="Playfair Display"/>
                <a:cs typeface="Playfair Display"/>
                <a:sym typeface="Playfair Display"/>
              </a:endParaRPr>
            </a:p>
            <a:p>
              <a:pPr indent="0" lvl="0" marL="0" rtl="0" algn="l">
                <a:spcBef>
                  <a:spcPts val="0"/>
                </a:spcBef>
                <a:spcAft>
                  <a:spcPts val="0"/>
                </a:spcAft>
                <a:buNone/>
              </a:pPr>
              <a:r>
                <a:rPr b="0" lang="pt-BR" sz="1600">
                  <a:solidFill>
                    <a:srgbClr val="34495E"/>
                  </a:solidFill>
                  <a:latin typeface="Playfair Display"/>
                  <a:ea typeface="Playfair Display"/>
                  <a:cs typeface="Playfair Display"/>
                  <a:sym typeface="Playfair Display"/>
                </a:rPr>
                <a:t>Facilitam a reutilização e legibilidade do código</a:t>
              </a:r>
              <a:endParaRPr b="0" sz="1600">
                <a:solidFill>
                  <a:srgbClr val="34495E"/>
                </a:solidFill>
                <a:latin typeface="Playfair Display"/>
                <a:ea typeface="Playfair Display"/>
                <a:cs typeface="Playfair Display"/>
                <a:sym typeface="Playfair Display"/>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pic>
        <p:nvPicPr>
          <p:cNvPr descr="A very light blue background with a subtle, semi-transparent pattern of random computer code snippets scattered across the canvas, creating a technical yet clean wallpaper effect." id="194" name="Google Shape;194;p2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95" name="Google Shape;195;p20"/>
          <p:cNvSpPr txBox="1"/>
          <p:nvPr/>
        </p:nvSpPr>
        <p:spPr>
          <a:xfrm>
            <a:off x="609600" y="381000"/>
            <a:ext cx="10972800" cy="952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pt-BR" sz="4800">
                <a:solidFill>
                  <a:srgbClr val="1B2631"/>
                </a:solidFill>
                <a:latin typeface="Playfair Display"/>
                <a:ea typeface="Playfair Display"/>
                <a:cs typeface="Playfair Display"/>
                <a:sym typeface="Playfair Display"/>
              </a:rPr>
              <a:t>Retorno (return)</a:t>
            </a:r>
            <a:endParaRPr b="1" sz="4800">
              <a:solidFill>
                <a:srgbClr val="1B2631"/>
              </a:solidFill>
              <a:latin typeface="Playfair Display"/>
              <a:ea typeface="Playfair Display"/>
              <a:cs typeface="Playfair Display"/>
              <a:sym typeface="Playfair Display"/>
            </a:endParaRPr>
          </a:p>
        </p:txBody>
      </p:sp>
      <p:grpSp>
        <p:nvGrpSpPr>
          <p:cNvPr id="196" name="Google Shape;196;p20"/>
          <p:cNvGrpSpPr/>
          <p:nvPr/>
        </p:nvGrpSpPr>
        <p:grpSpPr>
          <a:xfrm>
            <a:off x="762000" y="1714500"/>
            <a:ext cx="5334000" cy="1143000"/>
            <a:chOff x="762000" y="1714500"/>
            <a:chExt cx="5334000" cy="1143000"/>
          </a:xfrm>
        </p:grpSpPr>
        <p:sp>
          <p:nvSpPr>
            <p:cNvPr id="197" name="Google Shape;197;p20"/>
            <p:cNvSpPr/>
            <p:nvPr/>
          </p:nvSpPr>
          <p:spPr>
            <a:xfrm>
              <a:off x="762000" y="1714500"/>
              <a:ext cx="5334000" cy="1143000"/>
            </a:xfrm>
            <a:prstGeom prst="roundRect">
              <a:avLst>
                <a:gd fmla="val 12500" name="adj"/>
              </a:avLst>
            </a:prstGeom>
            <a:solidFill>
              <a:srgbClr val="FFFFFF">
                <a:alpha val="8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8" name="Google Shape;198;p20"/>
            <p:cNvSpPr txBox="1"/>
            <p:nvPr/>
          </p:nvSpPr>
          <p:spPr>
            <a:xfrm>
              <a:off x="952500" y="2052828"/>
              <a:ext cx="571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pt-BR" sz="3600">
                  <a:solidFill>
                    <a:srgbClr val="C0392B"/>
                  </a:solidFill>
                  <a:latin typeface="Material Icons"/>
                  <a:ea typeface="Material Icons"/>
                  <a:cs typeface="Material Icons"/>
                  <a:sym typeface="Material Icons"/>
                </a:rPr>
                <a:t>output</a:t>
              </a:r>
              <a:endParaRPr sz="3600">
                <a:solidFill>
                  <a:srgbClr val="C0392B"/>
                </a:solidFill>
                <a:latin typeface="Material Icons"/>
                <a:ea typeface="Material Icons"/>
                <a:cs typeface="Material Icons"/>
                <a:sym typeface="Material Icons"/>
              </a:endParaRPr>
            </a:p>
          </p:txBody>
        </p:sp>
        <p:sp>
          <p:nvSpPr>
            <p:cNvPr id="199" name="Google Shape;199;p20"/>
            <p:cNvSpPr txBox="1"/>
            <p:nvPr/>
          </p:nvSpPr>
          <p:spPr>
            <a:xfrm>
              <a:off x="1714500" y="1809750"/>
              <a:ext cx="4191000" cy="9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pt-BR" sz="2000">
                  <a:solidFill>
                    <a:srgbClr val="1B2631"/>
                  </a:solidFill>
                  <a:latin typeface="Playfair Display"/>
                  <a:ea typeface="Playfair Display"/>
                  <a:cs typeface="Playfair Display"/>
                  <a:sym typeface="Playfair Display"/>
                </a:rPr>
                <a:t>Função principal – </a:t>
              </a:r>
              <a:r>
                <a:rPr b="1" lang="pt-BR" sz="2000">
                  <a:solidFill>
                    <a:srgbClr val="C0392B"/>
                  </a:solidFill>
                  <a:latin typeface="Courier New"/>
                  <a:ea typeface="Courier New"/>
                  <a:cs typeface="Courier New"/>
                  <a:sym typeface="Courier New"/>
                </a:rPr>
                <a:t>Resultado</a:t>
              </a:r>
              <a:endParaRPr b="1" sz="2000">
                <a:solidFill>
                  <a:srgbClr val="1B2631"/>
                </a:solidFill>
                <a:latin typeface="Playfair Display"/>
                <a:ea typeface="Playfair Display"/>
                <a:cs typeface="Playfair Display"/>
                <a:sym typeface="Playfair Display"/>
              </a:endParaRPr>
            </a:p>
            <a:p>
              <a:pPr indent="0" lvl="0" marL="0" rtl="0" algn="l">
                <a:spcBef>
                  <a:spcPts val="0"/>
                </a:spcBef>
                <a:spcAft>
                  <a:spcPts val="0"/>
                </a:spcAft>
                <a:buNone/>
              </a:pPr>
              <a:r>
                <a:rPr b="0" lang="pt-BR" sz="1600">
                  <a:solidFill>
                    <a:srgbClr val="34495E"/>
                  </a:solidFill>
                  <a:latin typeface="Playfair Display"/>
                  <a:ea typeface="Playfair Display"/>
                  <a:cs typeface="Playfair Display"/>
                  <a:sym typeface="Playfair Display"/>
                </a:rPr>
                <a:t>Devolver o resultado processado ao programa</a:t>
              </a:r>
              <a:endParaRPr b="0" sz="1600">
                <a:solidFill>
                  <a:srgbClr val="34495E"/>
                </a:solidFill>
                <a:latin typeface="Playfair Display"/>
                <a:ea typeface="Playfair Display"/>
                <a:cs typeface="Playfair Display"/>
                <a:sym typeface="Playfair Display"/>
              </a:endParaRPr>
            </a:p>
          </p:txBody>
        </p:sp>
      </p:grpSp>
      <p:grpSp>
        <p:nvGrpSpPr>
          <p:cNvPr id="200" name="Google Shape;200;p20"/>
          <p:cNvGrpSpPr/>
          <p:nvPr/>
        </p:nvGrpSpPr>
        <p:grpSpPr>
          <a:xfrm>
            <a:off x="762000" y="3048000"/>
            <a:ext cx="5334000" cy="1143000"/>
            <a:chOff x="762000" y="3048000"/>
            <a:chExt cx="5334000" cy="1143000"/>
          </a:xfrm>
        </p:grpSpPr>
        <p:sp>
          <p:nvSpPr>
            <p:cNvPr id="201" name="Google Shape;201;p20"/>
            <p:cNvSpPr/>
            <p:nvPr/>
          </p:nvSpPr>
          <p:spPr>
            <a:xfrm>
              <a:off x="762000" y="3048000"/>
              <a:ext cx="5334000" cy="1143000"/>
            </a:xfrm>
            <a:prstGeom prst="roundRect">
              <a:avLst>
                <a:gd fmla="val 12500" name="adj"/>
              </a:avLst>
            </a:prstGeom>
            <a:solidFill>
              <a:srgbClr val="FFFFFF">
                <a:alpha val="8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2" name="Google Shape;202;p20"/>
            <p:cNvSpPr txBox="1"/>
            <p:nvPr/>
          </p:nvSpPr>
          <p:spPr>
            <a:xfrm>
              <a:off x="952500" y="3386328"/>
              <a:ext cx="571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pt-BR" sz="3600">
                  <a:solidFill>
                    <a:srgbClr val="C0392B"/>
                  </a:solidFill>
                  <a:latin typeface="Material Icons"/>
                  <a:ea typeface="Material Icons"/>
                  <a:cs typeface="Material Icons"/>
                  <a:sym typeface="Material Icons"/>
                </a:rPr>
                <a:t>stop_circle</a:t>
              </a:r>
              <a:endParaRPr sz="3600">
                <a:solidFill>
                  <a:srgbClr val="C0392B"/>
                </a:solidFill>
                <a:latin typeface="Material Icons"/>
                <a:ea typeface="Material Icons"/>
                <a:cs typeface="Material Icons"/>
                <a:sym typeface="Material Icons"/>
              </a:endParaRPr>
            </a:p>
          </p:txBody>
        </p:sp>
        <p:sp>
          <p:nvSpPr>
            <p:cNvPr id="203" name="Google Shape;203;p20"/>
            <p:cNvSpPr txBox="1"/>
            <p:nvPr/>
          </p:nvSpPr>
          <p:spPr>
            <a:xfrm>
              <a:off x="1714500" y="3143250"/>
              <a:ext cx="4191000" cy="9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pt-BR" sz="2000">
                  <a:solidFill>
                    <a:srgbClr val="1B2631"/>
                  </a:solidFill>
                  <a:latin typeface="Playfair Display"/>
                  <a:ea typeface="Playfair Display"/>
                  <a:cs typeface="Playfair Display"/>
                  <a:sym typeface="Playfair Display"/>
                </a:rPr>
                <a:t>Encerramento – </a:t>
              </a:r>
              <a:r>
                <a:rPr b="1" lang="pt-BR" sz="2000">
                  <a:solidFill>
                    <a:srgbClr val="C0392B"/>
                  </a:solidFill>
                  <a:latin typeface="Courier New"/>
                  <a:ea typeface="Courier New"/>
                  <a:cs typeface="Courier New"/>
                  <a:sym typeface="Courier New"/>
                </a:rPr>
                <a:t>Finalização</a:t>
              </a:r>
              <a:endParaRPr b="1" sz="2000">
                <a:solidFill>
                  <a:srgbClr val="1B2631"/>
                </a:solidFill>
                <a:latin typeface="Playfair Display"/>
                <a:ea typeface="Playfair Display"/>
                <a:cs typeface="Playfair Display"/>
                <a:sym typeface="Playfair Display"/>
              </a:endParaRPr>
            </a:p>
            <a:p>
              <a:pPr indent="0" lvl="0" marL="0" rtl="0" algn="l">
                <a:spcBef>
                  <a:spcPts val="0"/>
                </a:spcBef>
                <a:spcAft>
                  <a:spcPts val="0"/>
                </a:spcAft>
                <a:buNone/>
              </a:pPr>
              <a:r>
                <a:rPr b="0" lang="pt-BR" sz="1600">
                  <a:solidFill>
                    <a:srgbClr val="34495E"/>
                  </a:solidFill>
                  <a:latin typeface="Playfair Display"/>
                  <a:ea typeface="Playfair Display"/>
                  <a:cs typeface="Playfair Display"/>
                  <a:sym typeface="Playfair Display"/>
                </a:rPr>
                <a:t>Finaliza imediatamente a execução da função</a:t>
              </a:r>
              <a:endParaRPr b="0" sz="1600">
                <a:solidFill>
                  <a:srgbClr val="34495E"/>
                </a:solidFill>
                <a:latin typeface="Playfair Display"/>
                <a:ea typeface="Playfair Display"/>
                <a:cs typeface="Playfair Display"/>
                <a:sym typeface="Playfair Display"/>
              </a:endParaRPr>
            </a:p>
          </p:txBody>
        </p:sp>
      </p:grpSp>
      <p:grpSp>
        <p:nvGrpSpPr>
          <p:cNvPr id="204" name="Google Shape;204;p20"/>
          <p:cNvGrpSpPr/>
          <p:nvPr/>
        </p:nvGrpSpPr>
        <p:grpSpPr>
          <a:xfrm>
            <a:off x="762000" y="4381500"/>
            <a:ext cx="5334000" cy="1143000"/>
            <a:chOff x="762000" y="4381500"/>
            <a:chExt cx="5334000" cy="1143000"/>
          </a:xfrm>
        </p:grpSpPr>
        <p:sp>
          <p:nvSpPr>
            <p:cNvPr id="205" name="Google Shape;205;p20"/>
            <p:cNvSpPr/>
            <p:nvPr/>
          </p:nvSpPr>
          <p:spPr>
            <a:xfrm>
              <a:off x="762000" y="4381500"/>
              <a:ext cx="5334000" cy="1143000"/>
            </a:xfrm>
            <a:prstGeom prst="roundRect">
              <a:avLst>
                <a:gd fmla="val 12500" name="adj"/>
              </a:avLst>
            </a:prstGeom>
            <a:solidFill>
              <a:srgbClr val="FFFFFF">
                <a:alpha val="8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6" name="Google Shape;206;p20"/>
            <p:cNvSpPr txBox="1"/>
            <p:nvPr/>
          </p:nvSpPr>
          <p:spPr>
            <a:xfrm>
              <a:off x="952500" y="4719828"/>
              <a:ext cx="571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pt-BR" sz="3600">
                  <a:solidFill>
                    <a:srgbClr val="C0392B"/>
                  </a:solidFill>
                  <a:latin typeface="Material Icons"/>
                  <a:ea typeface="Material Icons"/>
                  <a:cs typeface="Material Icons"/>
                  <a:sym typeface="Material Icons"/>
                </a:rPr>
                <a:t>verified</a:t>
              </a:r>
              <a:endParaRPr sz="3600">
                <a:solidFill>
                  <a:srgbClr val="C0392B"/>
                </a:solidFill>
                <a:latin typeface="Material Icons"/>
                <a:ea typeface="Material Icons"/>
                <a:cs typeface="Material Icons"/>
                <a:sym typeface="Material Icons"/>
              </a:endParaRPr>
            </a:p>
          </p:txBody>
        </p:sp>
        <p:sp>
          <p:nvSpPr>
            <p:cNvPr id="207" name="Google Shape;207;p20"/>
            <p:cNvSpPr txBox="1"/>
            <p:nvPr/>
          </p:nvSpPr>
          <p:spPr>
            <a:xfrm>
              <a:off x="1714500" y="4476750"/>
              <a:ext cx="4191000" cy="9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pt-BR" sz="2000">
                  <a:solidFill>
                    <a:srgbClr val="1B2631"/>
                  </a:solidFill>
                  <a:latin typeface="Playfair Display"/>
                  <a:ea typeface="Playfair Display"/>
                  <a:cs typeface="Playfair Display"/>
                  <a:sym typeface="Playfair Display"/>
                </a:rPr>
                <a:t>Boas práticas – </a:t>
              </a:r>
              <a:r>
                <a:rPr b="1" lang="pt-BR" sz="2000">
                  <a:solidFill>
                    <a:srgbClr val="C0392B"/>
                  </a:solidFill>
                  <a:latin typeface="Courier New"/>
                  <a:ea typeface="Courier New"/>
                  <a:cs typeface="Courier New"/>
                  <a:sym typeface="Courier New"/>
                </a:rPr>
                <a:t>Coerência</a:t>
              </a:r>
              <a:endParaRPr b="1" sz="2000">
                <a:solidFill>
                  <a:srgbClr val="1B2631"/>
                </a:solidFill>
                <a:latin typeface="Playfair Display"/>
                <a:ea typeface="Playfair Display"/>
                <a:cs typeface="Playfair Display"/>
                <a:sym typeface="Playfair Display"/>
              </a:endParaRPr>
            </a:p>
            <a:p>
              <a:pPr indent="0" lvl="0" marL="0" rtl="0" algn="l">
                <a:spcBef>
                  <a:spcPts val="0"/>
                </a:spcBef>
                <a:spcAft>
                  <a:spcPts val="0"/>
                </a:spcAft>
                <a:buNone/>
              </a:pPr>
              <a:r>
                <a:rPr b="0" lang="pt-BR" sz="1600">
                  <a:solidFill>
                    <a:srgbClr val="34495E"/>
                  </a:solidFill>
                  <a:latin typeface="Playfair Display"/>
                  <a:ea typeface="Playfair Display"/>
                  <a:cs typeface="Playfair Display"/>
                  <a:sym typeface="Playfair Display"/>
                </a:rPr>
                <a:t>Uma função deve retornar algo lógico e esperado</a:t>
              </a:r>
              <a:endParaRPr b="0" sz="1600">
                <a:solidFill>
                  <a:srgbClr val="34495E"/>
                </a:solidFill>
                <a:latin typeface="Playfair Display"/>
                <a:ea typeface="Playfair Display"/>
                <a:cs typeface="Playfair Display"/>
                <a:sym typeface="Playfair Display"/>
              </a:endParaRPr>
            </a:p>
          </p:txBody>
        </p:sp>
      </p:grpSp>
      <p:grpSp>
        <p:nvGrpSpPr>
          <p:cNvPr id="208" name="Google Shape;208;p20"/>
          <p:cNvGrpSpPr/>
          <p:nvPr/>
        </p:nvGrpSpPr>
        <p:grpSpPr>
          <a:xfrm>
            <a:off x="6096000" y="1714500"/>
            <a:ext cx="5143500" cy="3810000"/>
            <a:chOff x="6096000" y="1714500"/>
            <a:chExt cx="5143500" cy="3810000"/>
          </a:xfrm>
        </p:grpSpPr>
        <p:sp>
          <p:nvSpPr>
            <p:cNvPr id="209" name="Google Shape;209;p20"/>
            <p:cNvSpPr/>
            <p:nvPr/>
          </p:nvSpPr>
          <p:spPr>
            <a:xfrm>
              <a:off x="6477000" y="1714500"/>
              <a:ext cx="4762500" cy="3810000"/>
            </a:xfrm>
            <a:prstGeom prst="roundRect">
              <a:avLst>
                <a:gd fmla="val 3750" name="adj"/>
              </a:avLst>
            </a:prstGeom>
            <a:solidFill>
              <a:srgbClr val="FFFFFF">
                <a:alpha val="9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0" name="Google Shape;210;p20"/>
            <p:cNvSpPr txBox="1"/>
            <p:nvPr/>
          </p:nvSpPr>
          <p:spPr>
            <a:xfrm>
              <a:off x="6667500" y="1905000"/>
              <a:ext cx="4381500" cy="3429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pt-BR" sz="1400">
                  <a:solidFill>
                    <a:srgbClr val="7F8C8D"/>
                  </a:solidFill>
                  <a:latin typeface="Courier New"/>
                  <a:ea typeface="Courier New"/>
                  <a:cs typeface="Courier New"/>
                  <a:sym typeface="Courier New"/>
                </a:rPr>
                <a:t># Exemplo de Retorno</a:t>
              </a:r>
              <a:endParaRPr sz="1400">
                <a:solidFill>
                  <a:srgbClr val="7F8C8D"/>
                </a:solidFill>
                <a:latin typeface="Courier New"/>
                <a:ea typeface="Courier New"/>
                <a:cs typeface="Courier New"/>
                <a:sym typeface="Courier New"/>
              </a:endParaRPr>
            </a:p>
            <a:p>
              <a:pPr indent="0" lvl="0" marL="0" rtl="0" algn="l">
                <a:spcBef>
                  <a:spcPts val="0"/>
                </a:spcBef>
                <a:spcAft>
                  <a:spcPts val="0"/>
                </a:spcAft>
                <a:buNone/>
              </a:pPr>
              <a:r>
                <a:rPr lang="pt-BR" sz="1400">
                  <a:solidFill>
                    <a:srgbClr val="1B2631"/>
                  </a:solidFill>
                  <a:latin typeface="Courier New"/>
                  <a:ea typeface="Courier New"/>
                  <a:cs typeface="Courier New"/>
                  <a:sym typeface="Courier New"/>
                </a:rPr>
                <a:t>def soma(a, b):</a:t>
              </a:r>
              <a:endParaRPr sz="1400">
                <a:solidFill>
                  <a:srgbClr val="1B2631"/>
                </a:solidFill>
                <a:latin typeface="Courier New"/>
                <a:ea typeface="Courier New"/>
                <a:cs typeface="Courier New"/>
                <a:sym typeface="Courier New"/>
              </a:endParaRPr>
            </a:p>
            <a:p>
              <a:pPr indent="254000" lvl="0" marL="0" marR="0" rtl="0" algn="l">
                <a:spcBef>
                  <a:spcPts val="0"/>
                </a:spcBef>
                <a:spcAft>
                  <a:spcPts val="0"/>
                </a:spcAft>
                <a:buNone/>
              </a:pPr>
              <a:r>
                <a:rPr lang="pt-BR" sz="1400">
                  <a:solidFill>
                    <a:srgbClr val="C0392B"/>
                  </a:solidFill>
                  <a:latin typeface="Courier New"/>
                  <a:ea typeface="Courier New"/>
                  <a:cs typeface="Courier New"/>
                  <a:sym typeface="Courier New"/>
                </a:rPr>
                <a:t>return a + b</a:t>
              </a:r>
              <a:endParaRPr sz="1400">
                <a:solidFill>
                  <a:srgbClr val="C0392B"/>
                </a:solidFill>
                <a:latin typeface="Courier New"/>
                <a:ea typeface="Courier New"/>
                <a:cs typeface="Courier New"/>
                <a:sym typeface="Courier New"/>
              </a:endParaRPr>
            </a:p>
            <a:p>
              <a:pPr indent="0" lvl="0" marL="0" rtl="0" algn="l">
                <a:spcBef>
                  <a:spcPts val="750"/>
                </a:spcBef>
                <a:spcAft>
                  <a:spcPts val="0"/>
                </a:spcAft>
                <a:buNone/>
              </a:pPr>
              <a:r>
                <a:rPr lang="pt-BR" sz="1400">
                  <a:solidFill>
                    <a:srgbClr val="7F8C8D"/>
                  </a:solidFill>
                  <a:highlight>
                    <a:srgbClr val="BDC3C7"/>
                  </a:highlight>
                  <a:latin typeface="Courier New"/>
                  <a:ea typeface="Courier New"/>
                  <a:cs typeface="Courier New"/>
                  <a:sym typeface="Courier New"/>
                </a:rPr>
                <a:t># O valor volta para cá:</a:t>
              </a:r>
              <a:endParaRPr sz="1400">
                <a:solidFill>
                  <a:srgbClr val="7F8C8D"/>
                </a:solidFill>
                <a:highlight>
                  <a:srgbClr val="BDC3C7"/>
                </a:highlight>
                <a:latin typeface="Courier New"/>
                <a:ea typeface="Courier New"/>
                <a:cs typeface="Courier New"/>
                <a:sym typeface="Courier New"/>
              </a:endParaRPr>
            </a:p>
            <a:p>
              <a:pPr indent="0" lvl="0" marL="0" rtl="0" algn="l">
                <a:spcBef>
                  <a:spcPts val="0"/>
                </a:spcBef>
                <a:spcAft>
                  <a:spcPts val="0"/>
                </a:spcAft>
                <a:buNone/>
              </a:pPr>
              <a:r>
                <a:rPr lang="pt-BR" sz="1400">
                  <a:solidFill>
                    <a:srgbClr val="1B2631"/>
                  </a:solidFill>
                  <a:highlight>
                    <a:srgbClr val="BDC3C7"/>
                  </a:highlight>
                  <a:latin typeface="Courier New"/>
                  <a:ea typeface="Courier New"/>
                  <a:cs typeface="Courier New"/>
                  <a:sym typeface="Courier New"/>
                </a:rPr>
                <a:t>resultado = soma(10, 20)</a:t>
              </a:r>
              <a:endParaRPr sz="1400">
                <a:solidFill>
                  <a:srgbClr val="1B2631"/>
                </a:solidFill>
                <a:highlight>
                  <a:srgbClr val="BDC3C7"/>
                </a:highlight>
                <a:latin typeface="Courier New"/>
                <a:ea typeface="Courier New"/>
                <a:cs typeface="Courier New"/>
                <a:sym typeface="Courier New"/>
              </a:endParaRPr>
            </a:p>
            <a:p>
              <a:pPr indent="0" lvl="0" marL="0" rtl="0" algn="l">
                <a:spcBef>
                  <a:spcPts val="0"/>
                </a:spcBef>
                <a:spcAft>
                  <a:spcPts val="750"/>
                </a:spcAft>
                <a:buNone/>
              </a:pPr>
              <a:r>
                <a:rPr lang="pt-BR" sz="1400">
                  <a:solidFill>
                    <a:srgbClr val="1B2631"/>
                  </a:solidFill>
                  <a:highlight>
                    <a:srgbClr val="BDC3C7"/>
                  </a:highlight>
                  <a:latin typeface="Courier New"/>
                  <a:ea typeface="Courier New"/>
                  <a:cs typeface="Courier New"/>
                  <a:sym typeface="Courier New"/>
                </a:rPr>
                <a:t>print(resultado) </a:t>
              </a:r>
              <a:r>
                <a:rPr lang="pt-BR" sz="1400">
                  <a:solidFill>
                    <a:srgbClr val="27AE60"/>
                  </a:solidFill>
                  <a:highlight>
                    <a:srgbClr val="BDC3C7"/>
                  </a:highlight>
                  <a:latin typeface="Courier New"/>
                  <a:ea typeface="Courier New"/>
                  <a:cs typeface="Courier New"/>
                  <a:sym typeface="Courier New"/>
                </a:rPr>
                <a:t># Saída: 30</a:t>
              </a:r>
              <a:endParaRPr sz="1400">
                <a:solidFill>
                  <a:srgbClr val="1B2631"/>
                </a:solidFill>
                <a:highlight>
                  <a:srgbClr val="BDC3C7"/>
                </a:highlight>
                <a:latin typeface="Courier New"/>
                <a:ea typeface="Courier New"/>
                <a:cs typeface="Courier New"/>
                <a:sym typeface="Courier New"/>
              </a:endParaRPr>
            </a:p>
          </p:txBody>
        </p:sp>
        <p:pic>
          <p:nvPicPr>
            <p:cNvPr id="211" name="Google Shape;211;p20"/>
            <p:cNvPicPr preferRelativeResize="0"/>
            <p:nvPr/>
          </p:nvPicPr>
          <p:blipFill rotWithShape="1">
            <a:blip r:embed="rId4">
              <a:alphaModFix/>
            </a:blip>
            <a:srcRect b="0" l="0" r="0" t="0"/>
            <a:stretch/>
          </p:blipFill>
          <p:spPr>
            <a:xfrm>
              <a:off x="6096000" y="2185988"/>
              <a:ext cx="666900" cy="200100"/>
            </a:xfrm>
            <a:prstGeom prst="rect">
              <a:avLst/>
            </a:prstGeom>
            <a:noFill/>
            <a:ln>
              <a:noFill/>
            </a:ln>
          </p:spPr>
        </p:pic>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pic>
        <p:nvPicPr>
          <p:cNvPr descr="A very light blue background with a subtle, semi-transparent pattern of random computer code snippets scattered across the canvas, creating a technical yet clean wallpaper effect." id="216" name="Google Shape;216;p21"/>
          <p:cNvPicPr preferRelativeResize="0"/>
          <p:nvPr/>
        </p:nvPicPr>
        <p:blipFill rotWithShape="1">
          <a:blip r:embed="rId3">
            <a:alphaModFix/>
          </a:blip>
          <a:srcRect b="0" l="1513" r="1522" t="0"/>
          <a:stretch/>
        </p:blipFill>
        <p:spPr>
          <a:xfrm>
            <a:off x="0" y="0"/>
            <a:ext cx="12192000" cy="6858000"/>
          </a:xfrm>
          <a:prstGeom prst="rect">
            <a:avLst/>
          </a:prstGeom>
          <a:noFill/>
          <a:ln>
            <a:noFill/>
          </a:ln>
        </p:spPr>
      </p:pic>
      <p:sp>
        <p:nvSpPr>
          <p:cNvPr id="217" name="Google Shape;217;p21"/>
          <p:cNvSpPr txBox="1"/>
          <p:nvPr/>
        </p:nvSpPr>
        <p:spPr>
          <a:xfrm>
            <a:off x="609600" y="381000"/>
            <a:ext cx="10972800" cy="952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pt-BR" sz="4800">
                <a:solidFill>
                  <a:srgbClr val="1B2631"/>
                </a:solidFill>
                <a:latin typeface="Playfair Display"/>
                <a:ea typeface="Playfair Display"/>
                <a:cs typeface="Playfair Display"/>
                <a:sym typeface="Playfair Display"/>
              </a:rPr>
              <a:t>Escopo de Variáveis</a:t>
            </a:r>
            <a:endParaRPr b="1" sz="4800">
              <a:solidFill>
                <a:srgbClr val="1B2631"/>
              </a:solidFill>
              <a:latin typeface="Playfair Display"/>
              <a:ea typeface="Playfair Display"/>
              <a:cs typeface="Playfair Display"/>
              <a:sym typeface="Playfair Display"/>
            </a:endParaRPr>
          </a:p>
        </p:txBody>
      </p:sp>
      <p:grpSp>
        <p:nvGrpSpPr>
          <p:cNvPr id="218" name="Google Shape;218;p21"/>
          <p:cNvGrpSpPr/>
          <p:nvPr/>
        </p:nvGrpSpPr>
        <p:grpSpPr>
          <a:xfrm>
            <a:off x="762000" y="1714500"/>
            <a:ext cx="5334000" cy="1143000"/>
            <a:chOff x="762000" y="1714500"/>
            <a:chExt cx="5334000" cy="1143000"/>
          </a:xfrm>
        </p:grpSpPr>
        <p:sp>
          <p:nvSpPr>
            <p:cNvPr id="219" name="Google Shape;219;p21"/>
            <p:cNvSpPr/>
            <p:nvPr/>
          </p:nvSpPr>
          <p:spPr>
            <a:xfrm>
              <a:off x="762000" y="1714500"/>
              <a:ext cx="5334000" cy="1143000"/>
            </a:xfrm>
            <a:prstGeom prst="roundRect">
              <a:avLst>
                <a:gd fmla="val 12500" name="adj"/>
              </a:avLst>
            </a:prstGeom>
            <a:solidFill>
              <a:srgbClr val="FFFFFF">
                <a:alpha val="8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0" name="Google Shape;220;p21"/>
            <p:cNvSpPr txBox="1"/>
            <p:nvPr/>
          </p:nvSpPr>
          <p:spPr>
            <a:xfrm>
              <a:off x="952500" y="2052828"/>
              <a:ext cx="5715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lang="pt-BR" sz="3600">
                  <a:solidFill>
                    <a:srgbClr val="C0392B"/>
                  </a:solidFill>
                  <a:latin typeface="Material Icons"/>
                  <a:ea typeface="Material Icons"/>
                  <a:cs typeface="Material Icons"/>
                  <a:sym typeface="Material Icons"/>
                </a:rPr>
                <a:t>lock</a:t>
              </a:r>
              <a:endParaRPr sz="3600">
                <a:solidFill>
                  <a:srgbClr val="C0392B"/>
                </a:solidFill>
                <a:latin typeface="Material Icons"/>
                <a:ea typeface="Material Icons"/>
                <a:cs typeface="Material Icons"/>
                <a:sym typeface="Material Icons"/>
              </a:endParaRPr>
            </a:p>
          </p:txBody>
        </p:sp>
        <p:sp>
          <p:nvSpPr>
            <p:cNvPr id="221" name="Google Shape;221;p21"/>
            <p:cNvSpPr txBox="1"/>
            <p:nvPr/>
          </p:nvSpPr>
          <p:spPr>
            <a:xfrm>
              <a:off x="1714500" y="1809750"/>
              <a:ext cx="4191000" cy="952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pt-BR" sz="2000">
                  <a:solidFill>
                    <a:srgbClr val="1B2631"/>
                  </a:solidFill>
                  <a:latin typeface="Playfair Display"/>
                  <a:ea typeface="Playfair Display"/>
                  <a:cs typeface="Playfair Display"/>
                  <a:sym typeface="Playfair Display"/>
                </a:rPr>
                <a:t>Escopo local – </a:t>
              </a:r>
              <a:r>
                <a:rPr b="1" lang="pt-BR" sz="2000">
                  <a:solidFill>
                    <a:srgbClr val="C0392B"/>
                  </a:solidFill>
                  <a:latin typeface="Courier New"/>
                  <a:ea typeface="Courier New"/>
                  <a:cs typeface="Courier New"/>
                  <a:sym typeface="Courier New"/>
                </a:rPr>
                <a:t>Interno</a:t>
              </a:r>
              <a:endParaRPr b="1" sz="2000">
                <a:solidFill>
                  <a:srgbClr val="1B2631"/>
                </a:solidFill>
                <a:latin typeface="Playfair Display"/>
                <a:ea typeface="Playfair Display"/>
                <a:cs typeface="Playfair Display"/>
                <a:sym typeface="Playfair Display"/>
              </a:endParaRPr>
            </a:p>
            <a:p>
              <a:pPr indent="0" lvl="0" marL="0" rtl="0" algn="l">
                <a:spcBef>
                  <a:spcPts val="0"/>
                </a:spcBef>
                <a:spcAft>
                  <a:spcPts val="0"/>
                </a:spcAft>
                <a:buNone/>
              </a:pPr>
              <a:r>
                <a:rPr b="0" lang="pt-BR" sz="1600">
                  <a:solidFill>
                    <a:srgbClr val="34495E"/>
                  </a:solidFill>
                  <a:latin typeface="Playfair Display"/>
                  <a:ea typeface="Playfair Display"/>
                  <a:cs typeface="Playfair Display"/>
                  <a:sym typeface="Playfair Display"/>
                </a:rPr>
                <a:t>Variáveis válidas apenas dentro da função</a:t>
              </a:r>
              <a:endParaRPr b="0" sz="1600">
                <a:solidFill>
                  <a:srgbClr val="34495E"/>
                </a:solidFill>
                <a:latin typeface="Playfair Display"/>
                <a:ea typeface="Playfair Display"/>
                <a:cs typeface="Playfair Display"/>
                <a:sym typeface="Playfair Display"/>
              </a:endParaRPr>
            </a:p>
          </p:txBody>
        </p:sp>
      </p:grpSp>
      <p:grpSp>
        <p:nvGrpSpPr>
          <p:cNvPr id="222" name="Google Shape;222;p21"/>
          <p:cNvGrpSpPr/>
          <p:nvPr/>
        </p:nvGrpSpPr>
        <p:grpSpPr>
          <a:xfrm>
            <a:off x="762000" y="3048000"/>
            <a:ext cx="5334000" cy="1143000"/>
            <a:chOff x="762000" y="3048000"/>
            <a:chExt cx="5334000" cy="1143000"/>
          </a:xfrm>
        </p:grpSpPr>
        <p:sp>
          <p:nvSpPr>
            <p:cNvPr id="223" name="Google Shape;223;p21"/>
            <p:cNvSpPr/>
            <p:nvPr/>
          </p:nvSpPr>
          <p:spPr>
            <a:xfrm>
              <a:off x="762000" y="3048000"/>
              <a:ext cx="5334000" cy="1143000"/>
            </a:xfrm>
            <a:prstGeom prst="roundRect">
              <a:avLst>
                <a:gd fmla="val 12500" name="adj"/>
              </a:avLst>
            </a:prstGeom>
            <a:solidFill>
              <a:srgbClr val="FFFFFF">
                <a:alpha val="8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4" name="Google Shape;224;p21"/>
            <p:cNvSpPr txBox="1"/>
            <p:nvPr/>
          </p:nvSpPr>
          <p:spPr>
            <a:xfrm>
              <a:off x="952500" y="3386328"/>
              <a:ext cx="5715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lang="pt-BR" sz="3600">
                  <a:solidFill>
                    <a:srgbClr val="C0392B"/>
                  </a:solidFill>
                  <a:latin typeface="Material Icons"/>
                  <a:ea typeface="Material Icons"/>
                  <a:cs typeface="Material Icons"/>
                  <a:sym typeface="Material Icons"/>
                </a:rPr>
                <a:t>public</a:t>
              </a:r>
              <a:endParaRPr sz="3600">
                <a:solidFill>
                  <a:srgbClr val="C0392B"/>
                </a:solidFill>
                <a:latin typeface="Material Icons"/>
                <a:ea typeface="Material Icons"/>
                <a:cs typeface="Material Icons"/>
                <a:sym typeface="Material Icons"/>
              </a:endParaRPr>
            </a:p>
          </p:txBody>
        </p:sp>
        <p:sp>
          <p:nvSpPr>
            <p:cNvPr id="225" name="Google Shape;225;p21"/>
            <p:cNvSpPr txBox="1"/>
            <p:nvPr/>
          </p:nvSpPr>
          <p:spPr>
            <a:xfrm>
              <a:off x="1714500" y="3143250"/>
              <a:ext cx="4191000" cy="952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pt-BR" sz="2000">
                  <a:solidFill>
                    <a:srgbClr val="1B2631"/>
                  </a:solidFill>
                  <a:latin typeface="Playfair Display"/>
                  <a:ea typeface="Playfair Display"/>
                  <a:cs typeface="Playfair Display"/>
                  <a:sym typeface="Playfair Display"/>
                </a:rPr>
                <a:t>Escopo global – </a:t>
              </a:r>
              <a:r>
                <a:rPr b="1" lang="pt-BR" sz="2000">
                  <a:solidFill>
                    <a:srgbClr val="C0392B"/>
                  </a:solidFill>
                  <a:latin typeface="Courier New"/>
                  <a:ea typeface="Courier New"/>
                  <a:cs typeface="Courier New"/>
                  <a:sym typeface="Courier New"/>
                </a:rPr>
                <a:t>Acessível</a:t>
              </a:r>
              <a:endParaRPr b="1" sz="2000">
                <a:solidFill>
                  <a:srgbClr val="1B2631"/>
                </a:solidFill>
                <a:latin typeface="Playfair Display"/>
                <a:ea typeface="Playfair Display"/>
                <a:cs typeface="Playfair Display"/>
                <a:sym typeface="Playfair Display"/>
              </a:endParaRPr>
            </a:p>
            <a:p>
              <a:pPr indent="0" lvl="0" marL="0" rtl="0" algn="l">
                <a:spcBef>
                  <a:spcPts val="0"/>
                </a:spcBef>
                <a:spcAft>
                  <a:spcPts val="0"/>
                </a:spcAft>
                <a:buNone/>
              </a:pPr>
              <a:r>
                <a:rPr b="0" lang="pt-BR" sz="1600">
                  <a:solidFill>
                    <a:srgbClr val="34495E"/>
                  </a:solidFill>
                  <a:latin typeface="Playfair Display"/>
                  <a:ea typeface="Playfair Display"/>
                  <a:cs typeface="Playfair Display"/>
                  <a:sym typeface="Playfair Display"/>
                </a:rPr>
                <a:t>Variáveis acessíveis em todo o programa</a:t>
              </a:r>
              <a:endParaRPr b="0" sz="1600">
                <a:solidFill>
                  <a:srgbClr val="34495E"/>
                </a:solidFill>
                <a:latin typeface="Playfair Display"/>
                <a:ea typeface="Playfair Display"/>
                <a:cs typeface="Playfair Display"/>
                <a:sym typeface="Playfair Display"/>
              </a:endParaRPr>
            </a:p>
          </p:txBody>
        </p:sp>
      </p:grpSp>
      <p:grpSp>
        <p:nvGrpSpPr>
          <p:cNvPr id="226" name="Google Shape;226;p21"/>
          <p:cNvGrpSpPr/>
          <p:nvPr/>
        </p:nvGrpSpPr>
        <p:grpSpPr>
          <a:xfrm>
            <a:off x="762000" y="4381500"/>
            <a:ext cx="5334000" cy="1143000"/>
            <a:chOff x="762000" y="4381500"/>
            <a:chExt cx="5334000" cy="1143000"/>
          </a:xfrm>
        </p:grpSpPr>
        <p:sp>
          <p:nvSpPr>
            <p:cNvPr id="227" name="Google Shape;227;p21"/>
            <p:cNvSpPr/>
            <p:nvPr/>
          </p:nvSpPr>
          <p:spPr>
            <a:xfrm>
              <a:off x="762000" y="4381500"/>
              <a:ext cx="5334000" cy="1143000"/>
            </a:xfrm>
            <a:prstGeom prst="roundRect">
              <a:avLst>
                <a:gd fmla="val 12500" name="adj"/>
              </a:avLst>
            </a:prstGeom>
            <a:solidFill>
              <a:srgbClr val="FFFFFF">
                <a:alpha val="8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8" name="Google Shape;228;p21"/>
            <p:cNvSpPr txBox="1"/>
            <p:nvPr/>
          </p:nvSpPr>
          <p:spPr>
            <a:xfrm>
              <a:off x="952500" y="4719828"/>
              <a:ext cx="5715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lang="pt-BR" sz="3600">
                  <a:solidFill>
                    <a:srgbClr val="C0392B"/>
                  </a:solidFill>
                  <a:latin typeface="Material Icons"/>
                  <a:ea typeface="Material Icons"/>
                  <a:cs typeface="Material Icons"/>
                  <a:sym typeface="Material Icons"/>
                </a:rPr>
                <a:t>report_problem</a:t>
              </a:r>
              <a:endParaRPr sz="3600">
                <a:solidFill>
                  <a:srgbClr val="C0392B"/>
                </a:solidFill>
                <a:latin typeface="Material Icons"/>
                <a:ea typeface="Material Icons"/>
                <a:cs typeface="Material Icons"/>
                <a:sym typeface="Material Icons"/>
              </a:endParaRPr>
            </a:p>
          </p:txBody>
        </p:sp>
        <p:sp>
          <p:nvSpPr>
            <p:cNvPr id="229" name="Google Shape;229;p21"/>
            <p:cNvSpPr txBox="1"/>
            <p:nvPr/>
          </p:nvSpPr>
          <p:spPr>
            <a:xfrm>
              <a:off x="1714500" y="4476750"/>
              <a:ext cx="4191000" cy="952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pt-BR" sz="2000">
                  <a:solidFill>
                    <a:srgbClr val="1B2631"/>
                  </a:solidFill>
                  <a:latin typeface="Playfair Display"/>
                  <a:ea typeface="Playfair Display"/>
                  <a:cs typeface="Playfair Display"/>
                  <a:sym typeface="Playfair Display"/>
                </a:rPr>
                <a:t>Cuidado – </a:t>
              </a:r>
              <a:r>
                <a:rPr b="1" lang="pt-BR" sz="2000">
                  <a:solidFill>
                    <a:srgbClr val="C0392B"/>
                  </a:solidFill>
                  <a:latin typeface="Courier New"/>
                  <a:ea typeface="Courier New"/>
                  <a:cs typeface="Courier New"/>
                  <a:sym typeface="Courier New"/>
                </a:rPr>
                <a:t>Depuração</a:t>
              </a:r>
              <a:endParaRPr b="1" sz="2000">
                <a:solidFill>
                  <a:srgbClr val="1B2631"/>
                </a:solidFill>
                <a:latin typeface="Playfair Display"/>
                <a:ea typeface="Playfair Display"/>
                <a:cs typeface="Playfair Display"/>
                <a:sym typeface="Playfair Display"/>
              </a:endParaRPr>
            </a:p>
            <a:p>
              <a:pPr indent="0" lvl="0" marL="0" rtl="0" algn="l">
                <a:spcBef>
                  <a:spcPts val="0"/>
                </a:spcBef>
                <a:spcAft>
                  <a:spcPts val="0"/>
                </a:spcAft>
                <a:buNone/>
              </a:pPr>
              <a:r>
                <a:rPr b="0" lang="pt-BR" sz="1600">
                  <a:solidFill>
                    <a:srgbClr val="34495E"/>
                  </a:solidFill>
                  <a:latin typeface="Playfair Display"/>
                  <a:ea typeface="Playfair Display"/>
                  <a:cs typeface="Playfair Display"/>
                  <a:sym typeface="Playfair Display"/>
                </a:rPr>
                <a:t>Uso excessivo dificulta a correção de erros</a:t>
              </a:r>
              <a:endParaRPr b="0" sz="1600">
                <a:solidFill>
                  <a:srgbClr val="34495E"/>
                </a:solidFill>
                <a:latin typeface="Playfair Display"/>
                <a:ea typeface="Playfair Display"/>
                <a:cs typeface="Playfair Display"/>
                <a:sym typeface="Playfair Display"/>
              </a:endParaRPr>
            </a:p>
          </p:txBody>
        </p:sp>
      </p:grpSp>
      <p:grpSp>
        <p:nvGrpSpPr>
          <p:cNvPr id="230" name="Google Shape;230;p21"/>
          <p:cNvGrpSpPr/>
          <p:nvPr/>
        </p:nvGrpSpPr>
        <p:grpSpPr>
          <a:xfrm>
            <a:off x="6477000" y="1714500"/>
            <a:ext cx="4762500" cy="3810000"/>
            <a:chOff x="6477000" y="1714500"/>
            <a:chExt cx="4762500" cy="3810000"/>
          </a:xfrm>
        </p:grpSpPr>
        <p:sp>
          <p:nvSpPr>
            <p:cNvPr id="231" name="Google Shape;231;p21"/>
            <p:cNvSpPr/>
            <p:nvPr/>
          </p:nvSpPr>
          <p:spPr>
            <a:xfrm>
              <a:off x="6477000" y="1714500"/>
              <a:ext cx="4762500" cy="3810000"/>
            </a:xfrm>
            <a:prstGeom prst="roundRect">
              <a:avLst>
                <a:gd fmla="val 3750" name="adj"/>
              </a:avLst>
            </a:prstGeom>
            <a:solidFill>
              <a:srgbClr val="FFFFFF">
                <a:alpha val="9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2" name="Google Shape;232;p21"/>
            <p:cNvSpPr txBox="1"/>
            <p:nvPr/>
          </p:nvSpPr>
          <p:spPr>
            <a:xfrm>
              <a:off x="6667500" y="1905000"/>
              <a:ext cx="4381500" cy="3429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lang="pt-BR" sz="1400">
                  <a:solidFill>
                    <a:srgbClr val="7F8C8D"/>
                  </a:solidFill>
                  <a:latin typeface="Courier New"/>
                  <a:ea typeface="Courier New"/>
                  <a:cs typeface="Courier New"/>
                  <a:sym typeface="Courier New"/>
                </a:rPr>
                <a:t># Exemplo de Escopo</a:t>
              </a:r>
              <a:endParaRPr sz="1400">
                <a:solidFill>
                  <a:srgbClr val="7F8C8D"/>
                </a:solidFill>
                <a:latin typeface="Courier New"/>
                <a:ea typeface="Courier New"/>
                <a:cs typeface="Courier New"/>
                <a:sym typeface="Courier New"/>
              </a:endParaRPr>
            </a:p>
            <a:p>
              <a:pPr indent="0" lvl="0" marL="0" rtl="0" algn="l">
                <a:spcBef>
                  <a:spcPts val="0"/>
                </a:spcBef>
                <a:spcAft>
                  <a:spcPts val="0"/>
                </a:spcAft>
                <a:buNone/>
              </a:pPr>
              <a:r>
                <a:rPr lang="pt-BR" sz="1400">
                  <a:solidFill>
                    <a:srgbClr val="C0392B"/>
                  </a:solidFill>
                  <a:latin typeface="Courier New"/>
                  <a:ea typeface="Courier New"/>
                  <a:cs typeface="Courier New"/>
                  <a:sym typeface="Courier New"/>
                </a:rPr>
                <a:t>var_global = "Sou Global"</a:t>
              </a:r>
              <a:endParaRPr sz="1400">
                <a:solidFill>
                  <a:srgbClr val="C0392B"/>
                </a:solidFill>
                <a:latin typeface="Courier New"/>
                <a:ea typeface="Courier New"/>
                <a:cs typeface="Courier New"/>
                <a:sym typeface="Courier New"/>
              </a:endParaRPr>
            </a:p>
            <a:p>
              <a:pPr indent="0" lvl="0" marL="0" rtl="0" algn="l">
                <a:spcBef>
                  <a:spcPts val="750"/>
                </a:spcBef>
                <a:spcAft>
                  <a:spcPts val="0"/>
                </a:spcAft>
                <a:buNone/>
              </a:pPr>
              <a:r>
                <a:rPr lang="pt-BR" sz="1400">
                  <a:solidFill>
                    <a:srgbClr val="1B2631"/>
                  </a:solidFill>
                  <a:latin typeface="Courier New"/>
                  <a:ea typeface="Courier New"/>
                  <a:cs typeface="Courier New"/>
                  <a:sym typeface="Courier New"/>
                </a:rPr>
                <a:t>def minha_funcao():</a:t>
              </a:r>
              <a:endParaRPr sz="1400">
                <a:solidFill>
                  <a:srgbClr val="1B2631"/>
                </a:solidFill>
                <a:latin typeface="Courier New"/>
                <a:ea typeface="Courier New"/>
                <a:cs typeface="Courier New"/>
                <a:sym typeface="Courier New"/>
              </a:endParaRPr>
            </a:p>
            <a:p>
              <a:pPr indent="254000" lvl="0" marL="0" marR="0" rtl="0" algn="l">
                <a:spcBef>
                  <a:spcPts val="0"/>
                </a:spcBef>
                <a:spcAft>
                  <a:spcPts val="0"/>
                </a:spcAft>
                <a:buNone/>
              </a:pPr>
              <a:r>
                <a:rPr lang="pt-BR" sz="1400">
                  <a:solidFill>
                    <a:srgbClr val="C0392B"/>
                  </a:solidFill>
                  <a:latin typeface="Courier New"/>
                  <a:ea typeface="Courier New"/>
                  <a:cs typeface="Courier New"/>
                  <a:sym typeface="Courier New"/>
                </a:rPr>
                <a:t>var_local = "Sou Local"</a:t>
              </a:r>
              <a:endParaRPr sz="1400">
                <a:solidFill>
                  <a:srgbClr val="C0392B"/>
                </a:solidFill>
                <a:latin typeface="Courier New"/>
                <a:ea typeface="Courier New"/>
                <a:cs typeface="Courier New"/>
                <a:sym typeface="Courier New"/>
              </a:endParaRPr>
            </a:p>
            <a:p>
              <a:pPr indent="254000" lvl="0" marL="0" marR="0" rtl="0" algn="l">
                <a:spcBef>
                  <a:spcPts val="0"/>
                </a:spcBef>
                <a:spcAft>
                  <a:spcPts val="0"/>
                </a:spcAft>
                <a:buNone/>
              </a:pPr>
              <a:r>
                <a:rPr lang="pt-BR" sz="1400">
                  <a:solidFill>
                    <a:srgbClr val="1B2631"/>
                  </a:solidFill>
                  <a:latin typeface="Courier New"/>
                  <a:ea typeface="Courier New"/>
                  <a:cs typeface="Courier New"/>
                  <a:sym typeface="Courier New"/>
                </a:rPr>
                <a:t>print(var_global) </a:t>
              </a:r>
              <a:r>
                <a:rPr lang="pt-BR" sz="1400">
                  <a:solidFill>
                    <a:srgbClr val="27AE60"/>
                  </a:solidFill>
                  <a:latin typeface="Courier New"/>
                  <a:ea typeface="Courier New"/>
                  <a:cs typeface="Courier New"/>
                  <a:sym typeface="Courier New"/>
                </a:rPr>
                <a:t># Ok!</a:t>
              </a:r>
              <a:endParaRPr sz="1400">
                <a:solidFill>
                  <a:srgbClr val="1B2631"/>
                </a:solidFill>
                <a:latin typeface="Courier New"/>
                <a:ea typeface="Courier New"/>
                <a:cs typeface="Courier New"/>
                <a:sym typeface="Courier New"/>
              </a:endParaRPr>
            </a:p>
            <a:p>
              <a:pPr indent="254000" lvl="0" marL="0" marR="0" rtl="0" algn="l">
                <a:spcBef>
                  <a:spcPts val="0"/>
                </a:spcBef>
                <a:spcAft>
                  <a:spcPts val="0"/>
                </a:spcAft>
                <a:buNone/>
              </a:pPr>
              <a:r>
                <a:rPr lang="pt-BR" sz="1400">
                  <a:solidFill>
                    <a:srgbClr val="1B2631"/>
                  </a:solidFill>
                  <a:latin typeface="Courier New"/>
                  <a:ea typeface="Courier New"/>
                  <a:cs typeface="Courier New"/>
                  <a:sym typeface="Courier New"/>
                </a:rPr>
                <a:t>print(var_local) </a:t>
              </a:r>
              <a:r>
                <a:rPr lang="pt-BR" sz="1400">
                  <a:solidFill>
                    <a:srgbClr val="27AE60"/>
                  </a:solidFill>
                  <a:latin typeface="Courier New"/>
                  <a:ea typeface="Courier New"/>
                  <a:cs typeface="Courier New"/>
                  <a:sym typeface="Courier New"/>
                </a:rPr>
                <a:t># Ok!</a:t>
              </a:r>
              <a:endParaRPr sz="1400">
                <a:solidFill>
                  <a:srgbClr val="1B2631"/>
                </a:solidFill>
                <a:latin typeface="Courier New"/>
                <a:ea typeface="Courier New"/>
                <a:cs typeface="Courier New"/>
                <a:sym typeface="Courier New"/>
              </a:endParaRPr>
            </a:p>
            <a:p>
              <a:pPr indent="0" lvl="0" marL="0" rtl="0" algn="l">
                <a:spcBef>
                  <a:spcPts val="750"/>
                </a:spcBef>
                <a:spcAft>
                  <a:spcPts val="0"/>
                </a:spcAft>
                <a:buNone/>
              </a:pPr>
              <a:r>
                <a:rPr lang="pt-BR" sz="1400">
                  <a:solidFill>
                    <a:srgbClr val="1B2631"/>
                  </a:solidFill>
                  <a:latin typeface="Courier New"/>
                  <a:ea typeface="Courier New"/>
                  <a:cs typeface="Courier New"/>
                  <a:sym typeface="Courier New"/>
                </a:rPr>
                <a:t>minha_funcao()</a:t>
              </a:r>
              <a:endParaRPr sz="1400">
                <a:solidFill>
                  <a:srgbClr val="1B2631"/>
                </a:solidFill>
                <a:latin typeface="Courier New"/>
                <a:ea typeface="Courier New"/>
                <a:cs typeface="Courier New"/>
                <a:sym typeface="Courier New"/>
              </a:endParaRPr>
            </a:p>
            <a:p>
              <a:pPr indent="0" lvl="0" marL="0" rtl="0" algn="l">
                <a:spcBef>
                  <a:spcPts val="0"/>
                </a:spcBef>
                <a:spcAft>
                  <a:spcPts val="0"/>
                </a:spcAft>
                <a:buNone/>
              </a:pPr>
              <a:r>
                <a:rPr lang="pt-BR" sz="1400">
                  <a:solidFill>
                    <a:srgbClr val="1B2631"/>
                  </a:solidFill>
                  <a:latin typeface="Courier New"/>
                  <a:ea typeface="Courier New"/>
                  <a:cs typeface="Courier New"/>
                  <a:sym typeface="Courier New"/>
                </a:rPr>
                <a:t>print(var_local) </a:t>
              </a:r>
              <a:r>
                <a:rPr lang="pt-BR" sz="1400">
                  <a:solidFill>
                    <a:srgbClr val="C0392B"/>
                  </a:solidFill>
                  <a:highlight>
                    <a:srgbClr val="FADBD8"/>
                  </a:highlight>
                  <a:latin typeface="Courier New"/>
                  <a:ea typeface="Courier New"/>
                  <a:cs typeface="Courier New"/>
                  <a:sym typeface="Courier New"/>
                </a:rPr>
                <a:t># ERRO!</a:t>
              </a:r>
              <a:endParaRPr sz="1400">
                <a:solidFill>
                  <a:srgbClr val="1B2631"/>
                </a:solidFill>
                <a:latin typeface="Courier New"/>
                <a:ea typeface="Courier New"/>
                <a:cs typeface="Courier New"/>
                <a:sym typeface="Courier New"/>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pic>
        <p:nvPicPr>
          <p:cNvPr descr="A very light blue background with a subtle, semi-transparent pattern of random computer code snippets scattered across the canvas, creating a technical yet clean wallpaper effect." id="237" name="Google Shape;237;p2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38" name="Google Shape;238;p22"/>
          <p:cNvSpPr txBox="1"/>
          <p:nvPr>
            <p:ph type="title"/>
          </p:nvPr>
        </p:nvSpPr>
        <p:spPr>
          <a:xfrm>
            <a:off x="609600" y="381000"/>
            <a:ext cx="10972800" cy="11430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ctr">
              <a:spcBef>
                <a:spcPts val="0"/>
              </a:spcBef>
              <a:spcAft>
                <a:spcPts val="0"/>
              </a:spcAft>
              <a:buNone/>
            </a:pPr>
            <a:r>
              <a:rPr b="1" lang="pt-BR" sz="4800">
                <a:solidFill>
                  <a:srgbClr val="1B2631"/>
                </a:solidFill>
                <a:latin typeface="Playfair Display"/>
                <a:ea typeface="Playfair Display"/>
                <a:cs typeface="Playfair Display"/>
                <a:sym typeface="Playfair Display"/>
              </a:rPr>
              <a:t>Por que Modularizar?</a:t>
            </a:r>
            <a:endParaRPr b="1" sz="4800">
              <a:solidFill>
                <a:srgbClr val="1B2631"/>
              </a:solidFill>
              <a:latin typeface="Playfair Display"/>
              <a:ea typeface="Playfair Display"/>
              <a:cs typeface="Playfair Display"/>
              <a:sym typeface="Playfair Display"/>
            </a:endParaRPr>
          </a:p>
        </p:txBody>
      </p:sp>
      <p:grpSp>
        <p:nvGrpSpPr>
          <p:cNvPr id="239" name="Google Shape;239;p22"/>
          <p:cNvGrpSpPr/>
          <p:nvPr/>
        </p:nvGrpSpPr>
        <p:grpSpPr>
          <a:xfrm>
            <a:off x="762000" y="1714500"/>
            <a:ext cx="5334000" cy="1143000"/>
            <a:chOff x="762000" y="1714500"/>
            <a:chExt cx="5334000" cy="1143000"/>
          </a:xfrm>
        </p:grpSpPr>
        <p:sp>
          <p:nvSpPr>
            <p:cNvPr id="240" name="Google Shape;240;p22"/>
            <p:cNvSpPr/>
            <p:nvPr/>
          </p:nvSpPr>
          <p:spPr>
            <a:xfrm>
              <a:off x="762000" y="1714500"/>
              <a:ext cx="5334000" cy="1143000"/>
            </a:xfrm>
            <a:prstGeom prst="roundRect">
              <a:avLst>
                <a:gd fmla="val 12500" name="adj"/>
              </a:avLst>
            </a:prstGeom>
            <a:solidFill>
              <a:srgbClr val="FFFFFF">
                <a:alpha val="8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1" name="Google Shape;241;p22"/>
            <p:cNvSpPr txBox="1"/>
            <p:nvPr/>
          </p:nvSpPr>
          <p:spPr>
            <a:xfrm>
              <a:off x="952500" y="2052828"/>
              <a:ext cx="5715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lang="pt-BR" sz="3600">
                  <a:solidFill>
                    <a:srgbClr val="C0392B"/>
                  </a:solidFill>
                  <a:latin typeface="Material Icons"/>
                  <a:ea typeface="Material Icons"/>
                  <a:cs typeface="Material Icons"/>
                  <a:sym typeface="Material Icons"/>
                </a:rPr>
                <a:t>account_tree</a:t>
              </a:r>
              <a:endParaRPr sz="3600">
                <a:solidFill>
                  <a:srgbClr val="C0392B"/>
                </a:solidFill>
                <a:latin typeface="Material Icons"/>
                <a:ea typeface="Material Icons"/>
                <a:cs typeface="Material Icons"/>
                <a:sym typeface="Material Icons"/>
              </a:endParaRPr>
            </a:p>
          </p:txBody>
        </p:sp>
        <p:sp>
          <p:nvSpPr>
            <p:cNvPr id="242" name="Google Shape;242;p22"/>
            <p:cNvSpPr txBox="1"/>
            <p:nvPr/>
          </p:nvSpPr>
          <p:spPr>
            <a:xfrm>
              <a:off x="1714500" y="1809750"/>
              <a:ext cx="4191000" cy="952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pt-BR" sz="2000">
                  <a:solidFill>
                    <a:srgbClr val="1B2631"/>
                  </a:solidFill>
                  <a:latin typeface="Playfair Display"/>
                  <a:ea typeface="Playfair Display"/>
                  <a:cs typeface="Playfair Display"/>
                  <a:sym typeface="Playfair Display"/>
                </a:rPr>
                <a:t>Organização – </a:t>
              </a:r>
              <a:r>
                <a:rPr b="1" lang="pt-BR" sz="2000">
                  <a:solidFill>
                    <a:srgbClr val="C0392B"/>
                  </a:solidFill>
                  <a:latin typeface="Courier New"/>
                  <a:ea typeface="Courier New"/>
                  <a:cs typeface="Courier New"/>
                  <a:sym typeface="Courier New"/>
                </a:rPr>
                <a:t>Legibilidade</a:t>
              </a:r>
              <a:endParaRPr b="1" sz="2000">
                <a:solidFill>
                  <a:srgbClr val="1B2631"/>
                </a:solidFill>
                <a:latin typeface="Playfair Display"/>
                <a:ea typeface="Playfair Display"/>
                <a:cs typeface="Playfair Display"/>
                <a:sym typeface="Playfair Display"/>
              </a:endParaRPr>
            </a:p>
            <a:p>
              <a:pPr indent="0" lvl="0" marL="0" rtl="0" algn="l">
                <a:spcBef>
                  <a:spcPts val="0"/>
                </a:spcBef>
                <a:spcAft>
                  <a:spcPts val="0"/>
                </a:spcAft>
                <a:buNone/>
              </a:pPr>
              <a:r>
                <a:rPr b="0" lang="pt-BR" sz="1600">
                  <a:solidFill>
                    <a:srgbClr val="34495E"/>
                  </a:solidFill>
                  <a:latin typeface="Playfair Display"/>
                  <a:ea typeface="Playfair Display"/>
                  <a:cs typeface="Playfair Display"/>
                  <a:sym typeface="Playfair Display"/>
                </a:rPr>
                <a:t>Código mais fácil de ler e compreender</a:t>
              </a:r>
              <a:endParaRPr b="0" sz="1600">
                <a:solidFill>
                  <a:srgbClr val="34495E"/>
                </a:solidFill>
                <a:latin typeface="Playfair Display"/>
                <a:ea typeface="Playfair Display"/>
                <a:cs typeface="Playfair Display"/>
                <a:sym typeface="Playfair Display"/>
              </a:endParaRPr>
            </a:p>
          </p:txBody>
        </p:sp>
      </p:grpSp>
      <p:grpSp>
        <p:nvGrpSpPr>
          <p:cNvPr id="243" name="Google Shape;243;p22"/>
          <p:cNvGrpSpPr/>
          <p:nvPr/>
        </p:nvGrpSpPr>
        <p:grpSpPr>
          <a:xfrm>
            <a:off x="762000" y="3048000"/>
            <a:ext cx="5334000" cy="1143000"/>
            <a:chOff x="762000" y="3048000"/>
            <a:chExt cx="5334000" cy="1143000"/>
          </a:xfrm>
        </p:grpSpPr>
        <p:sp>
          <p:nvSpPr>
            <p:cNvPr id="244" name="Google Shape;244;p22"/>
            <p:cNvSpPr/>
            <p:nvPr/>
          </p:nvSpPr>
          <p:spPr>
            <a:xfrm>
              <a:off x="762000" y="3048000"/>
              <a:ext cx="5334000" cy="1143000"/>
            </a:xfrm>
            <a:prstGeom prst="roundRect">
              <a:avLst>
                <a:gd fmla="val 12500" name="adj"/>
              </a:avLst>
            </a:prstGeom>
            <a:solidFill>
              <a:srgbClr val="FFFFFF">
                <a:alpha val="8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5" name="Google Shape;245;p22"/>
            <p:cNvSpPr txBox="1"/>
            <p:nvPr/>
          </p:nvSpPr>
          <p:spPr>
            <a:xfrm>
              <a:off x="952500" y="3386328"/>
              <a:ext cx="5715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lang="pt-BR" sz="3600">
                  <a:solidFill>
                    <a:srgbClr val="C0392B"/>
                  </a:solidFill>
                  <a:latin typeface="Material Icons"/>
                  <a:ea typeface="Material Icons"/>
                  <a:cs typeface="Material Icons"/>
                  <a:sym typeface="Material Icons"/>
                </a:rPr>
                <a:t>autorenew</a:t>
              </a:r>
              <a:endParaRPr sz="3600">
                <a:solidFill>
                  <a:srgbClr val="C0392B"/>
                </a:solidFill>
                <a:latin typeface="Material Icons"/>
                <a:ea typeface="Material Icons"/>
                <a:cs typeface="Material Icons"/>
                <a:sym typeface="Material Icons"/>
              </a:endParaRPr>
            </a:p>
          </p:txBody>
        </p:sp>
        <p:sp>
          <p:nvSpPr>
            <p:cNvPr id="246" name="Google Shape;246;p22"/>
            <p:cNvSpPr txBox="1"/>
            <p:nvPr/>
          </p:nvSpPr>
          <p:spPr>
            <a:xfrm>
              <a:off x="1714500" y="3143250"/>
              <a:ext cx="4191000" cy="952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pt-BR" sz="2000">
                  <a:solidFill>
                    <a:srgbClr val="1B2631"/>
                  </a:solidFill>
                  <a:latin typeface="Playfair Display"/>
                  <a:ea typeface="Playfair Display"/>
                  <a:cs typeface="Playfair Display"/>
                  <a:sym typeface="Playfair Display"/>
                </a:rPr>
                <a:t>Reutilização – </a:t>
              </a:r>
              <a:r>
                <a:rPr b="1" lang="pt-BR" sz="2000">
                  <a:solidFill>
                    <a:srgbClr val="C0392B"/>
                  </a:solidFill>
                  <a:latin typeface="Courier New"/>
                  <a:ea typeface="Courier New"/>
                  <a:cs typeface="Courier New"/>
                  <a:sym typeface="Courier New"/>
                </a:rPr>
                <a:t>DRY</a:t>
              </a:r>
              <a:endParaRPr b="1" sz="2000">
                <a:solidFill>
                  <a:srgbClr val="1B2631"/>
                </a:solidFill>
                <a:latin typeface="Playfair Display"/>
                <a:ea typeface="Playfair Display"/>
                <a:cs typeface="Playfair Display"/>
                <a:sym typeface="Playfair Display"/>
              </a:endParaRPr>
            </a:p>
            <a:p>
              <a:pPr indent="0" lvl="0" marL="0" rtl="0" algn="l">
                <a:spcBef>
                  <a:spcPts val="0"/>
                </a:spcBef>
                <a:spcAft>
                  <a:spcPts val="0"/>
                </a:spcAft>
                <a:buNone/>
              </a:pPr>
              <a:r>
                <a:rPr b="0" lang="pt-BR" sz="1600">
                  <a:solidFill>
                    <a:srgbClr val="34495E"/>
                  </a:solidFill>
                  <a:latin typeface="Playfair Display"/>
                  <a:ea typeface="Playfair Display"/>
                  <a:cs typeface="Playfair Display"/>
                  <a:sym typeface="Playfair Display"/>
                </a:rPr>
                <a:t>Evita repetição (Don't Repeat Yourself)</a:t>
              </a:r>
              <a:endParaRPr b="0" sz="1600">
                <a:solidFill>
                  <a:srgbClr val="34495E"/>
                </a:solidFill>
                <a:latin typeface="Playfair Display"/>
                <a:ea typeface="Playfair Display"/>
                <a:cs typeface="Playfair Display"/>
                <a:sym typeface="Playfair Display"/>
              </a:endParaRPr>
            </a:p>
          </p:txBody>
        </p:sp>
      </p:grpSp>
      <p:grpSp>
        <p:nvGrpSpPr>
          <p:cNvPr id="247" name="Google Shape;247;p22"/>
          <p:cNvGrpSpPr/>
          <p:nvPr/>
        </p:nvGrpSpPr>
        <p:grpSpPr>
          <a:xfrm>
            <a:off x="762000" y="4381500"/>
            <a:ext cx="5334000" cy="1143000"/>
            <a:chOff x="762000" y="4381500"/>
            <a:chExt cx="5334000" cy="1143000"/>
          </a:xfrm>
        </p:grpSpPr>
        <p:sp>
          <p:nvSpPr>
            <p:cNvPr id="248" name="Google Shape;248;p22"/>
            <p:cNvSpPr/>
            <p:nvPr/>
          </p:nvSpPr>
          <p:spPr>
            <a:xfrm>
              <a:off x="762000" y="4381500"/>
              <a:ext cx="5334000" cy="1143000"/>
            </a:xfrm>
            <a:prstGeom prst="roundRect">
              <a:avLst>
                <a:gd fmla="val 12500" name="adj"/>
              </a:avLst>
            </a:prstGeom>
            <a:solidFill>
              <a:srgbClr val="FFFFFF">
                <a:alpha val="8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9" name="Google Shape;249;p22"/>
            <p:cNvSpPr txBox="1"/>
            <p:nvPr/>
          </p:nvSpPr>
          <p:spPr>
            <a:xfrm>
              <a:off x="952500" y="4719828"/>
              <a:ext cx="5715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lang="pt-BR" sz="3600">
                  <a:solidFill>
                    <a:srgbClr val="C0392B"/>
                  </a:solidFill>
                  <a:latin typeface="Material Icons"/>
                  <a:ea typeface="Material Icons"/>
                  <a:cs typeface="Material Icons"/>
                  <a:sym typeface="Material Icons"/>
                </a:rPr>
                <a:t>build</a:t>
              </a:r>
              <a:endParaRPr sz="3600">
                <a:solidFill>
                  <a:srgbClr val="C0392B"/>
                </a:solidFill>
                <a:latin typeface="Material Icons"/>
                <a:ea typeface="Material Icons"/>
                <a:cs typeface="Material Icons"/>
                <a:sym typeface="Material Icons"/>
              </a:endParaRPr>
            </a:p>
          </p:txBody>
        </p:sp>
        <p:sp>
          <p:nvSpPr>
            <p:cNvPr id="250" name="Google Shape;250;p22"/>
            <p:cNvSpPr txBox="1"/>
            <p:nvPr/>
          </p:nvSpPr>
          <p:spPr>
            <a:xfrm>
              <a:off x="1714500" y="4476750"/>
              <a:ext cx="4191000" cy="952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pt-BR" sz="2000">
                  <a:solidFill>
                    <a:srgbClr val="1B2631"/>
                  </a:solidFill>
                  <a:latin typeface="Playfair Display"/>
                  <a:ea typeface="Playfair Display"/>
                  <a:cs typeface="Playfair Display"/>
                  <a:sym typeface="Playfair Display"/>
                </a:rPr>
                <a:t>Manutenção – </a:t>
              </a:r>
              <a:r>
                <a:rPr b="1" lang="pt-BR" sz="2000">
                  <a:solidFill>
                    <a:srgbClr val="C0392B"/>
                  </a:solidFill>
                  <a:latin typeface="Courier New"/>
                  <a:ea typeface="Courier New"/>
                  <a:cs typeface="Courier New"/>
                  <a:sym typeface="Courier New"/>
                </a:rPr>
                <a:t>Agilidade</a:t>
              </a:r>
              <a:endParaRPr b="1" sz="2000">
                <a:solidFill>
                  <a:srgbClr val="1B2631"/>
                </a:solidFill>
                <a:latin typeface="Playfair Display"/>
                <a:ea typeface="Playfair Display"/>
                <a:cs typeface="Playfair Display"/>
                <a:sym typeface="Playfair Display"/>
              </a:endParaRPr>
            </a:p>
            <a:p>
              <a:pPr indent="0" lvl="0" marL="0" rtl="0" algn="l">
                <a:spcBef>
                  <a:spcPts val="0"/>
                </a:spcBef>
                <a:spcAft>
                  <a:spcPts val="0"/>
                </a:spcAft>
                <a:buNone/>
              </a:pPr>
              <a:r>
                <a:rPr b="0" lang="pt-BR" sz="1600">
                  <a:solidFill>
                    <a:srgbClr val="34495E"/>
                  </a:solidFill>
                  <a:latin typeface="Playfair Display"/>
                  <a:ea typeface="Playfair Display"/>
                  <a:cs typeface="Playfair Display"/>
                  <a:sym typeface="Playfair Display"/>
                </a:rPr>
                <a:t>Facilita correções e melhorias constantes</a:t>
              </a:r>
              <a:endParaRPr b="0" sz="1600">
                <a:solidFill>
                  <a:srgbClr val="34495E"/>
                </a:solidFill>
                <a:latin typeface="Playfair Display"/>
                <a:ea typeface="Playfair Display"/>
                <a:cs typeface="Playfair Display"/>
                <a:sym typeface="Playfair Display"/>
              </a:endParaRPr>
            </a:p>
          </p:txBody>
        </p:sp>
      </p:grpSp>
      <p:grpSp>
        <p:nvGrpSpPr>
          <p:cNvPr id="251" name="Google Shape;251;p22"/>
          <p:cNvGrpSpPr/>
          <p:nvPr/>
        </p:nvGrpSpPr>
        <p:grpSpPr>
          <a:xfrm>
            <a:off x="6477000" y="1714500"/>
            <a:ext cx="4762500" cy="3810000"/>
            <a:chOff x="6477000" y="1714500"/>
            <a:chExt cx="4762500" cy="3810000"/>
          </a:xfrm>
        </p:grpSpPr>
        <p:sp>
          <p:nvSpPr>
            <p:cNvPr id="252" name="Google Shape;252;p22"/>
            <p:cNvSpPr/>
            <p:nvPr/>
          </p:nvSpPr>
          <p:spPr>
            <a:xfrm>
              <a:off x="6477000" y="1714500"/>
              <a:ext cx="4762500" cy="3810000"/>
            </a:xfrm>
            <a:prstGeom prst="roundRect">
              <a:avLst>
                <a:gd fmla="val 3750" name="adj"/>
              </a:avLst>
            </a:prstGeom>
            <a:solidFill>
              <a:srgbClr val="FFFFFF">
                <a:alpha val="9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3" name="Google Shape;253;p22"/>
            <p:cNvSpPr txBox="1"/>
            <p:nvPr/>
          </p:nvSpPr>
          <p:spPr>
            <a:xfrm>
              <a:off x="6667500" y="1905000"/>
              <a:ext cx="4381500" cy="3429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lang="pt-BR" sz="1400">
                  <a:solidFill>
                    <a:srgbClr val="7F8C8D"/>
                  </a:solidFill>
                  <a:latin typeface="Courier New"/>
                  <a:ea typeface="Courier New"/>
                  <a:cs typeface="Courier New"/>
                  <a:sym typeface="Courier New"/>
                </a:rPr>
                <a:t># Exemplo de Modularização</a:t>
              </a:r>
              <a:endParaRPr sz="1400">
                <a:solidFill>
                  <a:srgbClr val="7F8C8D"/>
                </a:solidFill>
                <a:latin typeface="Courier New"/>
                <a:ea typeface="Courier New"/>
                <a:cs typeface="Courier New"/>
                <a:sym typeface="Courier New"/>
              </a:endParaRPr>
            </a:p>
            <a:p>
              <a:pPr indent="0" lvl="0" marL="0" rtl="0" algn="l">
                <a:spcBef>
                  <a:spcPts val="0"/>
                </a:spcBef>
                <a:spcAft>
                  <a:spcPts val="0"/>
                </a:spcAft>
                <a:buNone/>
              </a:pPr>
              <a:r>
                <a:rPr lang="pt-BR" sz="1400">
                  <a:solidFill>
                    <a:srgbClr val="1B2631"/>
                  </a:solidFill>
                  <a:latin typeface="Courier New"/>
                  <a:ea typeface="Courier New"/>
                  <a:cs typeface="Courier New"/>
                  <a:sym typeface="Courier New"/>
                </a:rPr>
                <a:t>def calcular_desconto(preco):</a:t>
              </a:r>
              <a:endParaRPr sz="1400">
                <a:solidFill>
                  <a:srgbClr val="1B2631"/>
                </a:solidFill>
                <a:latin typeface="Courier New"/>
                <a:ea typeface="Courier New"/>
                <a:cs typeface="Courier New"/>
                <a:sym typeface="Courier New"/>
              </a:endParaRPr>
            </a:p>
            <a:p>
              <a:pPr indent="254000" lvl="0" marL="0" marR="0" rtl="0" algn="l">
                <a:spcBef>
                  <a:spcPts val="0"/>
                </a:spcBef>
                <a:spcAft>
                  <a:spcPts val="0"/>
                </a:spcAft>
                <a:buNone/>
              </a:pPr>
              <a:r>
                <a:rPr lang="pt-BR" sz="1400">
                  <a:solidFill>
                    <a:srgbClr val="C0392B"/>
                  </a:solidFill>
                  <a:latin typeface="Courier New"/>
                  <a:ea typeface="Courier New"/>
                  <a:cs typeface="Courier New"/>
                  <a:sym typeface="Courier New"/>
                </a:rPr>
                <a:t>return preco * 0.9</a:t>
              </a:r>
              <a:endParaRPr sz="1400">
                <a:solidFill>
                  <a:srgbClr val="C0392B"/>
                </a:solidFill>
                <a:latin typeface="Courier New"/>
                <a:ea typeface="Courier New"/>
                <a:cs typeface="Courier New"/>
                <a:sym typeface="Courier New"/>
              </a:endParaRPr>
            </a:p>
            <a:p>
              <a:pPr indent="0" lvl="0" marL="0" rtl="0" algn="l">
                <a:spcBef>
                  <a:spcPts val="750"/>
                </a:spcBef>
                <a:spcAft>
                  <a:spcPts val="0"/>
                </a:spcAft>
                <a:buNone/>
              </a:pPr>
              <a:r>
                <a:rPr lang="pt-BR" sz="1400">
                  <a:solidFill>
                    <a:srgbClr val="1B2631"/>
                  </a:solidFill>
                  <a:latin typeface="Courier New"/>
                  <a:ea typeface="Courier New"/>
                  <a:cs typeface="Courier New"/>
                  <a:sym typeface="Courier New"/>
                </a:rPr>
                <a:t>def processar_pedido(valor):</a:t>
              </a:r>
              <a:endParaRPr sz="1400">
                <a:solidFill>
                  <a:srgbClr val="1B2631"/>
                </a:solidFill>
                <a:latin typeface="Courier New"/>
                <a:ea typeface="Courier New"/>
                <a:cs typeface="Courier New"/>
                <a:sym typeface="Courier New"/>
              </a:endParaRPr>
            </a:p>
            <a:p>
              <a:pPr indent="254000" lvl="0" marL="0" marR="0" rtl="0" algn="l">
                <a:spcBef>
                  <a:spcPts val="0"/>
                </a:spcBef>
                <a:spcAft>
                  <a:spcPts val="0"/>
                </a:spcAft>
                <a:buNone/>
              </a:pPr>
              <a:r>
                <a:rPr lang="pt-BR" sz="1400">
                  <a:solidFill>
                    <a:srgbClr val="C0392B"/>
                  </a:solidFill>
                  <a:latin typeface="Courier New"/>
                  <a:ea typeface="Courier New"/>
                  <a:cs typeface="Courier New"/>
                  <a:sym typeface="Courier New"/>
                </a:rPr>
                <a:t>final = calcular_desconto(valor)</a:t>
              </a:r>
              <a:endParaRPr sz="1400">
                <a:solidFill>
                  <a:srgbClr val="C0392B"/>
                </a:solidFill>
                <a:latin typeface="Courier New"/>
                <a:ea typeface="Courier New"/>
                <a:cs typeface="Courier New"/>
                <a:sym typeface="Courier New"/>
              </a:endParaRPr>
            </a:p>
            <a:p>
              <a:pPr indent="254000" lvl="0" marL="0" marR="0" rtl="0" algn="l">
                <a:spcBef>
                  <a:spcPts val="0"/>
                </a:spcBef>
                <a:spcAft>
                  <a:spcPts val="0"/>
                </a:spcAft>
                <a:buNone/>
              </a:pPr>
              <a:r>
                <a:rPr lang="pt-BR" sz="1400">
                  <a:solidFill>
                    <a:srgbClr val="1B2631"/>
                  </a:solidFill>
                  <a:latin typeface="Courier New"/>
                  <a:ea typeface="Courier New"/>
                  <a:cs typeface="Courier New"/>
                  <a:sym typeface="Courier New"/>
                </a:rPr>
                <a:t>print(f"Total: {final}")</a:t>
              </a:r>
              <a:endParaRPr sz="1400">
                <a:solidFill>
                  <a:srgbClr val="1B2631"/>
                </a:solidFill>
                <a:latin typeface="Courier New"/>
                <a:ea typeface="Courier New"/>
                <a:cs typeface="Courier New"/>
                <a:sym typeface="Courier New"/>
              </a:endParaRPr>
            </a:p>
            <a:p>
              <a:pPr indent="0" lvl="0" marL="0" rtl="0" algn="l">
                <a:spcBef>
                  <a:spcPts val="750"/>
                </a:spcBef>
                <a:spcAft>
                  <a:spcPts val="0"/>
                </a:spcAft>
                <a:buNone/>
              </a:pPr>
              <a:r>
                <a:rPr lang="pt-BR" sz="1400">
                  <a:solidFill>
                    <a:srgbClr val="7F8C8D"/>
                  </a:solidFill>
                  <a:latin typeface="Courier New"/>
                  <a:ea typeface="Courier New"/>
                  <a:cs typeface="Courier New"/>
                  <a:sym typeface="Courier New"/>
                </a:rPr>
                <a:t># Reaproveitamento simples:</a:t>
              </a:r>
              <a:endParaRPr sz="1400">
                <a:solidFill>
                  <a:srgbClr val="7F8C8D"/>
                </a:solidFill>
                <a:latin typeface="Courier New"/>
                <a:ea typeface="Courier New"/>
                <a:cs typeface="Courier New"/>
                <a:sym typeface="Courier New"/>
              </a:endParaRPr>
            </a:p>
            <a:p>
              <a:pPr indent="0" lvl="0" marL="0" rtl="0" algn="l">
                <a:spcBef>
                  <a:spcPts val="0"/>
                </a:spcBef>
                <a:spcAft>
                  <a:spcPts val="0"/>
                </a:spcAft>
                <a:buNone/>
              </a:pPr>
              <a:r>
                <a:rPr lang="pt-BR" sz="1400">
                  <a:solidFill>
                    <a:srgbClr val="1B2631"/>
                  </a:solidFill>
                  <a:latin typeface="Courier New"/>
                  <a:ea typeface="Courier New"/>
                  <a:cs typeface="Courier New"/>
                  <a:sym typeface="Courier New"/>
                </a:rPr>
                <a:t>processar_pedido(100)</a:t>
              </a:r>
              <a:endParaRPr sz="1400">
                <a:solidFill>
                  <a:srgbClr val="1B2631"/>
                </a:solidFill>
                <a:latin typeface="Courier New"/>
                <a:ea typeface="Courier New"/>
                <a:cs typeface="Courier New"/>
                <a:sym typeface="Courier New"/>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pic>
        <p:nvPicPr>
          <p:cNvPr id="258" name="Google Shape;258;p23"/>
          <p:cNvPicPr preferRelativeResize="0"/>
          <p:nvPr/>
        </p:nvPicPr>
        <p:blipFill rotWithShape="1">
          <a:blip r:embed="rId3">
            <a:alphaModFix/>
          </a:blip>
          <a:srcRect b="0" l="0" r="0" t="0"/>
          <a:stretch/>
        </p:blipFill>
        <p:spPr>
          <a:xfrm>
            <a:off x="0" y="0"/>
            <a:ext cx="12192000" cy="6858000"/>
          </a:xfrm>
          <a:prstGeom prst="rect">
            <a:avLst/>
          </a:prstGeom>
          <a:noFill/>
          <a:ln>
            <a:noFill/>
          </a:ln>
        </p:spPr>
      </p:pic>
      <p:grpSp>
        <p:nvGrpSpPr>
          <p:cNvPr id="259" name="Google Shape;259;p23"/>
          <p:cNvGrpSpPr/>
          <p:nvPr/>
        </p:nvGrpSpPr>
        <p:grpSpPr>
          <a:xfrm>
            <a:off x="609600" y="381000"/>
            <a:ext cx="10972800" cy="952500"/>
            <a:chOff x="609600" y="381000"/>
            <a:chExt cx="10972800" cy="952500"/>
          </a:xfrm>
        </p:grpSpPr>
        <p:sp>
          <p:nvSpPr>
            <p:cNvPr id="260" name="Google Shape;260;p23"/>
            <p:cNvSpPr/>
            <p:nvPr/>
          </p:nvSpPr>
          <p:spPr>
            <a:xfrm>
              <a:off x="609600" y="381000"/>
              <a:ext cx="10972800" cy="952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1" name="Google Shape;261;p23"/>
            <p:cNvSpPr txBox="1"/>
            <p:nvPr/>
          </p:nvSpPr>
          <p:spPr>
            <a:xfrm>
              <a:off x="609600" y="381000"/>
              <a:ext cx="10972800" cy="952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pt-BR" sz="4800">
                  <a:solidFill>
                    <a:srgbClr val="1B2631"/>
                  </a:solidFill>
                  <a:latin typeface="Playfair Display"/>
                  <a:ea typeface="Playfair Display"/>
                  <a:cs typeface="Playfair Display"/>
                  <a:sym typeface="Playfair Display"/>
                </a:rPr>
                <a:t>O que é Depuração?</a:t>
              </a:r>
              <a:endParaRPr b="1" sz="4800">
                <a:solidFill>
                  <a:srgbClr val="1B2631"/>
                </a:solidFill>
                <a:latin typeface="Playfair Display"/>
                <a:ea typeface="Playfair Display"/>
                <a:cs typeface="Playfair Display"/>
                <a:sym typeface="Playfair Display"/>
              </a:endParaRPr>
            </a:p>
          </p:txBody>
        </p:sp>
      </p:grpSp>
      <p:grpSp>
        <p:nvGrpSpPr>
          <p:cNvPr id="262" name="Google Shape;262;p23"/>
          <p:cNvGrpSpPr/>
          <p:nvPr/>
        </p:nvGrpSpPr>
        <p:grpSpPr>
          <a:xfrm>
            <a:off x="762000" y="1714500"/>
            <a:ext cx="5334000" cy="1143000"/>
            <a:chOff x="762000" y="1714500"/>
            <a:chExt cx="5334000" cy="1143000"/>
          </a:xfrm>
        </p:grpSpPr>
        <p:sp>
          <p:nvSpPr>
            <p:cNvPr id="263" name="Google Shape;263;p23"/>
            <p:cNvSpPr/>
            <p:nvPr/>
          </p:nvSpPr>
          <p:spPr>
            <a:xfrm>
              <a:off x="762000" y="1714500"/>
              <a:ext cx="5334000" cy="1143000"/>
            </a:xfrm>
            <a:prstGeom prst="roundRect">
              <a:avLst>
                <a:gd fmla="val 12500" name="adj"/>
              </a:avLst>
            </a:prstGeom>
            <a:solidFill>
              <a:srgbClr val="FFFFFF">
                <a:alpha val="8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4" name="Google Shape;264;p23"/>
            <p:cNvSpPr txBox="1"/>
            <p:nvPr/>
          </p:nvSpPr>
          <p:spPr>
            <a:xfrm>
              <a:off x="952500" y="2052828"/>
              <a:ext cx="5715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lang="pt-BR" sz="3600">
                  <a:solidFill>
                    <a:srgbClr val="C0392B"/>
                  </a:solidFill>
                  <a:latin typeface="Material Icons"/>
                  <a:ea typeface="Material Icons"/>
                  <a:cs typeface="Material Icons"/>
                  <a:sym typeface="Material Icons"/>
                </a:rPr>
                <a:t>search</a:t>
              </a:r>
              <a:endParaRPr sz="3600">
                <a:solidFill>
                  <a:srgbClr val="C0392B"/>
                </a:solidFill>
                <a:latin typeface="Material Icons"/>
                <a:ea typeface="Material Icons"/>
                <a:cs typeface="Material Icons"/>
                <a:sym typeface="Material Icons"/>
              </a:endParaRPr>
            </a:p>
          </p:txBody>
        </p:sp>
        <p:sp>
          <p:nvSpPr>
            <p:cNvPr id="265" name="Google Shape;265;p23"/>
            <p:cNvSpPr txBox="1"/>
            <p:nvPr/>
          </p:nvSpPr>
          <p:spPr>
            <a:xfrm>
              <a:off x="1714500" y="1809750"/>
              <a:ext cx="4191000" cy="952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pt-BR" sz="2000">
                  <a:solidFill>
                    <a:srgbClr val="1B2631"/>
                  </a:solidFill>
                  <a:latin typeface="Playfair Display"/>
                  <a:ea typeface="Playfair Display"/>
                  <a:cs typeface="Playfair Display"/>
                  <a:sym typeface="Playfair Display"/>
                </a:rPr>
                <a:t>Definição – </a:t>
              </a:r>
              <a:r>
                <a:rPr b="1" lang="pt-BR" sz="2000">
                  <a:solidFill>
                    <a:srgbClr val="C0392B"/>
                  </a:solidFill>
                  <a:latin typeface="Courier New"/>
                  <a:ea typeface="Courier New"/>
                  <a:cs typeface="Courier New"/>
                  <a:sym typeface="Courier New"/>
                </a:rPr>
                <a:t>Processo</a:t>
              </a:r>
              <a:endParaRPr b="1" sz="2000">
                <a:solidFill>
                  <a:srgbClr val="1B2631"/>
                </a:solidFill>
                <a:latin typeface="Playfair Display"/>
                <a:ea typeface="Playfair Display"/>
                <a:cs typeface="Playfair Display"/>
                <a:sym typeface="Playfair Display"/>
              </a:endParaRPr>
            </a:p>
            <a:p>
              <a:pPr indent="0" lvl="0" marL="0" rtl="0" algn="l">
                <a:spcBef>
                  <a:spcPts val="0"/>
                </a:spcBef>
                <a:spcAft>
                  <a:spcPts val="0"/>
                </a:spcAft>
                <a:buNone/>
              </a:pPr>
              <a:r>
                <a:rPr b="0" lang="pt-BR" sz="1600">
                  <a:solidFill>
                    <a:srgbClr val="34495E"/>
                  </a:solidFill>
                  <a:latin typeface="Playfair Display"/>
                  <a:ea typeface="Playfair Display"/>
                  <a:cs typeface="Playfair Display"/>
                  <a:sym typeface="Playfair Display"/>
                </a:rPr>
                <a:t>Identificar e corrigir erros</a:t>
              </a:r>
              <a:endParaRPr b="0" sz="1600">
                <a:solidFill>
                  <a:srgbClr val="34495E"/>
                </a:solidFill>
                <a:latin typeface="Playfair Display"/>
                <a:ea typeface="Playfair Display"/>
                <a:cs typeface="Playfair Display"/>
                <a:sym typeface="Playfair Display"/>
              </a:endParaRPr>
            </a:p>
          </p:txBody>
        </p:sp>
      </p:grpSp>
      <p:grpSp>
        <p:nvGrpSpPr>
          <p:cNvPr id="266" name="Google Shape;266;p23"/>
          <p:cNvGrpSpPr/>
          <p:nvPr/>
        </p:nvGrpSpPr>
        <p:grpSpPr>
          <a:xfrm>
            <a:off x="762000" y="3048000"/>
            <a:ext cx="5334000" cy="1143000"/>
            <a:chOff x="762000" y="3048000"/>
            <a:chExt cx="5334000" cy="1143000"/>
          </a:xfrm>
        </p:grpSpPr>
        <p:sp>
          <p:nvSpPr>
            <p:cNvPr id="267" name="Google Shape;267;p23"/>
            <p:cNvSpPr/>
            <p:nvPr/>
          </p:nvSpPr>
          <p:spPr>
            <a:xfrm>
              <a:off x="762000" y="3048000"/>
              <a:ext cx="5334000" cy="1143000"/>
            </a:xfrm>
            <a:prstGeom prst="roundRect">
              <a:avLst>
                <a:gd fmla="val 12500" name="adj"/>
              </a:avLst>
            </a:prstGeom>
            <a:solidFill>
              <a:srgbClr val="FFFFFF">
                <a:alpha val="8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8" name="Google Shape;268;p23"/>
            <p:cNvSpPr txBox="1"/>
            <p:nvPr/>
          </p:nvSpPr>
          <p:spPr>
            <a:xfrm>
              <a:off x="952500" y="3386328"/>
              <a:ext cx="5715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lang="pt-BR" sz="3600">
                  <a:solidFill>
                    <a:srgbClr val="C0392B"/>
                  </a:solidFill>
                  <a:latin typeface="Material Icons"/>
                  <a:ea typeface="Material Icons"/>
                  <a:cs typeface="Material Icons"/>
                  <a:sym typeface="Material Icons"/>
                </a:rPr>
                <a:t>stars</a:t>
              </a:r>
              <a:endParaRPr sz="3600">
                <a:solidFill>
                  <a:srgbClr val="C0392B"/>
                </a:solidFill>
                <a:latin typeface="Material Icons"/>
                <a:ea typeface="Material Icons"/>
                <a:cs typeface="Material Icons"/>
                <a:sym typeface="Material Icons"/>
              </a:endParaRPr>
            </a:p>
          </p:txBody>
        </p:sp>
        <p:sp>
          <p:nvSpPr>
            <p:cNvPr id="269" name="Google Shape;269;p23"/>
            <p:cNvSpPr txBox="1"/>
            <p:nvPr/>
          </p:nvSpPr>
          <p:spPr>
            <a:xfrm>
              <a:off x="1714500" y="3143250"/>
              <a:ext cx="4191000" cy="952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pt-BR" sz="2000">
                  <a:solidFill>
                    <a:srgbClr val="1B2631"/>
                  </a:solidFill>
                  <a:latin typeface="Playfair Display"/>
                  <a:ea typeface="Playfair Display"/>
                  <a:cs typeface="Playfair Display"/>
                  <a:sym typeface="Playfair Display"/>
                </a:rPr>
                <a:t>Importância – </a:t>
              </a:r>
              <a:r>
                <a:rPr b="1" lang="pt-BR" sz="2000">
                  <a:solidFill>
                    <a:srgbClr val="C0392B"/>
                  </a:solidFill>
                  <a:latin typeface="Courier New"/>
                  <a:ea typeface="Courier New"/>
                  <a:cs typeface="Courier New"/>
                  <a:sym typeface="Courier New"/>
                </a:rPr>
                <a:t>Essencial</a:t>
              </a:r>
              <a:endParaRPr b="1" sz="2000">
                <a:solidFill>
                  <a:srgbClr val="1B2631"/>
                </a:solidFill>
                <a:latin typeface="Playfair Display"/>
                <a:ea typeface="Playfair Display"/>
                <a:cs typeface="Playfair Display"/>
                <a:sym typeface="Playfair Display"/>
              </a:endParaRPr>
            </a:p>
            <a:p>
              <a:pPr indent="0" lvl="0" marL="0" rtl="0" algn="l">
                <a:spcBef>
                  <a:spcPts val="0"/>
                </a:spcBef>
                <a:spcAft>
                  <a:spcPts val="0"/>
                </a:spcAft>
                <a:buNone/>
              </a:pPr>
              <a:r>
                <a:rPr b="0" lang="pt-BR" sz="1600">
                  <a:solidFill>
                    <a:srgbClr val="34495E"/>
                  </a:solidFill>
                  <a:latin typeface="Playfair Display"/>
                  <a:ea typeface="Playfair Display"/>
                  <a:cs typeface="Playfair Display"/>
                  <a:sym typeface="Playfair Display"/>
                </a:rPr>
                <a:t>Parte vital do ciclo de dev</a:t>
              </a:r>
              <a:endParaRPr b="0" sz="1600">
                <a:solidFill>
                  <a:srgbClr val="34495E"/>
                </a:solidFill>
                <a:latin typeface="Playfair Display"/>
                <a:ea typeface="Playfair Display"/>
                <a:cs typeface="Playfair Display"/>
                <a:sym typeface="Playfair Display"/>
              </a:endParaRPr>
            </a:p>
          </p:txBody>
        </p:sp>
      </p:grpSp>
      <p:grpSp>
        <p:nvGrpSpPr>
          <p:cNvPr id="270" name="Google Shape;270;p23"/>
          <p:cNvGrpSpPr/>
          <p:nvPr/>
        </p:nvGrpSpPr>
        <p:grpSpPr>
          <a:xfrm>
            <a:off x="762000" y="4381500"/>
            <a:ext cx="5334000" cy="1143000"/>
            <a:chOff x="762000" y="4381500"/>
            <a:chExt cx="5334000" cy="1143000"/>
          </a:xfrm>
        </p:grpSpPr>
        <p:sp>
          <p:nvSpPr>
            <p:cNvPr id="271" name="Google Shape;271;p23"/>
            <p:cNvSpPr/>
            <p:nvPr/>
          </p:nvSpPr>
          <p:spPr>
            <a:xfrm>
              <a:off x="762000" y="4381500"/>
              <a:ext cx="5334000" cy="1143000"/>
            </a:xfrm>
            <a:prstGeom prst="roundRect">
              <a:avLst>
                <a:gd fmla="val 12500" name="adj"/>
              </a:avLst>
            </a:prstGeom>
            <a:solidFill>
              <a:srgbClr val="FFFFFF">
                <a:alpha val="8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2" name="Google Shape;272;p23"/>
            <p:cNvSpPr txBox="1"/>
            <p:nvPr/>
          </p:nvSpPr>
          <p:spPr>
            <a:xfrm>
              <a:off x="952500" y="4719828"/>
              <a:ext cx="5715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lang="pt-BR" sz="3600">
                  <a:solidFill>
                    <a:srgbClr val="C0392B"/>
                  </a:solidFill>
                  <a:latin typeface="Material Icons"/>
                  <a:ea typeface="Material Icons"/>
                  <a:cs typeface="Material Icons"/>
                  <a:sym typeface="Material Icons"/>
                </a:rPr>
                <a:t>psychology</a:t>
              </a:r>
              <a:endParaRPr sz="3600">
                <a:solidFill>
                  <a:srgbClr val="C0392B"/>
                </a:solidFill>
                <a:latin typeface="Material Icons"/>
                <a:ea typeface="Material Icons"/>
                <a:cs typeface="Material Icons"/>
                <a:sym typeface="Material Icons"/>
              </a:endParaRPr>
            </a:p>
          </p:txBody>
        </p:sp>
        <p:sp>
          <p:nvSpPr>
            <p:cNvPr id="273" name="Google Shape;273;p23"/>
            <p:cNvSpPr txBox="1"/>
            <p:nvPr/>
          </p:nvSpPr>
          <p:spPr>
            <a:xfrm>
              <a:off x="1714500" y="4476750"/>
              <a:ext cx="4191000" cy="952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pt-BR" sz="2000">
                  <a:solidFill>
                    <a:srgbClr val="1B2631"/>
                  </a:solidFill>
                  <a:latin typeface="Playfair Display"/>
                  <a:ea typeface="Playfair Display"/>
                  <a:cs typeface="Playfair Display"/>
                  <a:sym typeface="Playfair Display"/>
                </a:rPr>
                <a:t>Abordagem – </a:t>
              </a:r>
              <a:r>
                <a:rPr b="1" lang="pt-BR" sz="2000">
                  <a:solidFill>
                    <a:srgbClr val="C0392B"/>
                  </a:solidFill>
                  <a:latin typeface="Courier New"/>
                  <a:ea typeface="Courier New"/>
                  <a:cs typeface="Courier New"/>
                  <a:sym typeface="Courier New"/>
                </a:rPr>
                <a:t>Sistemática</a:t>
              </a:r>
              <a:endParaRPr b="1" sz="2000">
                <a:solidFill>
                  <a:srgbClr val="1B2631"/>
                </a:solidFill>
                <a:latin typeface="Playfair Display"/>
                <a:ea typeface="Playfair Display"/>
                <a:cs typeface="Playfair Display"/>
                <a:sym typeface="Playfair Display"/>
              </a:endParaRPr>
            </a:p>
            <a:p>
              <a:pPr indent="0" lvl="0" marL="0" rtl="0" algn="l">
                <a:spcBef>
                  <a:spcPts val="0"/>
                </a:spcBef>
                <a:spcAft>
                  <a:spcPts val="0"/>
                </a:spcAft>
                <a:buNone/>
              </a:pPr>
              <a:r>
                <a:rPr b="0" lang="pt-BR" sz="1600">
                  <a:solidFill>
                    <a:srgbClr val="34495E"/>
                  </a:solidFill>
                  <a:latin typeface="Playfair Display"/>
                  <a:ea typeface="Playfair Display"/>
                  <a:cs typeface="Playfair Display"/>
                  <a:sym typeface="Playfair Display"/>
                </a:rPr>
                <a:t>Deve ser organizada, não aleatória</a:t>
              </a:r>
              <a:endParaRPr b="0" sz="1600">
                <a:solidFill>
                  <a:srgbClr val="34495E"/>
                </a:solidFill>
                <a:latin typeface="Playfair Display"/>
                <a:ea typeface="Playfair Display"/>
                <a:cs typeface="Playfair Display"/>
                <a:sym typeface="Playfair Display"/>
              </a:endParaRPr>
            </a:p>
          </p:txBody>
        </p:sp>
      </p:grpSp>
      <p:grpSp>
        <p:nvGrpSpPr>
          <p:cNvPr id="274" name="Google Shape;274;p23"/>
          <p:cNvGrpSpPr/>
          <p:nvPr/>
        </p:nvGrpSpPr>
        <p:grpSpPr>
          <a:xfrm>
            <a:off x="6477000" y="1714500"/>
            <a:ext cx="4762500" cy="3810000"/>
            <a:chOff x="6477000" y="1714500"/>
            <a:chExt cx="4762500" cy="3810000"/>
          </a:xfrm>
        </p:grpSpPr>
        <p:sp>
          <p:nvSpPr>
            <p:cNvPr id="275" name="Google Shape;275;p23"/>
            <p:cNvSpPr/>
            <p:nvPr/>
          </p:nvSpPr>
          <p:spPr>
            <a:xfrm>
              <a:off x="6477000" y="1714500"/>
              <a:ext cx="4762500" cy="3810000"/>
            </a:xfrm>
            <a:prstGeom prst="roundRect">
              <a:avLst>
                <a:gd fmla="val 3750" name="adj"/>
              </a:avLst>
            </a:prstGeom>
            <a:solidFill>
              <a:srgbClr val="FFFFFF">
                <a:alpha val="9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descr="A clean, flat-design vector illustration of a debugging process: a magnifying glass hovering over a computer screen with 'bug' icons being transformed into 'checkmark' icons. professional blue and red color palette." id="276" name="Google Shape;276;p23"/>
            <p:cNvPicPr preferRelativeResize="0"/>
            <p:nvPr/>
          </p:nvPicPr>
          <p:blipFill rotWithShape="1">
            <a:blip r:embed="rId4">
              <a:alphaModFix/>
            </a:blip>
            <a:srcRect b="0" l="2080" r="2089" t="0"/>
            <a:stretch/>
          </p:blipFill>
          <p:spPr>
            <a:xfrm>
              <a:off x="6667500" y="1905000"/>
              <a:ext cx="4381500" cy="3429000"/>
            </a:xfrm>
            <a:prstGeom prst="roundRect">
              <a:avLst>
                <a:gd fmla="val 2777" name="adj"/>
              </a:avLst>
            </a:prstGeom>
            <a:noFill/>
            <a:ln>
              <a:noFill/>
            </a:ln>
          </p:spPr>
        </p:pic>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pic>
        <p:nvPicPr>
          <p:cNvPr id="281" name="Google Shape;281;p24"/>
          <p:cNvPicPr preferRelativeResize="0"/>
          <p:nvPr/>
        </p:nvPicPr>
        <p:blipFill rotWithShape="1">
          <a:blip r:embed="rId3">
            <a:alphaModFix/>
          </a:blip>
          <a:srcRect b="0" l="0" r="0" t="0"/>
          <a:stretch/>
        </p:blipFill>
        <p:spPr>
          <a:xfrm>
            <a:off x="0" y="0"/>
            <a:ext cx="12192000" cy="6858000"/>
          </a:xfrm>
          <a:prstGeom prst="rect">
            <a:avLst/>
          </a:prstGeom>
          <a:noFill/>
          <a:ln>
            <a:noFill/>
          </a:ln>
        </p:spPr>
      </p:pic>
      <p:grpSp>
        <p:nvGrpSpPr>
          <p:cNvPr id="282" name="Google Shape;282;p24"/>
          <p:cNvGrpSpPr/>
          <p:nvPr/>
        </p:nvGrpSpPr>
        <p:grpSpPr>
          <a:xfrm>
            <a:off x="609600" y="381000"/>
            <a:ext cx="10972800" cy="952500"/>
            <a:chOff x="609600" y="381000"/>
            <a:chExt cx="10972800" cy="952500"/>
          </a:xfrm>
        </p:grpSpPr>
        <p:sp>
          <p:nvSpPr>
            <p:cNvPr id="283" name="Google Shape;283;p24"/>
            <p:cNvSpPr/>
            <p:nvPr/>
          </p:nvSpPr>
          <p:spPr>
            <a:xfrm>
              <a:off x="609600" y="381000"/>
              <a:ext cx="10972800" cy="952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4" name="Google Shape;284;p24"/>
            <p:cNvSpPr txBox="1"/>
            <p:nvPr/>
          </p:nvSpPr>
          <p:spPr>
            <a:xfrm>
              <a:off x="609600" y="381000"/>
              <a:ext cx="10972800" cy="952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pt-BR" sz="4800">
                  <a:solidFill>
                    <a:srgbClr val="1B2631"/>
                  </a:solidFill>
                  <a:latin typeface="Playfair Display"/>
                  <a:ea typeface="Playfair Display"/>
                  <a:cs typeface="Playfair Display"/>
                  <a:sym typeface="Playfair Display"/>
                </a:rPr>
                <a:t>Tipos de Erro</a:t>
              </a:r>
              <a:endParaRPr b="1" sz="4800">
                <a:solidFill>
                  <a:srgbClr val="1B2631"/>
                </a:solidFill>
                <a:latin typeface="Playfair Display"/>
                <a:ea typeface="Playfair Display"/>
                <a:cs typeface="Playfair Display"/>
                <a:sym typeface="Playfair Display"/>
              </a:endParaRPr>
            </a:p>
          </p:txBody>
        </p:sp>
      </p:grpSp>
      <p:grpSp>
        <p:nvGrpSpPr>
          <p:cNvPr id="285" name="Google Shape;285;p24"/>
          <p:cNvGrpSpPr/>
          <p:nvPr/>
        </p:nvGrpSpPr>
        <p:grpSpPr>
          <a:xfrm>
            <a:off x="762000" y="1714500"/>
            <a:ext cx="5334000" cy="1143000"/>
            <a:chOff x="762000" y="1714500"/>
            <a:chExt cx="5334000" cy="1143000"/>
          </a:xfrm>
        </p:grpSpPr>
        <p:sp>
          <p:nvSpPr>
            <p:cNvPr id="286" name="Google Shape;286;p24"/>
            <p:cNvSpPr/>
            <p:nvPr/>
          </p:nvSpPr>
          <p:spPr>
            <a:xfrm>
              <a:off x="762000" y="1714500"/>
              <a:ext cx="5334000" cy="1143000"/>
            </a:xfrm>
            <a:prstGeom prst="roundRect">
              <a:avLst>
                <a:gd fmla="val 12500" name="adj"/>
              </a:avLst>
            </a:prstGeom>
            <a:solidFill>
              <a:srgbClr val="FFFFFF">
                <a:alpha val="8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7" name="Google Shape;287;p24"/>
            <p:cNvSpPr txBox="1"/>
            <p:nvPr/>
          </p:nvSpPr>
          <p:spPr>
            <a:xfrm>
              <a:off x="952500" y="2052828"/>
              <a:ext cx="571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pt-BR" sz="3600">
                  <a:solidFill>
                    <a:srgbClr val="C0392B"/>
                  </a:solidFill>
                  <a:latin typeface="Material Icons"/>
                  <a:ea typeface="Material Icons"/>
                  <a:cs typeface="Material Icons"/>
                  <a:sym typeface="Material Icons"/>
                </a:rPr>
                <a:t>code_off</a:t>
              </a:r>
              <a:endParaRPr sz="3600">
                <a:solidFill>
                  <a:srgbClr val="C0392B"/>
                </a:solidFill>
                <a:latin typeface="Material Icons"/>
                <a:ea typeface="Material Icons"/>
                <a:cs typeface="Material Icons"/>
                <a:sym typeface="Material Icons"/>
              </a:endParaRPr>
            </a:p>
          </p:txBody>
        </p:sp>
        <p:sp>
          <p:nvSpPr>
            <p:cNvPr id="288" name="Google Shape;288;p24"/>
            <p:cNvSpPr txBox="1"/>
            <p:nvPr/>
          </p:nvSpPr>
          <p:spPr>
            <a:xfrm>
              <a:off x="1714500" y="1809750"/>
              <a:ext cx="4191000" cy="9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pt-BR" sz="2000">
                  <a:solidFill>
                    <a:srgbClr val="1B2631"/>
                  </a:solidFill>
                  <a:latin typeface="Playfair Display"/>
                  <a:ea typeface="Playfair Display"/>
                  <a:cs typeface="Playfair Display"/>
                  <a:sym typeface="Playfair Display"/>
                </a:rPr>
                <a:t>Sintático – </a:t>
              </a:r>
              <a:r>
                <a:rPr b="1" lang="pt-BR" sz="2000">
                  <a:solidFill>
                    <a:srgbClr val="C0392B"/>
                  </a:solidFill>
                  <a:latin typeface="Courier New"/>
                  <a:ea typeface="Courier New"/>
                  <a:cs typeface="Courier New"/>
                  <a:sym typeface="Courier New"/>
                </a:rPr>
                <a:t>Sintaxe</a:t>
              </a:r>
              <a:endParaRPr b="1" sz="2000">
                <a:solidFill>
                  <a:srgbClr val="1B2631"/>
                </a:solidFill>
                <a:latin typeface="Playfair Display"/>
                <a:ea typeface="Playfair Display"/>
                <a:cs typeface="Playfair Display"/>
                <a:sym typeface="Playfair Display"/>
              </a:endParaRPr>
            </a:p>
            <a:p>
              <a:pPr indent="0" lvl="0" marL="0" rtl="0" algn="l">
                <a:spcBef>
                  <a:spcPts val="0"/>
                </a:spcBef>
                <a:spcAft>
                  <a:spcPts val="0"/>
                </a:spcAft>
                <a:buNone/>
              </a:pPr>
              <a:r>
                <a:rPr b="0" lang="pt-BR" sz="1600">
                  <a:solidFill>
                    <a:srgbClr val="34495E"/>
                  </a:solidFill>
                  <a:latin typeface="Playfair Display"/>
                  <a:ea typeface="Playfair Display"/>
                  <a:cs typeface="Playfair Display"/>
                  <a:sym typeface="Playfair Display"/>
                </a:rPr>
                <a:t>Erro na escrita do código</a:t>
              </a:r>
              <a:endParaRPr b="0" sz="1600">
                <a:solidFill>
                  <a:srgbClr val="34495E"/>
                </a:solidFill>
                <a:latin typeface="Playfair Display"/>
                <a:ea typeface="Playfair Display"/>
                <a:cs typeface="Playfair Display"/>
                <a:sym typeface="Playfair Display"/>
              </a:endParaRPr>
            </a:p>
          </p:txBody>
        </p:sp>
      </p:grpSp>
      <p:grpSp>
        <p:nvGrpSpPr>
          <p:cNvPr id="289" name="Google Shape;289;p24"/>
          <p:cNvGrpSpPr/>
          <p:nvPr/>
        </p:nvGrpSpPr>
        <p:grpSpPr>
          <a:xfrm>
            <a:off x="762000" y="3048000"/>
            <a:ext cx="5334000" cy="1143000"/>
            <a:chOff x="762000" y="3048000"/>
            <a:chExt cx="5334000" cy="1143000"/>
          </a:xfrm>
        </p:grpSpPr>
        <p:sp>
          <p:nvSpPr>
            <p:cNvPr id="290" name="Google Shape;290;p24"/>
            <p:cNvSpPr/>
            <p:nvPr/>
          </p:nvSpPr>
          <p:spPr>
            <a:xfrm>
              <a:off x="762000" y="3048000"/>
              <a:ext cx="5334000" cy="1143000"/>
            </a:xfrm>
            <a:prstGeom prst="roundRect">
              <a:avLst>
                <a:gd fmla="val 12500" name="adj"/>
              </a:avLst>
            </a:prstGeom>
            <a:solidFill>
              <a:srgbClr val="FFFFFF">
                <a:alpha val="8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1" name="Google Shape;291;p24"/>
            <p:cNvSpPr txBox="1"/>
            <p:nvPr/>
          </p:nvSpPr>
          <p:spPr>
            <a:xfrm>
              <a:off x="952500" y="3386328"/>
              <a:ext cx="571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pt-BR" sz="3600">
                  <a:solidFill>
                    <a:srgbClr val="C0392B"/>
                  </a:solidFill>
                  <a:latin typeface="Material Icons"/>
                  <a:ea typeface="Material Icons"/>
                  <a:cs typeface="Material Icons"/>
                  <a:sym typeface="Material Icons"/>
                </a:rPr>
                <a:t>running_with_errors</a:t>
              </a:r>
              <a:endParaRPr sz="3600">
                <a:solidFill>
                  <a:srgbClr val="C0392B"/>
                </a:solidFill>
                <a:latin typeface="Material Icons"/>
                <a:ea typeface="Material Icons"/>
                <a:cs typeface="Material Icons"/>
                <a:sym typeface="Material Icons"/>
              </a:endParaRPr>
            </a:p>
          </p:txBody>
        </p:sp>
        <p:sp>
          <p:nvSpPr>
            <p:cNvPr id="292" name="Google Shape;292;p24"/>
            <p:cNvSpPr txBox="1"/>
            <p:nvPr/>
          </p:nvSpPr>
          <p:spPr>
            <a:xfrm>
              <a:off x="1714500" y="3143250"/>
              <a:ext cx="4191000" cy="9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pt-BR" sz="2000">
                  <a:solidFill>
                    <a:srgbClr val="1B2631"/>
                  </a:solidFill>
                  <a:latin typeface="Playfair Display"/>
                  <a:ea typeface="Playfair Display"/>
                  <a:cs typeface="Playfair Display"/>
                  <a:sym typeface="Playfair Display"/>
                </a:rPr>
                <a:t>Execução – </a:t>
              </a:r>
              <a:r>
                <a:rPr b="1" lang="pt-BR" sz="2000">
                  <a:solidFill>
                    <a:srgbClr val="C0392B"/>
                  </a:solidFill>
                  <a:latin typeface="Courier New"/>
                  <a:ea typeface="Courier New"/>
                  <a:cs typeface="Courier New"/>
                  <a:sym typeface="Courier New"/>
                </a:rPr>
                <a:t>Runtime</a:t>
              </a:r>
              <a:endParaRPr b="1" sz="2000">
                <a:solidFill>
                  <a:srgbClr val="1B2631"/>
                </a:solidFill>
                <a:latin typeface="Playfair Display"/>
                <a:ea typeface="Playfair Display"/>
                <a:cs typeface="Playfair Display"/>
                <a:sym typeface="Playfair Display"/>
              </a:endParaRPr>
            </a:p>
            <a:p>
              <a:pPr indent="0" lvl="0" marL="0" rtl="0" algn="l">
                <a:spcBef>
                  <a:spcPts val="0"/>
                </a:spcBef>
                <a:spcAft>
                  <a:spcPts val="0"/>
                </a:spcAft>
                <a:buNone/>
              </a:pPr>
              <a:r>
                <a:rPr b="0" lang="pt-BR" sz="1600">
                  <a:solidFill>
                    <a:srgbClr val="34495E"/>
                  </a:solidFill>
                  <a:latin typeface="Playfair Display"/>
                  <a:ea typeface="Playfair Display"/>
                  <a:cs typeface="Playfair Display"/>
                  <a:sym typeface="Playfair Display"/>
                </a:rPr>
                <a:t>Erro que ocorre durante o programa</a:t>
              </a:r>
              <a:endParaRPr b="0" sz="1600">
                <a:solidFill>
                  <a:srgbClr val="34495E"/>
                </a:solidFill>
                <a:latin typeface="Playfair Display"/>
                <a:ea typeface="Playfair Display"/>
                <a:cs typeface="Playfair Display"/>
                <a:sym typeface="Playfair Display"/>
              </a:endParaRPr>
            </a:p>
          </p:txBody>
        </p:sp>
      </p:grpSp>
      <p:grpSp>
        <p:nvGrpSpPr>
          <p:cNvPr id="293" name="Google Shape;293;p24"/>
          <p:cNvGrpSpPr/>
          <p:nvPr/>
        </p:nvGrpSpPr>
        <p:grpSpPr>
          <a:xfrm>
            <a:off x="762000" y="4381500"/>
            <a:ext cx="5334000" cy="1143000"/>
            <a:chOff x="762000" y="4381500"/>
            <a:chExt cx="5334000" cy="1143000"/>
          </a:xfrm>
        </p:grpSpPr>
        <p:sp>
          <p:nvSpPr>
            <p:cNvPr id="294" name="Google Shape;294;p24"/>
            <p:cNvSpPr/>
            <p:nvPr/>
          </p:nvSpPr>
          <p:spPr>
            <a:xfrm>
              <a:off x="762000" y="4381500"/>
              <a:ext cx="5334000" cy="1143000"/>
            </a:xfrm>
            <a:prstGeom prst="roundRect">
              <a:avLst>
                <a:gd fmla="val 12500" name="adj"/>
              </a:avLst>
            </a:prstGeom>
            <a:solidFill>
              <a:srgbClr val="FFFFFF">
                <a:alpha val="8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5" name="Google Shape;295;p24"/>
            <p:cNvSpPr txBox="1"/>
            <p:nvPr/>
          </p:nvSpPr>
          <p:spPr>
            <a:xfrm>
              <a:off x="952500" y="4719828"/>
              <a:ext cx="571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pt-BR" sz="3600">
                  <a:solidFill>
                    <a:srgbClr val="C0392B"/>
                  </a:solidFill>
                  <a:latin typeface="Material Icons"/>
                  <a:ea typeface="Material Icons"/>
                  <a:cs typeface="Material Icons"/>
                  <a:sym typeface="Material Icons"/>
                </a:rPr>
                <a:t>psychology_alt</a:t>
              </a:r>
              <a:endParaRPr sz="3600">
                <a:solidFill>
                  <a:srgbClr val="C0392B"/>
                </a:solidFill>
                <a:latin typeface="Material Icons"/>
                <a:ea typeface="Material Icons"/>
                <a:cs typeface="Material Icons"/>
                <a:sym typeface="Material Icons"/>
              </a:endParaRPr>
            </a:p>
          </p:txBody>
        </p:sp>
        <p:sp>
          <p:nvSpPr>
            <p:cNvPr id="296" name="Google Shape;296;p24"/>
            <p:cNvSpPr txBox="1"/>
            <p:nvPr/>
          </p:nvSpPr>
          <p:spPr>
            <a:xfrm>
              <a:off x="1714500" y="4476750"/>
              <a:ext cx="4191000" cy="9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pt-BR" sz="2000">
                  <a:solidFill>
                    <a:srgbClr val="1B2631"/>
                  </a:solidFill>
                  <a:latin typeface="Playfair Display"/>
                  <a:ea typeface="Playfair Display"/>
                  <a:cs typeface="Playfair Display"/>
                  <a:sym typeface="Playfair Display"/>
                </a:rPr>
                <a:t>Lógico – </a:t>
              </a:r>
              <a:r>
                <a:rPr b="1" lang="pt-BR" sz="2000">
                  <a:solidFill>
                    <a:srgbClr val="C0392B"/>
                  </a:solidFill>
                  <a:latin typeface="Courier New"/>
                  <a:ea typeface="Courier New"/>
                  <a:cs typeface="Courier New"/>
                  <a:sym typeface="Courier New"/>
                </a:rPr>
                <a:t>Semântica</a:t>
              </a:r>
              <a:endParaRPr b="1" sz="2000">
                <a:solidFill>
                  <a:srgbClr val="1B2631"/>
                </a:solidFill>
                <a:latin typeface="Playfair Display"/>
                <a:ea typeface="Playfair Display"/>
                <a:cs typeface="Playfair Display"/>
                <a:sym typeface="Playfair Display"/>
              </a:endParaRPr>
            </a:p>
            <a:p>
              <a:pPr indent="0" lvl="0" marL="0" rtl="0" algn="l">
                <a:spcBef>
                  <a:spcPts val="0"/>
                </a:spcBef>
                <a:spcAft>
                  <a:spcPts val="0"/>
                </a:spcAft>
                <a:buNone/>
              </a:pPr>
              <a:r>
                <a:rPr b="0" lang="pt-BR" sz="1600">
                  <a:solidFill>
                    <a:srgbClr val="34495E"/>
                  </a:solidFill>
                  <a:latin typeface="Playfair Display"/>
                  <a:ea typeface="Playfair Display"/>
                  <a:cs typeface="Playfair Display"/>
                  <a:sym typeface="Playfair Display"/>
                </a:rPr>
                <a:t>Programa roda, mas resultado está errado</a:t>
              </a:r>
              <a:endParaRPr b="0" sz="1600">
                <a:solidFill>
                  <a:srgbClr val="34495E"/>
                </a:solidFill>
                <a:latin typeface="Playfair Display"/>
                <a:ea typeface="Playfair Display"/>
                <a:cs typeface="Playfair Display"/>
                <a:sym typeface="Playfair Display"/>
              </a:endParaRPr>
            </a:p>
          </p:txBody>
        </p:sp>
      </p:grpSp>
      <p:grpSp>
        <p:nvGrpSpPr>
          <p:cNvPr id="297" name="Google Shape;297;p24"/>
          <p:cNvGrpSpPr/>
          <p:nvPr/>
        </p:nvGrpSpPr>
        <p:grpSpPr>
          <a:xfrm>
            <a:off x="6477000" y="1714500"/>
            <a:ext cx="4762500" cy="3810000"/>
            <a:chOff x="6477000" y="1714500"/>
            <a:chExt cx="4762500" cy="3810000"/>
          </a:xfrm>
        </p:grpSpPr>
        <p:sp>
          <p:nvSpPr>
            <p:cNvPr id="298" name="Google Shape;298;p24"/>
            <p:cNvSpPr/>
            <p:nvPr/>
          </p:nvSpPr>
          <p:spPr>
            <a:xfrm>
              <a:off x="6477000" y="1714500"/>
              <a:ext cx="4762500" cy="3810000"/>
            </a:xfrm>
            <a:prstGeom prst="roundRect">
              <a:avLst>
                <a:gd fmla="val 3750" name="adj"/>
              </a:avLst>
            </a:prstGeom>
            <a:solidFill>
              <a:srgbClr val="FFFFFF">
                <a:alpha val="9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descr="A clean, flat-design vector illustration of a programmer analyzing code errors. One side shows red 'bug' icons for syntax and runtime errors, and the other shows a logic puzzle piece that doesn't fit, representing logical errors. Professional color palette with soft blues and accented reds." id="299" name="Google Shape;299;p24"/>
            <p:cNvPicPr preferRelativeResize="0"/>
            <p:nvPr/>
          </p:nvPicPr>
          <p:blipFill rotWithShape="1">
            <a:blip r:embed="rId4">
              <a:alphaModFix/>
            </a:blip>
            <a:srcRect b="0" l="2080" r="2089" t="0"/>
            <a:stretch/>
          </p:blipFill>
          <p:spPr>
            <a:xfrm>
              <a:off x="6667500" y="1905000"/>
              <a:ext cx="4381500" cy="3429000"/>
            </a:xfrm>
            <a:prstGeom prst="roundRect">
              <a:avLst>
                <a:gd fmla="val 2777" name="adj"/>
              </a:avLst>
            </a:prstGeom>
            <a:noFill/>
            <a:ln>
              <a:noFill/>
            </a:ln>
          </p:spPr>
        </p:pic>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pic>
        <p:nvPicPr>
          <p:cNvPr descr="A subtle, high-quality background for a presentation. The background is a very light blue with a faint, repeating pattern of abstract programming code snippets (like curly braces, semicolons, and keywords) scattered throughout. The code elements should be semi-transparent and light-colored to ensure they don't distract from foreground text." id="304" name="Google Shape;304;p25"/>
          <p:cNvPicPr preferRelativeResize="0"/>
          <p:nvPr/>
        </p:nvPicPr>
        <p:blipFill rotWithShape="1">
          <a:blip r:embed="rId3">
            <a:alphaModFix/>
          </a:blip>
          <a:srcRect b="0" l="0" r="0" t="0"/>
          <a:stretch/>
        </p:blipFill>
        <p:spPr>
          <a:xfrm>
            <a:off x="0" y="0"/>
            <a:ext cx="12192000" cy="6858000"/>
          </a:xfrm>
          <a:prstGeom prst="rect">
            <a:avLst/>
          </a:prstGeom>
          <a:noFill/>
          <a:ln>
            <a:noFill/>
          </a:ln>
        </p:spPr>
      </p:pic>
      <p:grpSp>
        <p:nvGrpSpPr>
          <p:cNvPr id="305" name="Google Shape;305;p25"/>
          <p:cNvGrpSpPr/>
          <p:nvPr/>
        </p:nvGrpSpPr>
        <p:grpSpPr>
          <a:xfrm>
            <a:off x="609600" y="381000"/>
            <a:ext cx="10972800" cy="952500"/>
            <a:chOff x="609600" y="381000"/>
            <a:chExt cx="10972800" cy="952500"/>
          </a:xfrm>
        </p:grpSpPr>
        <p:sp>
          <p:nvSpPr>
            <p:cNvPr id="306" name="Google Shape;306;p25"/>
            <p:cNvSpPr/>
            <p:nvPr/>
          </p:nvSpPr>
          <p:spPr>
            <a:xfrm>
              <a:off x="609600" y="381000"/>
              <a:ext cx="10972800" cy="952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7" name="Google Shape;307;p25"/>
            <p:cNvSpPr txBox="1"/>
            <p:nvPr/>
          </p:nvSpPr>
          <p:spPr>
            <a:xfrm>
              <a:off x="609600" y="381000"/>
              <a:ext cx="10972800" cy="952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pt-BR" sz="4800">
                  <a:solidFill>
                    <a:srgbClr val="1B2631"/>
                  </a:solidFill>
                  <a:latin typeface="Playfair Display"/>
                  <a:ea typeface="Playfair Display"/>
                  <a:cs typeface="Playfair Display"/>
                  <a:sym typeface="Playfair Display"/>
                </a:rPr>
                <a:t>Estratégias de Depuração</a:t>
              </a:r>
              <a:endParaRPr b="1" sz="4800">
                <a:solidFill>
                  <a:srgbClr val="1B2631"/>
                </a:solidFill>
                <a:latin typeface="Playfair Display"/>
                <a:ea typeface="Playfair Display"/>
                <a:cs typeface="Playfair Display"/>
                <a:sym typeface="Playfair Display"/>
              </a:endParaRPr>
            </a:p>
          </p:txBody>
        </p:sp>
      </p:grpSp>
      <p:grpSp>
        <p:nvGrpSpPr>
          <p:cNvPr id="308" name="Google Shape;308;p25"/>
          <p:cNvGrpSpPr/>
          <p:nvPr/>
        </p:nvGrpSpPr>
        <p:grpSpPr>
          <a:xfrm>
            <a:off x="762000" y="1714500"/>
            <a:ext cx="5334000" cy="1143000"/>
            <a:chOff x="762000" y="1714500"/>
            <a:chExt cx="5334000" cy="1143000"/>
          </a:xfrm>
        </p:grpSpPr>
        <p:sp>
          <p:nvSpPr>
            <p:cNvPr id="309" name="Google Shape;309;p25"/>
            <p:cNvSpPr/>
            <p:nvPr/>
          </p:nvSpPr>
          <p:spPr>
            <a:xfrm>
              <a:off x="762000" y="1714500"/>
              <a:ext cx="5334000" cy="1143000"/>
            </a:xfrm>
            <a:prstGeom prst="roundRect">
              <a:avLst>
                <a:gd fmla="val 12500" name="adj"/>
              </a:avLst>
            </a:prstGeom>
            <a:solidFill>
              <a:srgbClr val="FFFFFF">
                <a:alpha val="8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0" name="Google Shape;310;p25"/>
            <p:cNvSpPr txBox="1"/>
            <p:nvPr/>
          </p:nvSpPr>
          <p:spPr>
            <a:xfrm>
              <a:off x="952500" y="2052828"/>
              <a:ext cx="5715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lang="pt-BR" sz="3600">
                  <a:solidFill>
                    <a:srgbClr val="C0392B"/>
                  </a:solidFill>
                  <a:latin typeface="Material Icons"/>
                  <a:ea typeface="Material Icons"/>
                  <a:cs typeface="Material Icons"/>
                  <a:sym typeface="Material Icons"/>
                </a:rPr>
                <a:t>find_in_page</a:t>
              </a:r>
              <a:endParaRPr sz="3600">
                <a:solidFill>
                  <a:srgbClr val="C0392B"/>
                </a:solidFill>
                <a:latin typeface="Material Icons"/>
                <a:ea typeface="Material Icons"/>
                <a:cs typeface="Material Icons"/>
                <a:sym typeface="Material Icons"/>
              </a:endParaRPr>
            </a:p>
          </p:txBody>
        </p:sp>
        <p:sp>
          <p:nvSpPr>
            <p:cNvPr id="311" name="Google Shape;311;p25"/>
            <p:cNvSpPr txBox="1"/>
            <p:nvPr/>
          </p:nvSpPr>
          <p:spPr>
            <a:xfrm>
              <a:off x="1714500" y="1809750"/>
              <a:ext cx="4191000" cy="952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pt-BR" sz="2000">
                  <a:solidFill>
                    <a:srgbClr val="1B2631"/>
                  </a:solidFill>
                  <a:latin typeface="Playfair Display"/>
                  <a:ea typeface="Playfair Display"/>
                  <a:cs typeface="Playfair Display"/>
                  <a:sym typeface="Playfair Display"/>
                </a:rPr>
                <a:t>Ler mensagens – </a:t>
              </a:r>
              <a:r>
                <a:rPr b="1" lang="pt-BR" sz="2000">
                  <a:solidFill>
                    <a:srgbClr val="C0392B"/>
                  </a:solidFill>
                  <a:latin typeface="Courier New"/>
                  <a:ea typeface="Courier New"/>
                  <a:cs typeface="Courier New"/>
                  <a:sym typeface="Courier New"/>
                </a:rPr>
                <a:t>Compilador</a:t>
              </a:r>
              <a:endParaRPr b="1" sz="2000">
                <a:solidFill>
                  <a:srgbClr val="1B2631"/>
                </a:solidFill>
                <a:latin typeface="Playfair Display"/>
                <a:ea typeface="Playfair Display"/>
                <a:cs typeface="Playfair Display"/>
                <a:sym typeface="Playfair Display"/>
              </a:endParaRPr>
            </a:p>
            <a:p>
              <a:pPr indent="0" lvl="0" marL="0" rtl="0" algn="l">
                <a:spcBef>
                  <a:spcPts val="0"/>
                </a:spcBef>
                <a:spcAft>
                  <a:spcPts val="0"/>
                </a:spcAft>
                <a:buNone/>
              </a:pPr>
              <a:r>
                <a:rPr b="0" lang="pt-BR" sz="1600">
                  <a:solidFill>
                    <a:srgbClr val="34495E"/>
                  </a:solidFill>
                  <a:latin typeface="Playfair Display"/>
                  <a:ea typeface="Playfair Display"/>
                  <a:cs typeface="Playfair Display"/>
                  <a:sym typeface="Playfair Display"/>
                </a:rPr>
                <a:t>Interpretar erros do sistema</a:t>
              </a:r>
              <a:endParaRPr b="0" sz="1600">
                <a:solidFill>
                  <a:srgbClr val="34495E"/>
                </a:solidFill>
                <a:latin typeface="Playfair Display"/>
                <a:ea typeface="Playfair Display"/>
                <a:cs typeface="Playfair Display"/>
                <a:sym typeface="Playfair Display"/>
              </a:endParaRPr>
            </a:p>
          </p:txBody>
        </p:sp>
      </p:grpSp>
      <p:grpSp>
        <p:nvGrpSpPr>
          <p:cNvPr id="312" name="Google Shape;312;p25"/>
          <p:cNvGrpSpPr/>
          <p:nvPr/>
        </p:nvGrpSpPr>
        <p:grpSpPr>
          <a:xfrm>
            <a:off x="762000" y="3048000"/>
            <a:ext cx="5334000" cy="1143000"/>
            <a:chOff x="762000" y="3048000"/>
            <a:chExt cx="5334000" cy="1143000"/>
          </a:xfrm>
        </p:grpSpPr>
        <p:sp>
          <p:nvSpPr>
            <p:cNvPr id="313" name="Google Shape;313;p25"/>
            <p:cNvSpPr/>
            <p:nvPr/>
          </p:nvSpPr>
          <p:spPr>
            <a:xfrm>
              <a:off x="762000" y="3048000"/>
              <a:ext cx="5334000" cy="1143000"/>
            </a:xfrm>
            <a:prstGeom prst="roundRect">
              <a:avLst>
                <a:gd fmla="val 12500" name="adj"/>
              </a:avLst>
            </a:prstGeom>
            <a:solidFill>
              <a:srgbClr val="FFFFFF">
                <a:alpha val="8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4" name="Google Shape;314;p25"/>
            <p:cNvSpPr txBox="1"/>
            <p:nvPr/>
          </p:nvSpPr>
          <p:spPr>
            <a:xfrm>
              <a:off x="952500" y="3386328"/>
              <a:ext cx="5715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lang="pt-BR" sz="3600">
                  <a:solidFill>
                    <a:srgbClr val="C0392B"/>
                  </a:solidFill>
                  <a:latin typeface="Material Icons"/>
                  <a:ea typeface="Material Icons"/>
                  <a:cs typeface="Material Icons"/>
                  <a:sym typeface="Material Icons"/>
                </a:rPr>
                <a:t>extension</a:t>
              </a:r>
              <a:endParaRPr sz="3600">
                <a:solidFill>
                  <a:srgbClr val="C0392B"/>
                </a:solidFill>
                <a:latin typeface="Material Icons"/>
                <a:ea typeface="Material Icons"/>
                <a:cs typeface="Material Icons"/>
                <a:sym typeface="Material Icons"/>
              </a:endParaRPr>
            </a:p>
          </p:txBody>
        </p:sp>
        <p:sp>
          <p:nvSpPr>
            <p:cNvPr id="315" name="Google Shape;315;p25"/>
            <p:cNvSpPr txBox="1"/>
            <p:nvPr/>
          </p:nvSpPr>
          <p:spPr>
            <a:xfrm>
              <a:off x="1714500" y="3143250"/>
              <a:ext cx="4191000" cy="952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pt-BR" sz="2000">
                  <a:solidFill>
                    <a:srgbClr val="1B2631"/>
                  </a:solidFill>
                  <a:latin typeface="Playfair Display"/>
                  <a:ea typeface="Playfair Display"/>
                  <a:cs typeface="Playfair Display"/>
                  <a:sym typeface="Playfair Display"/>
                </a:rPr>
                <a:t>Isolar partes – </a:t>
              </a:r>
              <a:r>
                <a:rPr b="1" lang="pt-BR" sz="2000">
                  <a:solidFill>
                    <a:srgbClr val="C0392B"/>
                  </a:solidFill>
                  <a:latin typeface="Courier New"/>
                  <a:ea typeface="Courier New"/>
                  <a:cs typeface="Courier New"/>
                  <a:sym typeface="Courier New"/>
                </a:rPr>
                <a:t>Funções</a:t>
              </a:r>
              <a:endParaRPr b="1" sz="2000">
                <a:solidFill>
                  <a:srgbClr val="1B2631"/>
                </a:solidFill>
                <a:latin typeface="Playfair Display"/>
                <a:ea typeface="Playfair Display"/>
                <a:cs typeface="Playfair Display"/>
                <a:sym typeface="Playfair Display"/>
              </a:endParaRPr>
            </a:p>
            <a:p>
              <a:pPr indent="0" lvl="0" marL="0" rtl="0" algn="l">
                <a:spcBef>
                  <a:spcPts val="0"/>
                </a:spcBef>
                <a:spcAft>
                  <a:spcPts val="0"/>
                </a:spcAft>
                <a:buNone/>
              </a:pPr>
              <a:r>
                <a:rPr b="0" lang="pt-BR" sz="1600">
                  <a:solidFill>
                    <a:srgbClr val="34495E"/>
                  </a:solidFill>
                  <a:latin typeface="Playfair Display"/>
                  <a:ea typeface="Playfair Display"/>
                  <a:cs typeface="Playfair Display"/>
                  <a:sym typeface="Playfair Display"/>
                </a:rPr>
                <a:t>Testar blocos individualmente</a:t>
              </a:r>
              <a:endParaRPr b="0" sz="1600">
                <a:solidFill>
                  <a:srgbClr val="34495E"/>
                </a:solidFill>
                <a:latin typeface="Playfair Display"/>
                <a:ea typeface="Playfair Display"/>
                <a:cs typeface="Playfair Display"/>
                <a:sym typeface="Playfair Display"/>
              </a:endParaRPr>
            </a:p>
          </p:txBody>
        </p:sp>
      </p:grpSp>
      <p:grpSp>
        <p:nvGrpSpPr>
          <p:cNvPr id="316" name="Google Shape;316;p25"/>
          <p:cNvGrpSpPr/>
          <p:nvPr/>
        </p:nvGrpSpPr>
        <p:grpSpPr>
          <a:xfrm>
            <a:off x="762000" y="4381500"/>
            <a:ext cx="5334000" cy="1143000"/>
            <a:chOff x="762000" y="4381500"/>
            <a:chExt cx="5334000" cy="1143000"/>
          </a:xfrm>
        </p:grpSpPr>
        <p:sp>
          <p:nvSpPr>
            <p:cNvPr id="317" name="Google Shape;317;p25"/>
            <p:cNvSpPr/>
            <p:nvPr/>
          </p:nvSpPr>
          <p:spPr>
            <a:xfrm>
              <a:off x="762000" y="4381500"/>
              <a:ext cx="5334000" cy="1143000"/>
            </a:xfrm>
            <a:prstGeom prst="roundRect">
              <a:avLst>
                <a:gd fmla="val 12500" name="adj"/>
              </a:avLst>
            </a:prstGeom>
            <a:solidFill>
              <a:srgbClr val="FFFFFF">
                <a:alpha val="8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8" name="Google Shape;318;p25"/>
            <p:cNvSpPr txBox="1"/>
            <p:nvPr/>
          </p:nvSpPr>
          <p:spPr>
            <a:xfrm>
              <a:off x="952500" y="4719828"/>
              <a:ext cx="5715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lang="pt-BR" sz="3600">
                  <a:solidFill>
                    <a:srgbClr val="C0392B"/>
                  </a:solidFill>
                  <a:latin typeface="Material Icons"/>
                  <a:ea typeface="Material Icons"/>
                  <a:cs typeface="Material Icons"/>
                  <a:sym typeface="Material Icons"/>
                </a:rPr>
                <a:t>reorder</a:t>
              </a:r>
              <a:endParaRPr sz="3600">
                <a:solidFill>
                  <a:srgbClr val="C0392B"/>
                </a:solidFill>
                <a:latin typeface="Material Icons"/>
                <a:ea typeface="Material Icons"/>
                <a:cs typeface="Material Icons"/>
                <a:sym typeface="Material Icons"/>
              </a:endParaRPr>
            </a:p>
          </p:txBody>
        </p:sp>
        <p:sp>
          <p:nvSpPr>
            <p:cNvPr id="319" name="Google Shape;319;p25"/>
            <p:cNvSpPr txBox="1"/>
            <p:nvPr/>
          </p:nvSpPr>
          <p:spPr>
            <a:xfrm>
              <a:off x="1714500" y="4476750"/>
              <a:ext cx="4191000" cy="952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pt-BR" sz="2000">
                  <a:solidFill>
                    <a:srgbClr val="1B2631"/>
                  </a:solidFill>
                  <a:latin typeface="Playfair Display"/>
                  <a:ea typeface="Playfair Display"/>
                  <a:cs typeface="Playfair Display"/>
                  <a:sym typeface="Playfair Display"/>
                </a:rPr>
                <a:t>Rastreamento – </a:t>
              </a:r>
              <a:r>
                <a:rPr b="1" lang="pt-BR" sz="2000">
                  <a:solidFill>
                    <a:srgbClr val="C0392B"/>
                  </a:solidFill>
                  <a:latin typeface="Courier New"/>
                  <a:ea typeface="Courier New"/>
                  <a:cs typeface="Courier New"/>
                  <a:sym typeface="Courier New"/>
                </a:rPr>
                <a:t>Valores</a:t>
              </a:r>
              <a:endParaRPr b="1" sz="2000">
                <a:solidFill>
                  <a:srgbClr val="1B2631"/>
                </a:solidFill>
                <a:latin typeface="Playfair Display"/>
                <a:ea typeface="Playfair Display"/>
                <a:cs typeface="Playfair Display"/>
                <a:sym typeface="Playfair Display"/>
              </a:endParaRPr>
            </a:p>
            <a:p>
              <a:pPr indent="0" lvl="0" marL="0" rtl="0" algn="l">
                <a:spcBef>
                  <a:spcPts val="0"/>
                </a:spcBef>
                <a:spcAft>
                  <a:spcPts val="0"/>
                </a:spcAft>
                <a:buNone/>
              </a:pPr>
              <a:r>
                <a:rPr b="0" lang="pt-BR" sz="1600">
                  <a:solidFill>
                    <a:srgbClr val="34495E"/>
                  </a:solidFill>
                  <a:latin typeface="Playfair Display"/>
                  <a:ea typeface="Playfair Display"/>
                  <a:cs typeface="Playfair Display"/>
                  <a:sym typeface="Playfair Display"/>
                </a:rPr>
                <a:t>Acompanhar o fluxo passo a passo</a:t>
              </a:r>
              <a:endParaRPr b="0" sz="1600">
                <a:solidFill>
                  <a:srgbClr val="34495E"/>
                </a:solidFill>
                <a:latin typeface="Playfair Display"/>
                <a:ea typeface="Playfair Display"/>
                <a:cs typeface="Playfair Display"/>
                <a:sym typeface="Playfair Display"/>
              </a:endParaRPr>
            </a:p>
          </p:txBody>
        </p:sp>
      </p:grpSp>
      <p:grpSp>
        <p:nvGrpSpPr>
          <p:cNvPr id="320" name="Google Shape;320;p25"/>
          <p:cNvGrpSpPr/>
          <p:nvPr/>
        </p:nvGrpSpPr>
        <p:grpSpPr>
          <a:xfrm>
            <a:off x="6477000" y="1714500"/>
            <a:ext cx="4762500" cy="3810000"/>
            <a:chOff x="6477000" y="1714500"/>
            <a:chExt cx="4762500" cy="3810000"/>
          </a:xfrm>
        </p:grpSpPr>
        <p:sp>
          <p:nvSpPr>
            <p:cNvPr id="321" name="Google Shape;321;p25"/>
            <p:cNvSpPr/>
            <p:nvPr/>
          </p:nvSpPr>
          <p:spPr>
            <a:xfrm>
              <a:off x="6477000" y="1714500"/>
              <a:ext cx="4762500" cy="3810000"/>
            </a:xfrm>
            <a:prstGeom prst="roundRect">
              <a:avLst>
                <a:gd fmla="val 3750" name="adj"/>
              </a:avLst>
            </a:prstGeom>
            <a:solidFill>
              <a:srgbClr val="FFFFFF">
                <a:alpha val="9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descr="A professional, flat-design vector illustration showing a sequence of steps for debugging. On a computer screen, code lines are highlighted one by one, with a magnifying glass zooming in on a specific logic block. The aesthetic matches the clean blue and red professional palette of the presentation context." id="322" name="Google Shape;322;p25"/>
            <p:cNvPicPr preferRelativeResize="0"/>
            <p:nvPr/>
          </p:nvPicPr>
          <p:blipFill rotWithShape="1">
            <a:blip r:embed="rId4">
              <a:alphaModFix/>
            </a:blip>
            <a:srcRect b="0" l="2080" r="2089" t="0"/>
            <a:stretch/>
          </p:blipFill>
          <p:spPr>
            <a:xfrm>
              <a:off x="6667500" y="1905000"/>
              <a:ext cx="4381500" cy="3429000"/>
            </a:xfrm>
            <a:prstGeom prst="roundRect">
              <a:avLst>
                <a:gd fmla="val 2777" name="adj"/>
              </a:avLst>
            </a:prstGeom>
            <a:noFill/>
            <a:ln>
              <a:noFill/>
            </a:ln>
          </p:spPr>
        </p:pic>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pic>
        <p:nvPicPr>
          <p:cNvPr descr="A subtle, high-quality background for a presentation about programming. The background is a very light blue with a faint, repeating pattern of abstract programming code snippets like curly braces, semicolons, and keywords scattered throughout. The code elements are semi-transparent and light-colored to ensure they don't distract from foreground text." id="327" name="Google Shape;327;p26"/>
          <p:cNvPicPr preferRelativeResize="0"/>
          <p:nvPr/>
        </p:nvPicPr>
        <p:blipFill rotWithShape="1">
          <a:blip r:embed="rId3">
            <a:alphaModFix/>
          </a:blip>
          <a:srcRect b="0" l="0" r="0" t="0"/>
          <a:stretch/>
        </p:blipFill>
        <p:spPr>
          <a:xfrm>
            <a:off x="0" y="0"/>
            <a:ext cx="12192000" cy="6858000"/>
          </a:xfrm>
          <a:prstGeom prst="rect">
            <a:avLst/>
          </a:prstGeom>
          <a:noFill/>
          <a:ln>
            <a:noFill/>
          </a:ln>
        </p:spPr>
      </p:pic>
      <p:grpSp>
        <p:nvGrpSpPr>
          <p:cNvPr id="328" name="Google Shape;328;p26"/>
          <p:cNvGrpSpPr/>
          <p:nvPr/>
        </p:nvGrpSpPr>
        <p:grpSpPr>
          <a:xfrm>
            <a:off x="609600" y="381000"/>
            <a:ext cx="10972800" cy="952500"/>
            <a:chOff x="609600" y="381000"/>
            <a:chExt cx="10972800" cy="952500"/>
          </a:xfrm>
        </p:grpSpPr>
        <p:sp>
          <p:nvSpPr>
            <p:cNvPr id="329" name="Google Shape;329;p26"/>
            <p:cNvSpPr/>
            <p:nvPr/>
          </p:nvSpPr>
          <p:spPr>
            <a:xfrm>
              <a:off x="609600" y="381000"/>
              <a:ext cx="10972800" cy="952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0" name="Google Shape;330;p26"/>
            <p:cNvSpPr txBox="1"/>
            <p:nvPr/>
          </p:nvSpPr>
          <p:spPr>
            <a:xfrm>
              <a:off x="609600" y="381000"/>
              <a:ext cx="10972800" cy="952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pt-BR" sz="4800">
                  <a:solidFill>
                    <a:srgbClr val="1B2631"/>
                  </a:solidFill>
                  <a:latin typeface="Playfair Display"/>
                  <a:ea typeface="Playfair Display"/>
                  <a:cs typeface="Playfair Display"/>
                  <a:sym typeface="Playfair Display"/>
                </a:rPr>
                <a:t>Teste de Mesa</a:t>
              </a:r>
              <a:endParaRPr b="1" sz="4800">
                <a:solidFill>
                  <a:srgbClr val="1B2631"/>
                </a:solidFill>
                <a:latin typeface="Playfair Display"/>
                <a:ea typeface="Playfair Display"/>
                <a:cs typeface="Playfair Display"/>
                <a:sym typeface="Playfair Display"/>
              </a:endParaRPr>
            </a:p>
          </p:txBody>
        </p:sp>
      </p:grpSp>
      <p:grpSp>
        <p:nvGrpSpPr>
          <p:cNvPr id="331" name="Google Shape;331;p26"/>
          <p:cNvGrpSpPr/>
          <p:nvPr/>
        </p:nvGrpSpPr>
        <p:grpSpPr>
          <a:xfrm>
            <a:off x="762000" y="1714500"/>
            <a:ext cx="5334000" cy="1143000"/>
            <a:chOff x="762000" y="1714500"/>
            <a:chExt cx="5334000" cy="1143000"/>
          </a:xfrm>
        </p:grpSpPr>
        <p:sp>
          <p:nvSpPr>
            <p:cNvPr id="332" name="Google Shape;332;p26"/>
            <p:cNvSpPr/>
            <p:nvPr/>
          </p:nvSpPr>
          <p:spPr>
            <a:xfrm>
              <a:off x="762000" y="1714500"/>
              <a:ext cx="5334000" cy="1143000"/>
            </a:xfrm>
            <a:prstGeom prst="roundRect">
              <a:avLst>
                <a:gd fmla="val 12500" name="adj"/>
              </a:avLst>
            </a:prstGeom>
            <a:solidFill>
              <a:srgbClr val="FFFFFF">
                <a:alpha val="8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3" name="Google Shape;333;p26"/>
            <p:cNvSpPr txBox="1"/>
            <p:nvPr/>
          </p:nvSpPr>
          <p:spPr>
            <a:xfrm>
              <a:off x="952500" y="2052828"/>
              <a:ext cx="571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pt-BR" sz="3600">
                  <a:solidFill>
                    <a:srgbClr val="C0392B"/>
                  </a:solidFill>
                  <a:latin typeface="Material Icons"/>
                  <a:ea typeface="Material Icons"/>
                  <a:cs typeface="Material Icons"/>
                  <a:sym typeface="Material Icons"/>
                </a:rPr>
                <a:t>laptop_mac</a:t>
              </a:r>
              <a:endParaRPr sz="3600">
                <a:solidFill>
                  <a:srgbClr val="C0392B"/>
                </a:solidFill>
                <a:latin typeface="Material Icons"/>
                <a:ea typeface="Material Icons"/>
                <a:cs typeface="Material Icons"/>
                <a:sym typeface="Material Icons"/>
              </a:endParaRPr>
            </a:p>
          </p:txBody>
        </p:sp>
        <p:sp>
          <p:nvSpPr>
            <p:cNvPr id="334" name="Google Shape;334;p26"/>
            <p:cNvSpPr txBox="1"/>
            <p:nvPr/>
          </p:nvSpPr>
          <p:spPr>
            <a:xfrm>
              <a:off x="1714500" y="1809750"/>
              <a:ext cx="4191000" cy="9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pt-BR" sz="2000">
                  <a:solidFill>
                    <a:srgbClr val="1B2631"/>
                  </a:solidFill>
                  <a:latin typeface="Playfair Display"/>
                  <a:ea typeface="Playfair Display"/>
                  <a:cs typeface="Playfair Display"/>
                  <a:sym typeface="Playfair Display"/>
                </a:rPr>
                <a:t>Simulação – </a:t>
              </a:r>
              <a:r>
                <a:rPr b="1" lang="pt-BR" sz="2000">
                  <a:solidFill>
                    <a:srgbClr val="C0392B"/>
                  </a:solidFill>
                  <a:latin typeface="Courier New"/>
                  <a:ea typeface="Courier New"/>
                  <a:cs typeface="Courier New"/>
                  <a:sym typeface="Courier New"/>
                </a:rPr>
                <a:t>Algoritmo</a:t>
              </a:r>
              <a:endParaRPr b="1" sz="2000">
                <a:solidFill>
                  <a:srgbClr val="1B2631"/>
                </a:solidFill>
                <a:latin typeface="Playfair Display"/>
                <a:ea typeface="Playfair Display"/>
                <a:cs typeface="Playfair Display"/>
                <a:sym typeface="Playfair Display"/>
              </a:endParaRPr>
            </a:p>
            <a:p>
              <a:pPr indent="0" lvl="0" marL="0" rtl="0" algn="l">
                <a:spcBef>
                  <a:spcPts val="0"/>
                </a:spcBef>
                <a:spcAft>
                  <a:spcPts val="0"/>
                </a:spcAft>
                <a:buNone/>
              </a:pPr>
              <a:r>
                <a:rPr b="0" lang="pt-BR" sz="1600">
                  <a:solidFill>
                    <a:srgbClr val="34495E"/>
                  </a:solidFill>
                  <a:latin typeface="Playfair Display"/>
                  <a:ea typeface="Playfair Display"/>
                  <a:cs typeface="Playfair Display"/>
                  <a:sym typeface="Playfair Display"/>
                </a:rPr>
                <a:t>Execução manual do passo a passo</a:t>
              </a:r>
              <a:endParaRPr b="0" sz="1600">
                <a:solidFill>
                  <a:srgbClr val="34495E"/>
                </a:solidFill>
                <a:latin typeface="Playfair Display"/>
                <a:ea typeface="Playfair Display"/>
                <a:cs typeface="Playfair Display"/>
                <a:sym typeface="Playfair Display"/>
              </a:endParaRPr>
            </a:p>
          </p:txBody>
        </p:sp>
      </p:grpSp>
      <p:grpSp>
        <p:nvGrpSpPr>
          <p:cNvPr id="335" name="Google Shape;335;p26"/>
          <p:cNvGrpSpPr/>
          <p:nvPr/>
        </p:nvGrpSpPr>
        <p:grpSpPr>
          <a:xfrm>
            <a:off x="762000" y="3048000"/>
            <a:ext cx="5334000" cy="1143000"/>
            <a:chOff x="762000" y="3048000"/>
            <a:chExt cx="5334000" cy="1143000"/>
          </a:xfrm>
        </p:grpSpPr>
        <p:sp>
          <p:nvSpPr>
            <p:cNvPr id="336" name="Google Shape;336;p26"/>
            <p:cNvSpPr/>
            <p:nvPr/>
          </p:nvSpPr>
          <p:spPr>
            <a:xfrm>
              <a:off x="762000" y="3048000"/>
              <a:ext cx="5334000" cy="1143000"/>
            </a:xfrm>
            <a:prstGeom prst="roundRect">
              <a:avLst>
                <a:gd fmla="val 12500" name="adj"/>
              </a:avLst>
            </a:prstGeom>
            <a:solidFill>
              <a:srgbClr val="FFFFFF">
                <a:alpha val="8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7" name="Google Shape;337;p26"/>
            <p:cNvSpPr txBox="1"/>
            <p:nvPr/>
          </p:nvSpPr>
          <p:spPr>
            <a:xfrm>
              <a:off x="952500" y="3386328"/>
              <a:ext cx="571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pt-BR" sz="3600">
                  <a:solidFill>
                    <a:srgbClr val="C0392B"/>
                  </a:solidFill>
                  <a:latin typeface="Material Icons"/>
                  <a:ea typeface="Material Icons"/>
                  <a:cs typeface="Material Icons"/>
                  <a:sym typeface="Material Icons"/>
                </a:rPr>
                <a:t>bug_report</a:t>
              </a:r>
              <a:endParaRPr sz="3600">
                <a:solidFill>
                  <a:srgbClr val="C0392B"/>
                </a:solidFill>
                <a:latin typeface="Material Icons"/>
                <a:ea typeface="Material Icons"/>
                <a:cs typeface="Material Icons"/>
                <a:sym typeface="Material Icons"/>
              </a:endParaRPr>
            </a:p>
          </p:txBody>
        </p:sp>
        <p:sp>
          <p:nvSpPr>
            <p:cNvPr id="338" name="Google Shape;338;p26"/>
            <p:cNvSpPr txBox="1"/>
            <p:nvPr/>
          </p:nvSpPr>
          <p:spPr>
            <a:xfrm>
              <a:off x="1714500" y="3143250"/>
              <a:ext cx="4191000" cy="9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pt-BR" sz="2000">
                  <a:solidFill>
                    <a:srgbClr val="1B2631"/>
                  </a:solidFill>
                  <a:latin typeface="Playfair Display"/>
                  <a:ea typeface="Playfair Display"/>
                  <a:cs typeface="Playfair Display"/>
                  <a:sym typeface="Playfair Display"/>
                </a:rPr>
                <a:t>Antecipação – </a:t>
              </a:r>
              <a:r>
                <a:rPr b="1" lang="pt-BR" sz="2000">
                  <a:solidFill>
                    <a:srgbClr val="C0392B"/>
                  </a:solidFill>
                  <a:latin typeface="Courier New"/>
                  <a:ea typeface="Courier New"/>
                  <a:cs typeface="Courier New"/>
                  <a:sym typeface="Courier New"/>
                </a:rPr>
                <a:t>Debug</a:t>
              </a:r>
              <a:endParaRPr b="1" sz="2000">
                <a:solidFill>
                  <a:srgbClr val="1B2631"/>
                </a:solidFill>
                <a:latin typeface="Playfair Display"/>
                <a:ea typeface="Playfair Display"/>
                <a:cs typeface="Playfair Display"/>
                <a:sym typeface="Playfair Display"/>
              </a:endParaRPr>
            </a:p>
            <a:p>
              <a:pPr indent="0" lvl="0" marL="0" rtl="0" algn="l">
                <a:spcBef>
                  <a:spcPts val="0"/>
                </a:spcBef>
                <a:spcAft>
                  <a:spcPts val="0"/>
                </a:spcAft>
                <a:buNone/>
              </a:pPr>
              <a:r>
                <a:rPr b="0" lang="pt-BR" sz="1600">
                  <a:solidFill>
                    <a:srgbClr val="34495E"/>
                  </a:solidFill>
                  <a:latin typeface="Playfair Display"/>
                  <a:ea typeface="Playfair Display"/>
                  <a:cs typeface="Playfair Display"/>
                  <a:sym typeface="Playfair Display"/>
                </a:rPr>
                <a:t>Detecta erros antes de programar</a:t>
              </a:r>
              <a:endParaRPr b="0" sz="1600">
                <a:solidFill>
                  <a:srgbClr val="34495E"/>
                </a:solidFill>
                <a:latin typeface="Playfair Display"/>
                <a:ea typeface="Playfair Display"/>
                <a:cs typeface="Playfair Display"/>
                <a:sym typeface="Playfair Display"/>
              </a:endParaRPr>
            </a:p>
          </p:txBody>
        </p:sp>
      </p:grpSp>
      <p:grpSp>
        <p:nvGrpSpPr>
          <p:cNvPr id="339" name="Google Shape;339;p26"/>
          <p:cNvGrpSpPr/>
          <p:nvPr/>
        </p:nvGrpSpPr>
        <p:grpSpPr>
          <a:xfrm>
            <a:off x="762000" y="4381500"/>
            <a:ext cx="5334000" cy="1143000"/>
            <a:chOff x="762000" y="4381500"/>
            <a:chExt cx="5334000" cy="1143000"/>
          </a:xfrm>
        </p:grpSpPr>
        <p:sp>
          <p:nvSpPr>
            <p:cNvPr id="340" name="Google Shape;340;p26"/>
            <p:cNvSpPr/>
            <p:nvPr/>
          </p:nvSpPr>
          <p:spPr>
            <a:xfrm>
              <a:off x="762000" y="4381500"/>
              <a:ext cx="5334000" cy="1143000"/>
            </a:xfrm>
            <a:prstGeom prst="roundRect">
              <a:avLst>
                <a:gd fmla="val 12500" name="adj"/>
              </a:avLst>
            </a:prstGeom>
            <a:solidFill>
              <a:srgbClr val="FFFFFF">
                <a:alpha val="8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1" name="Google Shape;341;p26"/>
            <p:cNvSpPr txBox="1"/>
            <p:nvPr/>
          </p:nvSpPr>
          <p:spPr>
            <a:xfrm>
              <a:off x="952500" y="4719828"/>
              <a:ext cx="571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pt-BR" sz="3600">
                  <a:solidFill>
                    <a:srgbClr val="C0392B"/>
                  </a:solidFill>
                  <a:latin typeface="Material Icons"/>
                  <a:ea typeface="Material Icons"/>
                  <a:cs typeface="Material Icons"/>
                  <a:sym typeface="Material Icons"/>
                </a:rPr>
                <a:t>psychology</a:t>
              </a:r>
              <a:endParaRPr sz="3600">
                <a:solidFill>
                  <a:srgbClr val="C0392B"/>
                </a:solidFill>
                <a:latin typeface="Material Icons"/>
                <a:ea typeface="Material Icons"/>
                <a:cs typeface="Material Icons"/>
                <a:sym typeface="Material Icons"/>
              </a:endParaRPr>
            </a:p>
          </p:txBody>
        </p:sp>
        <p:sp>
          <p:nvSpPr>
            <p:cNvPr id="342" name="Google Shape;342;p26"/>
            <p:cNvSpPr txBox="1"/>
            <p:nvPr/>
          </p:nvSpPr>
          <p:spPr>
            <a:xfrm>
              <a:off x="1714500" y="4476750"/>
              <a:ext cx="4191000" cy="9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pt-BR" sz="2000">
                  <a:solidFill>
                    <a:srgbClr val="1B2631"/>
                  </a:solidFill>
                  <a:latin typeface="Playfair Display"/>
                  <a:ea typeface="Playfair Display"/>
                  <a:cs typeface="Playfair Display"/>
                  <a:sym typeface="Playfair Display"/>
                </a:rPr>
                <a:t>Aprendizagem – </a:t>
              </a:r>
              <a:r>
                <a:rPr b="1" lang="pt-BR" sz="2000">
                  <a:solidFill>
                    <a:srgbClr val="C0392B"/>
                  </a:solidFill>
                  <a:latin typeface="Courier New"/>
                  <a:ea typeface="Courier New"/>
                  <a:cs typeface="Courier New"/>
                  <a:sym typeface="Courier New"/>
                </a:rPr>
                <a:t>Lógica</a:t>
              </a:r>
              <a:endParaRPr b="1" sz="2000">
                <a:solidFill>
                  <a:srgbClr val="1B2631"/>
                </a:solidFill>
                <a:latin typeface="Playfair Display"/>
                <a:ea typeface="Playfair Display"/>
                <a:cs typeface="Playfair Display"/>
                <a:sym typeface="Playfair Display"/>
              </a:endParaRPr>
            </a:p>
            <a:p>
              <a:pPr indent="0" lvl="0" marL="0" rtl="0" algn="l">
                <a:spcBef>
                  <a:spcPts val="0"/>
                </a:spcBef>
                <a:spcAft>
                  <a:spcPts val="0"/>
                </a:spcAft>
                <a:buNone/>
              </a:pPr>
              <a:r>
                <a:rPr b="0" lang="pt-BR" sz="1600">
                  <a:solidFill>
                    <a:srgbClr val="34495E"/>
                  </a:solidFill>
                  <a:latin typeface="Playfair Display"/>
                  <a:ea typeface="Playfair Display"/>
                  <a:cs typeface="Playfair Display"/>
                  <a:sym typeface="Playfair Display"/>
                </a:rPr>
                <a:t>Ajuda a entender o fluxo do código</a:t>
              </a:r>
              <a:endParaRPr b="0" sz="1600">
                <a:solidFill>
                  <a:srgbClr val="34495E"/>
                </a:solidFill>
                <a:latin typeface="Playfair Display"/>
                <a:ea typeface="Playfair Display"/>
                <a:cs typeface="Playfair Display"/>
                <a:sym typeface="Playfair Display"/>
              </a:endParaRPr>
            </a:p>
          </p:txBody>
        </p:sp>
      </p:grpSp>
      <p:grpSp>
        <p:nvGrpSpPr>
          <p:cNvPr id="343" name="Google Shape;343;p26"/>
          <p:cNvGrpSpPr/>
          <p:nvPr/>
        </p:nvGrpSpPr>
        <p:grpSpPr>
          <a:xfrm>
            <a:off x="6477000" y="1714500"/>
            <a:ext cx="4762500" cy="3810000"/>
            <a:chOff x="6477000" y="1714500"/>
            <a:chExt cx="4762500" cy="3810000"/>
          </a:xfrm>
        </p:grpSpPr>
        <p:sp>
          <p:nvSpPr>
            <p:cNvPr id="344" name="Google Shape;344;p26"/>
            <p:cNvSpPr/>
            <p:nvPr/>
          </p:nvSpPr>
          <p:spPr>
            <a:xfrm>
              <a:off x="6477000" y="1714500"/>
              <a:ext cx="4762500" cy="3810000"/>
            </a:xfrm>
            <a:prstGeom prst="roundRect">
              <a:avLst>
                <a:gd fmla="val 3750" name="adj"/>
              </a:avLst>
            </a:prstGeom>
            <a:solidFill>
              <a:srgbClr val="FFFFFF">
                <a:alpha val="9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descr="A professional, flat-design vector illustration of a desk trace (teste de mesa) process. It shows a table with variable names like 'x', 'y', 'total' and their values being updated line by line as a person tracks an algorithm's execution on paper. The style is clean with soft blues and accented reds to match the presentation." id="345" name="Google Shape;345;p26"/>
            <p:cNvPicPr preferRelativeResize="0"/>
            <p:nvPr/>
          </p:nvPicPr>
          <p:blipFill rotWithShape="1">
            <a:blip r:embed="rId4">
              <a:alphaModFix/>
            </a:blip>
            <a:srcRect b="0" l="2080" r="2089" t="0"/>
            <a:stretch/>
          </p:blipFill>
          <p:spPr>
            <a:xfrm>
              <a:off x="6667500" y="1905000"/>
              <a:ext cx="4381500" cy="3429000"/>
            </a:xfrm>
            <a:prstGeom prst="roundRect">
              <a:avLst>
                <a:gd fmla="val 2777" name="adj"/>
              </a:avLst>
            </a:prstGeom>
            <a:noFill/>
            <a:ln>
              <a:noFill/>
            </a:ln>
          </p:spPr>
        </p:pic>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pic>
        <p:nvPicPr>
          <p:cNvPr id="350" name="Google Shape;350;p2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51" name="Google Shape;351;p27"/>
          <p:cNvSpPr txBox="1"/>
          <p:nvPr/>
        </p:nvSpPr>
        <p:spPr>
          <a:xfrm>
            <a:off x="609600" y="381000"/>
            <a:ext cx="10972800" cy="952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pt-BR" sz="4800">
                <a:solidFill>
                  <a:srgbClr val="1B2631"/>
                </a:solidFill>
                <a:latin typeface="Playfair Display"/>
                <a:ea typeface="Playfair Display"/>
                <a:cs typeface="Playfair Display"/>
                <a:sym typeface="Playfair Display"/>
              </a:rPr>
              <a:t>Casos de Teste Simples</a:t>
            </a:r>
            <a:endParaRPr b="1" sz="4800">
              <a:solidFill>
                <a:srgbClr val="1B2631"/>
              </a:solidFill>
              <a:latin typeface="Playfair Display"/>
              <a:ea typeface="Playfair Display"/>
              <a:cs typeface="Playfair Display"/>
              <a:sym typeface="Playfair Display"/>
            </a:endParaRPr>
          </a:p>
        </p:txBody>
      </p:sp>
      <p:grpSp>
        <p:nvGrpSpPr>
          <p:cNvPr id="352" name="Google Shape;352;p27"/>
          <p:cNvGrpSpPr/>
          <p:nvPr/>
        </p:nvGrpSpPr>
        <p:grpSpPr>
          <a:xfrm>
            <a:off x="762000" y="1714500"/>
            <a:ext cx="5334000" cy="1143000"/>
            <a:chOff x="762000" y="1714500"/>
            <a:chExt cx="5334000" cy="1143000"/>
          </a:xfrm>
        </p:grpSpPr>
        <p:sp>
          <p:nvSpPr>
            <p:cNvPr id="353" name="Google Shape;353;p27"/>
            <p:cNvSpPr/>
            <p:nvPr/>
          </p:nvSpPr>
          <p:spPr>
            <a:xfrm>
              <a:off x="762000" y="1714500"/>
              <a:ext cx="5334000" cy="1143000"/>
            </a:xfrm>
            <a:prstGeom prst="roundRect">
              <a:avLst>
                <a:gd fmla="val 12500" name="adj"/>
              </a:avLst>
            </a:prstGeom>
            <a:solidFill>
              <a:srgbClr val="FFFFFF">
                <a:alpha val="8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4" name="Google Shape;354;p27"/>
            <p:cNvSpPr txBox="1"/>
            <p:nvPr/>
          </p:nvSpPr>
          <p:spPr>
            <a:xfrm>
              <a:off x="952500" y="2052828"/>
              <a:ext cx="571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pt-BR" sz="3600">
                  <a:solidFill>
                    <a:srgbClr val="C0392B"/>
                  </a:solidFill>
                  <a:latin typeface="Material Icons"/>
                  <a:ea typeface="Material Icons"/>
                  <a:cs typeface="Material Icons"/>
                  <a:sym typeface="Material Icons"/>
                </a:rPr>
                <a:t>input</a:t>
              </a:r>
              <a:endParaRPr sz="3600">
                <a:solidFill>
                  <a:srgbClr val="C0392B"/>
                </a:solidFill>
                <a:latin typeface="Material Icons"/>
                <a:ea typeface="Material Icons"/>
                <a:cs typeface="Material Icons"/>
                <a:sym typeface="Material Icons"/>
              </a:endParaRPr>
            </a:p>
          </p:txBody>
        </p:sp>
        <p:sp>
          <p:nvSpPr>
            <p:cNvPr id="355" name="Google Shape;355;p27"/>
            <p:cNvSpPr txBox="1"/>
            <p:nvPr/>
          </p:nvSpPr>
          <p:spPr>
            <a:xfrm>
              <a:off x="1714500" y="1809750"/>
              <a:ext cx="4191000" cy="9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pt-BR" sz="2000">
                  <a:solidFill>
                    <a:srgbClr val="1B2631"/>
                  </a:solidFill>
                  <a:latin typeface="Playfair Display"/>
                  <a:ea typeface="Playfair Display"/>
                  <a:cs typeface="Playfair Display"/>
                  <a:sym typeface="Playfair Display"/>
                </a:rPr>
                <a:t>Entrada – </a:t>
              </a:r>
              <a:r>
                <a:rPr b="1" lang="pt-BR" sz="2000">
                  <a:solidFill>
                    <a:srgbClr val="C0392B"/>
                  </a:solidFill>
                  <a:latin typeface="Courier New"/>
                  <a:ea typeface="Courier New"/>
                  <a:cs typeface="Courier New"/>
                  <a:sym typeface="Courier New"/>
                </a:rPr>
                <a:t>Valores</a:t>
              </a:r>
              <a:endParaRPr b="1" sz="2000">
                <a:solidFill>
                  <a:srgbClr val="1B2631"/>
                </a:solidFill>
                <a:latin typeface="Playfair Display"/>
                <a:ea typeface="Playfair Display"/>
                <a:cs typeface="Playfair Display"/>
                <a:sym typeface="Playfair Display"/>
              </a:endParaRPr>
            </a:p>
            <a:p>
              <a:pPr indent="0" lvl="0" marL="0" rtl="0" algn="l">
                <a:spcBef>
                  <a:spcPts val="0"/>
                </a:spcBef>
                <a:spcAft>
                  <a:spcPts val="0"/>
                </a:spcAft>
                <a:buNone/>
              </a:pPr>
              <a:r>
                <a:rPr b="0" lang="pt-BR" sz="1600">
                  <a:solidFill>
                    <a:srgbClr val="34495E"/>
                  </a:solidFill>
                  <a:latin typeface="Playfair Display"/>
                  <a:ea typeface="Playfair Display"/>
                  <a:cs typeface="Playfair Display"/>
                  <a:sym typeface="Playfair Display"/>
                </a:rPr>
                <a:t>Entrada conhecida com resultado esperado</a:t>
              </a:r>
              <a:endParaRPr b="0" sz="1600">
                <a:solidFill>
                  <a:srgbClr val="34495E"/>
                </a:solidFill>
                <a:latin typeface="Playfair Display"/>
                <a:ea typeface="Playfair Display"/>
                <a:cs typeface="Playfair Display"/>
                <a:sym typeface="Playfair Display"/>
              </a:endParaRPr>
            </a:p>
          </p:txBody>
        </p:sp>
      </p:grpSp>
      <p:grpSp>
        <p:nvGrpSpPr>
          <p:cNvPr id="356" name="Google Shape;356;p27"/>
          <p:cNvGrpSpPr/>
          <p:nvPr/>
        </p:nvGrpSpPr>
        <p:grpSpPr>
          <a:xfrm>
            <a:off x="762000" y="3048000"/>
            <a:ext cx="5334000" cy="1143000"/>
            <a:chOff x="762000" y="3048000"/>
            <a:chExt cx="5334000" cy="1143000"/>
          </a:xfrm>
        </p:grpSpPr>
        <p:sp>
          <p:nvSpPr>
            <p:cNvPr id="357" name="Google Shape;357;p27"/>
            <p:cNvSpPr/>
            <p:nvPr/>
          </p:nvSpPr>
          <p:spPr>
            <a:xfrm>
              <a:off x="762000" y="3048000"/>
              <a:ext cx="5334000" cy="1143000"/>
            </a:xfrm>
            <a:prstGeom prst="roundRect">
              <a:avLst>
                <a:gd fmla="val 12500" name="adj"/>
              </a:avLst>
            </a:prstGeom>
            <a:solidFill>
              <a:srgbClr val="FFFFFF">
                <a:alpha val="8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8" name="Google Shape;358;p27"/>
            <p:cNvSpPr txBox="1"/>
            <p:nvPr/>
          </p:nvSpPr>
          <p:spPr>
            <a:xfrm>
              <a:off x="952500" y="3386328"/>
              <a:ext cx="571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pt-BR" sz="3600">
                  <a:solidFill>
                    <a:srgbClr val="C0392B"/>
                  </a:solidFill>
                  <a:latin typeface="Material Icons"/>
                  <a:ea typeface="Material Icons"/>
                  <a:cs typeface="Material Icons"/>
                  <a:sym typeface="Material Icons"/>
                </a:rPr>
                <a:t>verified</a:t>
              </a:r>
              <a:endParaRPr sz="3600">
                <a:solidFill>
                  <a:srgbClr val="C0392B"/>
                </a:solidFill>
                <a:latin typeface="Material Icons"/>
                <a:ea typeface="Material Icons"/>
                <a:cs typeface="Material Icons"/>
                <a:sym typeface="Material Icons"/>
              </a:endParaRPr>
            </a:p>
          </p:txBody>
        </p:sp>
        <p:sp>
          <p:nvSpPr>
            <p:cNvPr id="359" name="Google Shape;359;p27"/>
            <p:cNvSpPr txBox="1"/>
            <p:nvPr/>
          </p:nvSpPr>
          <p:spPr>
            <a:xfrm>
              <a:off x="1714500" y="3143250"/>
              <a:ext cx="4191000" cy="9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pt-BR" sz="2000">
                  <a:solidFill>
                    <a:srgbClr val="1B2631"/>
                  </a:solidFill>
                  <a:latin typeface="Playfair Display"/>
                  <a:ea typeface="Playfair Display"/>
                  <a:cs typeface="Playfair Display"/>
                  <a:sym typeface="Playfair Display"/>
                </a:rPr>
                <a:t>Validação – </a:t>
              </a:r>
              <a:r>
                <a:rPr b="1" lang="pt-BR" sz="2000">
                  <a:solidFill>
                    <a:srgbClr val="C0392B"/>
                  </a:solidFill>
                  <a:latin typeface="Courier New"/>
                  <a:ea typeface="Courier New"/>
                  <a:cs typeface="Courier New"/>
                  <a:sym typeface="Courier New"/>
                </a:rPr>
                <a:t>Função</a:t>
              </a:r>
              <a:endParaRPr b="1" sz="2000">
                <a:solidFill>
                  <a:srgbClr val="1B2631"/>
                </a:solidFill>
                <a:latin typeface="Playfair Display"/>
                <a:ea typeface="Playfair Display"/>
                <a:cs typeface="Playfair Display"/>
                <a:sym typeface="Playfair Display"/>
              </a:endParaRPr>
            </a:p>
            <a:p>
              <a:pPr indent="0" lvl="0" marL="0" rtl="0" algn="l">
                <a:spcBef>
                  <a:spcPts val="0"/>
                </a:spcBef>
                <a:spcAft>
                  <a:spcPts val="0"/>
                </a:spcAft>
                <a:buNone/>
              </a:pPr>
              <a:r>
                <a:rPr b="0" lang="pt-BR" sz="1600">
                  <a:solidFill>
                    <a:srgbClr val="34495E"/>
                  </a:solidFill>
                  <a:latin typeface="Playfair Display"/>
                  <a:ea typeface="Playfair Display"/>
                  <a:cs typeface="Playfair Display"/>
                  <a:sym typeface="Playfair Display"/>
                </a:rPr>
                <a:t>Confirma se o código funciona corretamente</a:t>
              </a:r>
              <a:endParaRPr b="0" sz="1600">
                <a:solidFill>
                  <a:srgbClr val="34495E"/>
                </a:solidFill>
                <a:latin typeface="Playfair Display"/>
                <a:ea typeface="Playfair Display"/>
                <a:cs typeface="Playfair Display"/>
                <a:sym typeface="Playfair Display"/>
              </a:endParaRPr>
            </a:p>
          </p:txBody>
        </p:sp>
      </p:grpSp>
      <p:grpSp>
        <p:nvGrpSpPr>
          <p:cNvPr id="360" name="Google Shape;360;p27"/>
          <p:cNvGrpSpPr/>
          <p:nvPr/>
        </p:nvGrpSpPr>
        <p:grpSpPr>
          <a:xfrm>
            <a:off x="762000" y="4381500"/>
            <a:ext cx="5334000" cy="1143000"/>
            <a:chOff x="762000" y="4381500"/>
            <a:chExt cx="5334000" cy="1143000"/>
          </a:xfrm>
        </p:grpSpPr>
        <p:sp>
          <p:nvSpPr>
            <p:cNvPr id="361" name="Google Shape;361;p27"/>
            <p:cNvSpPr/>
            <p:nvPr/>
          </p:nvSpPr>
          <p:spPr>
            <a:xfrm>
              <a:off x="762000" y="4381500"/>
              <a:ext cx="5334000" cy="1143000"/>
            </a:xfrm>
            <a:prstGeom prst="roundRect">
              <a:avLst>
                <a:gd fmla="val 12500" name="adj"/>
              </a:avLst>
            </a:prstGeom>
            <a:solidFill>
              <a:srgbClr val="FFFFFF">
                <a:alpha val="8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2" name="Google Shape;362;p27"/>
            <p:cNvSpPr txBox="1"/>
            <p:nvPr/>
          </p:nvSpPr>
          <p:spPr>
            <a:xfrm>
              <a:off x="952500" y="4719828"/>
              <a:ext cx="571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pt-BR" sz="3600">
                  <a:solidFill>
                    <a:srgbClr val="C0392B"/>
                  </a:solidFill>
                  <a:latin typeface="Material Icons"/>
                  <a:ea typeface="Material Icons"/>
                  <a:cs typeface="Material Icons"/>
                  <a:sym typeface="Material Icons"/>
                </a:rPr>
                <a:t>analytics</a:t>
              </a:r>
              <a:endParaRPr sz="3600">
                <a:solidFill>
                  <a:srgbClr val="C0392B"/>
                </a:solidFill>
                <a:latin typeface="Material Icons"/>
                <a:ea typeface="Material Icons"/>
                <a:cs typeface="Material Icons"/>
                <a:sym typeface="Material Icons"/>
              </a:endParaRPr>
            </a:p>
          </p:txBody>
        </p:sp>
        <p:sp>
          <p:nvSpPr>
            <p:cNvPr id="363" name="Google Shape;363;p27"/>
            <p:cNvSpPr txBox="1"/>
            <p:nvPr/>
          </p:nvSpPr>
          <p:spPr>
            <a:xfrm>
              <a:off x="1714500" y="4476750"/>
              <a:ext cx="4191000" cy="9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pt-BR" sz="2000">
                  <a:solidFill>
                    <a:srgbClr val="1B2631"/>
                  </a:solidFill>
                  <a:latin typeface="Playfair Display"/>
                  <a:ea typeface="Playfair Display"/>
                  <a:cs typeface="Playfair Display"/>
                  <a:sym typeface="Playfair Display"/>
                </a:rPr>
                <a:t>Cobertura – </a:t>
              </a:r>
              <a:r>
                <a:rPr b="1" lang="pt-BR" sz="2000">
                  <a:solidFill>
                    <a:srgbClr val="C0392B"/>
                  </a:solidFill>
                  <a:latin typeface="Courier New"/>
                  <a:ea typeface="Courier New"/>
                  <a:cs typeface="Courier New"/>
                  <a:sym typeface="Courier New"/>
                </a:rPr>
                <a:t>Casos</a:t>
              </a:r>
              <a:endParaRPr b="1" sz="2000">
                <a:solidFill>
                  <a:srgbClr val="1B2631"/>
                </a:solidFill>
                <a:latin typeface="Playfair Display"/>
                <a:ea typeface="Playfair Display"/>
                <a:cs typeface="Playfair Display"/>
                <a:sym typeface="Playfair Display"/>
              </a:endParaRPr>
            </a:p>
            <a:p>
              <a:pPr indent="0" lvl="0" marL="0" rtl="0" algn="l">
                <a:spcBef>
                  <a:spcPts val="0"/>
                </a:spcBef>
                <a:spcAft>
                  <a:spcPts val="0"/>
                </a:spcAft>
                <a:buNone/>
              </a:pPr>
              <a:r>
                <a:rPr b="0" lang="pt-BR" sz="1600">
                  <a:solidFill>
                    <a:srgbClr val="34495E"/>
                  </a:solidFill>
                  <a:latin typeface="Playfair Display"/>
                  <a:ea typeface="Playfair Display"/>
                  <a:cs typeface="Playfair Display"/>
                  <a:sym typeface="Playfair Display"/>
                </a:rPr>
                <a:t>Testar casos normais e extremos</a:t>
              </a:r>
              <a:endParaRPr b="0" sz="1600">
                <a:solidFill>
                  <a:srgbClr val="34495E"/>
                </a:solidFill>
                <a:latin typeface="Playfair Display"/>
                <a:ea typeface="Playfair Display"/>
                <a:cs typeface="Playfair Display"/>
                <a:sym typeface="Playfair Display"/>
              </a:endParaRPr>
            </a:p>
          </p:txBody>
        </p:sp>
      </p:grpSp>
      <p:grpSp>
        <p:nvGrpSpPr>
          <p:cNvPr id="364" name="Google Shape;364;p27"/>
          <p:cNvGrpSpPr/>
          <p:nvPr/>
        </p:nvGrpSpPr>
        <p:grpSpPr>
          <a:xfrm>
            <a:off x="6477000" y="1714500"/>
            <a:ext cx="4762500" cy="3810000"/>
            <a:chOff x="6477000" y="1714500"/>
            <a:chExt cx="4762500" cy="3810000"/>
          </a:xfrm>
        </p:grpSpPr>
        <p:sp>
          <p:nvSpPr>
            <p:cNvPr id="365" name="Google Shape;365;p27"/>
            <p:cNvSpPr/>
            <p:nvPr/>
          </p:nvSpPr>
          <p:spPr>
            <a:xfrm>
              <a:off x="6477000" y="1714500"/>
              <a:ext cx="4762500" cy="3810000"/>
            </a:xfrm>
            <a:prstGeom prst="roundRect">
              <a:avLst>
                <a:gd fmla="val 3750" name="adj"/>
              </a:avLst>
            </a:prstGeom>
            <a:solidFill>
              <a:srgbClr val="FFFFFF">
                <a:alpha val="9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descr="A professional, flat-design vector illustration showing a software testing interface. On one side, a table shows 'Input' and 'Expected Output' columns. On the other side, colorful status badges like 'Pass' and 'Fail' are shown. The style is clean with soft blues and accented reds to match the presentation." id="366" name="Google Shape;366;p27"/>
            <p:cNvPicPr preferRelativeResize="0"/>
            <p:nvPr/>
          </p:nvPicPr>
          <p:blipFill rotWithShape="1">
            <a:blip r:embed="rId4">
              <a:alphaModFix/>
            </a:blip>
            <a:srcRect b="0" l="2080" r="2089" t="0"/>
            <a:stretch/>
          </p:blipFill>
          <p:spPr>
            <a:xfrm>
              <a:off x="6667500" y="1905000"/>
              <a:ext cx="4381500" cy="3429000"/>
            </a:xfrm>
            <a:prstGeom prst="roundRect">
              <a:avLst>
                <a:gd fmla="val 2777" name="adj"/>
              </a:avLst>
            </a:prstGeom>
            <a:noFill/>
            <a:ln>
              <a:noFill/>
            </a:ln>
          </p:spPr>
        </p:pic>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pic>
        <p:nvPicPr>
          <p:cNvPr id="371" name="Google Shape;371;p2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72" name="Google Shape;372;p28"/>
          <p:cNvSpPr txBox="1"/>
          <p:nvPr>
            <p:ph type="title"/>
          </p:nvPr>
        </p:nvSpPr>
        <p:spPr>
          <a:xfrm>
            <a:off x="609600" y="381000"/>
            <a:ext cx="10972800" cy="9525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ctr">
              <a:spcBef>
                <a:spcPts val="0"/>
              </a:spcBef>
              <a:spcAft>
                <a:spcPts val="0"/>
              </a:spcAft>
              <a:buNone/>
            </a:pPr>
            <a:r>
              <a:rPr b="1" lang="pt-BR" sz="4800">
                <a:solidFill>
                  <a:srgbClr val="1B2631"/>
                </a:solidFill>
                <a:latin typeface="Playfair Display"/>
                <a:ea typeface="Playfair Display"/>
                <a:cs typeface="Playfair Display"/>
                <a:sym typeface="Playfair Display"/>
              </a:rPr>
              <a:t>Estudo de Caso: Média do Aluno</a:t>
            </a:r>
            <a:endParaRPr b="1" sz="4800">
              <a:solidFill>
                <a:srgbClr val="1B2631"/>
              </a:solidFill>
              <a:latin typeface="Playfair Display"/>
              <a:ea typeface="Playfair Display"/>
              <a:cs typeface="Playfair Display"/>
              <a:sym typeface="Playfair Display"/>
            </a:endParaRPr>
          </a:p>
        </p:txBody>
      </p:sp>
      <p:grpSp>
        <p:nvGrpSpPr>
          <p:cNvPr id="373" name="Google Shape;373;p28"/>
          <p:cNvGrpSpPr/>
          <p:nvPr/>
        </p:nvGrpSpPr>
        <p:grpSpPr>
          <a:xfrm>
            <a:off x="762000" y="1714500"/>
            <a:ext cx="5334000" cy="1143000"/>
            <a:chOff x="762000" y="1714500"/>
            <a:chExt cx="5334000" cy="1143000"/>
          </a:xfrm>
        </p:grpSpPr>
        <p:sp>
          <p:nvSpPr>
            <p:cNvPr id="374" name="Google Shape;374;p28"/>
            <p:cNvSpPr/>
            <p:nvPr/>
          </p:nvSpPr>
          <p:spPr>
            <a:xfrm>
              <a:off x="762000" y="1714500"/>
              <a:ext cx="5334000" cy="1143000"/>
            </a:xfrm>
            <a:prstGeom prst="roundRect">
              <a:avLst>
                <a:gd fmla="val 12500" name="adj"/>
              </a:avLst>
            </a:prstGeom>
            <a:solidFill>
              <a:srgbClr val="FFFFFF">
                <a:alpha val="8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5" name="Google Shape;375;p28"/>
            <p:cNvSpPr txBox="1"/>
            <p:nvPr/>
          </p:nvSpPr>
          <p:spPr>
            <a:xfrm>
              <a:off x="952500" y="2052828"/>
              <a:ext cx="5715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lang="pt-BR" sz="3600">
                  <a:solidFill>
                    <a:srgbClr val="C0392B"/>
                  </a:solidFill>
                  <a:latin typeface="Material Icons"/>
                  <a:ea typeface="Material Icons"/>
                  <a:cs typeface="Material Icons"/>
                  <a:sym typeface="Material Icons"/>
                </a:rPr>
                <a:t>calculate</a:t>
              </a:r>
              <a:endParaRPr sz="3600">
                <a:solidFill>
                  <a:srgbClr val="C0392B"/>
                </a:solidFill>
                <a:latin typeface="Material Icons"/>
                <a:ea typeface="Material Icons"/>
                <a:cs typeface="Material Icons"/>
                <a:sym typeface="Material Icons"/>
              </a:endParaRPr>
            </a:p>
          </p:txBody>
        </p:sp>
        <p:sp>
          <p:nvSpPr>
            <p:cNvPr id="376" name="Google Shape;376;p28"/>
            <p:cNvSpPr txBox="1"/>
            <p:nvPr/>
          </p:nvSpPr>
          <p:spPr>
            <a:xfrm>
              <a:off x="1714500" y="1809750"/>
              <a:ext cx="4191000" cy="952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pt-BR" sz="2000">
                  <a:solidFill>
                    <a:srgbClr val="1B2631"/>
                  </a:solidFill>
                  <a:latin typeface="Playfair Display"/>
                  <a:ea typeface="Playfair Display"/>
                  <a:cs typeface="Playfair Display"/>
                  <a:sym typeface="Playfair Display"/>
                </a:rPr>
                <a:t>Problema – </a:t>
              </a:r>
              <a:r>
                <a:rPr b="1" lang="pt-BR" sz="2000">
                  <a:solidFill>
                    <a:srgbClr val="C0392B"/>
                  </a:solidFill>
                  <a:latin typeface="Courier New"/>
                  <a:ea typeface="Courier New"/>
                  <a:cs typeface="Courier New"/>
                  <a:sym typeface="Courier New"/>
                </a:rPr>
                <a:t>Média</a:t>
              </a:r>
              <a:endParaRPr b="1" sz="2000">
                <a:solidFill>
                  <a:srgbClr val="1B2631"/>
                </a:solidFill>
                <a:latin typeface="Playfair Display"/>
                <a:ea typeface="Playfair Display"/>
                <a:cs typeface="Playfair Display"/>
                <a:sym typeface="Playfair Display"/>
              </a:endParaRPr>
            </a:p>
            <a:p>
              <a:pPr indent="0" lvl="0" marL="0" rtl="0" algn="l">
                <a:spcBef>
                  <a:spcPts val="0"/>
                </a:spcBef>
                <a:spcAft>
                  <a:spcPts val="0"/>
                </a:spcAft>
                <a:buNone/>
              </a:pPr>
              <a:r>
                <a:rPr b="0" lang="pt-BR" sz="1600">
                  <a:solidFill>
                    <a:srgbClr val="34495E"/>
                  </a:solidFill>
                  <a:latin typeface="Playfair Display"/>
                  <a:ea typeface="Playfair Display"/>
                  <a:cs typeface="Playfair Display"/>
                  <a:sym typeface="Playfair Display"/>
                </a:rPr>
                <a:t>Calcular média e verificar aprovação</a:t>
              </a:r>
              <a:endParaRPr b="0" sz="1600">
                <a:solidFill>
                  <a:srgbClr val="34495E"/>
                </a:solidFill>
                <a:latin typeface="Playfair Display"/>
                <a:ea typeface="Playfair Display"/>
                <a:cs typeface="Playfair Display"/>
                <a:sym typeface="Playfair Display"/>
              </a:endParaRPr>
            </a:p>
          </p:txBody>
        </p:sp>
      </p:grpSp>
      <p:grpSp>
        <p:nvGrpSpPr>
          <p:cNvPr id="377" name="Google Shape;377;p28"/>
          <p:cNvGrpSpPr/>
          <p:nvPr/>
        </p:nvGrpSpPr>
        <p:grpSpPr>
          <a:xfrm>
            <a:off x="762000" y="3048000"/>
            <a:ext cx="5334000" cy="1143000"/>
            <a:chOff x="762000" y="3048000"/>
            <a:chExt cx="5334000" cy="1143000"/>
          </a:xfrm>
        </p:grpSpPr>
        <p:sp>
          <p:nvSpPr>
            <p:cNvPr id="378" name="Google Shape;378;p28"/>
            <p:cNvSpPr/>
            <p:nvPr/>
          </p:nvSpPr>
          <p:spPr>
            <a:xfrm>
              <a:off x="762000" y="3048000"/>
              <a:ext cx="5334000" cy="1143000"/>
            </a:xfrm>
            <a:prstGeom prst="roundRect">
              <a:avLst>
                <a:gd fmla="val 12500" name="adj"/>
              </a:avLst>
            </a:prstGeom>
            <a:solidFill>
              <a:srgbClr val="FFFFFF">
                <a:alpha val="8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9" name="Google Shape;379;p28"/>
            <p:cNvSpPr txBox="1"/>
            <p:nvPr/>
          </p:nvSpPr>
          <p:spPr>
            <a:xfrm>
              <a:off x="952500" y="3386328"/>
              <a:ext cx="5715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lang="pt-BR" sz="3600">
                  <a:solidFill>
                    <a:srgbClr val="C0392B"/>
                  </a:solidFill>
                  <a:latin typeface="Material Icons"/>
                  <a:ea typeface="Material Icons"/>
                  <a:cs typeface="Material Icons"/>
                  <a:sym typeface="Material Icons"/>
                </a:rPr>
                <a:t>input</a:t>
              </a:r>
              <a:endParaRPr sz="3600">
                <a:solidFill>
                  <a:srgbClr val="C0392B"/>
                </a:solidFill>
                <a:latin typeface="Material Icons"/>
                <a:ea typeface="Material Icons"/>
                <a:cs typeface="Material Icons"/>
                <a:sym typeface="Material Icons"/>
              </a:endParaRPr>
            </a:p>
          </p:txBody>
        </p:sp>
        <p:sp>
          <p:nvSpPr>
            <p:cNvPr id="380" name="Google Shape;380;p28"/>
            <p:cNvSpPr txBox="1"/>
            <p:nvPr/>
          </p:nvSpPr>
          <p:spPr>
            <a:xfrm>
              <a:off x="1714500" y="3143250"/>
              <a:ext cx="4191000" cy="952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pt-BR" sz="2000">
                  <a:solidFill>
                    <a:srgbClr val="1B2631"/>
                  </a:solidFill>
                  <a:latin typeface="Playfair Display"/>
                  <a:ea typeface="Playfair Display"/>
                  <a:cs typeface="Playfair Display"/>
                  <a:sym typeface="Playfair Display"/>
                </a:rPr>
                <a:t>Dados – </a:t>
              </a:r>
              <a:r>
                <a:rPr b="1" lang="pt-BR" sz="2000">
                  <a:solidFill>
                    <a:srgbClr val="C0392B"/>
                  </a:solidFill>
                  <a:latin typeface="Courier New"/>
                  <a:ea typeface="Courier New"/>
                  <a:cs typeface="Courier New"/>
                  <a:sym typeface="Courier New"/>
                </a:rPr>
                <a:t>Notas</a:t>
              </a:r>
              <a:endParaRPr b="1" sz="2000">
                <a:solidFill>
                  <a:srgbClr val="1B2631"/>
                </a:solidFill>
                <a:latin typeface="Playfair Display"/>
                <a:ea typeface="Playfair Display"/>
                <a:cs typeface="Playfair Display"/>
                <a:sym typeface="Playfair Display"/>
              </a:endParaRPr>
            </a:p>
            <a:p>
              <a:pPr indent="0" lvl="0" marL="0" rtl="0" algn="l">
                <a:spcBef>
                  <a:spcPts val="0"/>
                </a:spcBef>
                <a:spcAft>
                  <a:spcPts val="0"/>
                </a:spcAft>
                <a:buNone/>
              </a:pPr>
              <a:r>
                <a:rPr b="0" lang="pt-BR" sz="1600">
                  <a:solidFill>
                    <a:srgbClr val="34495E"/>
                  </a:solidFill>
                  <a:latin typeface="Playfair Display"/>
                  <a:ea typeface="Playfair Display"/>
                  <a:cs typeface="Playfair Display"/>
                  <a:sym typeface="Playfair Display"/>
                </a:rPr>
                <a:t>Duas notas entre 0 e 10</a:t>
              </a:r>
              <a:endParaRPr b="0" sz="1600">
                <a:solidFill>
                  <a:srgbClr val="34495E"/>
                </a:solidFill>
                <a:latin typeface="Playfair Display"/>
                <a:ea typeface="Playfair Display"/>
                <a:cs typeface="Playfair Display"/>
                <a:sym typeface="Playfair Display"/>
              </a:endParaRPr>
            </a:p>
          </p:txBody>
        </p:sp>
      </p:grpSp>
      <p:grpSp>
        <p:nvGrpSpPr>
          <p:cNvPr id="381" name="Google Shape;381;p28"/>
          <p:cNvGrpSpPr/>
          <p:nvPr/>
        </p:nvGrpSpPr>
        <p:grpSpPr>
          <a:xfrm>
            <a:off x="762000" y="4381500"/>
            <a:ext cx="5334000" cy="1143000"/>
            <a:chOff x="762000" y="4381500"/>
            <a:chExt cx="5334000" cy="1143000"/>
          </a:xfrm>
        </p:grpSpPr>
        <p:sp>
          <p:nvSpPr>
            <p:cNvPr id="382" name="Google Shape;382;p28"/>
            <p:cNvSpPr/>
            <p:nvPr/>
          </p:nvSpPr>
          <p:spPr>
            <a:xfrm>
              <a:off x="762000" y="4381500"/>
              <a:ext cx="5334000" cy="1143000"/>
            </a:xfrm>
            <a:prstGeom prst="roundRect">
              <a:avLst>
                <a:gd fmla="val 12500" name="adj"/>
              </a:avLst>
            </a:prstGeom>
            <a:solidFill>
              <a:srgbClr val="FFFFFF">
                <a:alpha val="8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3" name="Google Shape;383;p28"/>
            <p:cNvSpPr txBox="1"/>
            <p:nvPr/>
          </p:nvSpPr>
          <p:spPr>
            <a:xfrm>
              <a:off x="952500" y="4719828"/>
              <a:ext cx="5715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lang="pt-BR" sz="3600">
                  <a:solidFill>
                    <a:srgbClr val="C0392B"/>
                  </a:solidFill>
                  <a:latin typeface="Material Icons"/>
                  <a:ea typeface="Material Icons"/>
                  <a:cs typeface="Material Icons"/>
                  <a:sym typeface="Material Icons"/>
                </a:rPr>
                <a:t>rule</a:t>
              </a:r>
              <a:endParaRPr sz="3600">
                <a:solidFill>
                  <a:srgbClr val="C0392B"/>
                </a:solidFill>
                <a:latin typeface="Material Icons"/>
                <a:ea typeface="Material Icons"/>
                <a:cs typeface="Material Icons"/>
                <a:sym typeface="Material Icons"/>
              </a:endParaRPr>
            </a:p>
          </p:txBody>
        </p:sp>
        <p:sp>
          <p:nvSpPr>
            <p:cNvPr id="384" name="Google Shape;384;p28"/>
            <p:cNvSpPr txBox="1"/>
            <p:nvPr/>
          </p:nvSpPr>
          <p:spPr>
            <a:xfrm>
              <a:off x="1714500" y="4476750"/>
              <a:ext cx="4191000" cy="952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pt-BR" sz="2000">
                  <a:solidFill>
                    <a:srgbClr val="1B2631"/>
                  </a:solidFill>
                  <a:latin typeface="Playfair Display"/>
                  <a:ea typeface="Playfair Display"/>
                  <a:cs typeface="Playfair Display"/>
                  <a:sym typeface="Playfair Display"/>
                </a:rPr>
                <a:t>Critério – </a:t>
              </a:r>
              <a:r>
                <a:rPr b="1" lang="pt-BR" sz="2000">
                  <a:solidFill>
                    <a:srgbClr val="C0392B"/>
                  </a:solidFill>
                  <a:latin typeface="Courier New"/>
                  <a:ea typeface="Courier New"/>
                  <a:cs typeface="Courier New"/>
                  <a:sym typeface="Courier New"/>
                </a:rPr>
                <a:t>Aprovação</a:t>
              </a:r>
              <a:endParaRPr b="1" sz="2000">
                <a:solidFill>
                  <a:srgbClr val="1B2631"/>
                </a:solidFill>
                <a:latin typeface="Playfair Display"/>
                <a:ea typeface="Playfair Display"/>
                <a:cs typeface="Playfair Display"/>
                <a:sym typeface="Playfair Display"/>
              </a:endParaRPr>
            </a:p>
            <a:p>
              <a:pPr indent="0" lvl="0" marL="0" rtl="0" algn="l">
                <a:spcBef>
                  <a:spcPts val="0"/>
                </a:spcBef>
                <a:spcAft>
                  <a:spcPts val="0"/>
                </a:spcAft>
                <a:buNone/>
              </a:pPr>
              <a:r>
                <a:rPr b="0" lang="pt-BR" sz="1600">
                  <a:solidFill>
                    <a:srgbClr val="34495E"/>
                  </a:solidFill>
                  <a:latin typeface="Playfair Display"/>
                  <a:ea typeface="Playfair Display"/>
                  <a:cs typeface="Playfair Display"/>
                  <a:sym typeface="Playfair Display"/>
                </a:rPr>
                <a:t>Média mínima 7,0</a:t>
              </a:r>
              <a:endParaRPr b="0" sz="1600">
                <a:solidFill>
                  <a:srgbClr val="34495E"/>
                </a:solidFill>
                <a:latin typeface="Playfair Display"/>
                <a:ea typeface="Playfair Display"/>
                <a:cs typeface="Playfair Display"/>
                <a:sym typeface="Playfair Display"/>
              </a:endParaRPr>
            </a:p>
          </p:txBody>
        </p:sp>
      </p:grpSp>
      <p:grpSp>
        <p:nvGrpSpPr>
          <p:cNvPr id="385" name="Google Shape;385;p28"/>
          <p:cNvGrpSpPr/>
          <p:nvPr/>
        </p:nvGrpSpPr>
        <p:grpSpPr>
          <a:xfrm>
            <a:off x="6477000" y="1714500"/>
            <a:ext cx="4762500" cy="3810000"/>
            <a:chOff x="6477000" y="1714500"/>
            <a:chExt cx="4762500" cy="3810000"/>
          </a:xfrm>
        </p:grpSpPr>
        <p:sp>
          <p:nvSpPr>
            <p:cNvPr id="386" name="Google Shape;386;p28"/>
            <p:cNvSpPr/>
            <p:nvPr/>
          </p:nvSpPr>
          <p:spPr>
            <a:xfrm>
              <a:off x="6477000" y="1714500"/>
              <a:ext cx="4762500" cy="3810000"/>
            </a:xfrm>
            <a:prstGeom prst="roundRect">
              <a:avLst>
                <a:gd fmla="val 3750" name="adj"/>
              </a:avLst>
            </a:prstGeom>
            <a:solidFill>
              <a:srgbClr val="FFFFFF">
                <a:alpha val="9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descr="A professional vector illustration of a student's grade average calculation. It shows a visual formula: (Note 1 + Note 2) / 2 = Average, with a checkmark if Average &gt;= 7.0. Clean, educational style with soft blue and accent red colors." id="387" name="Google Shape;387;p28"/>
            <p:cNvPicPr preferRelativeResize="0"/>
            <p:nvPr/>
          </p:nvPicPr>
          <p:blipFill rotWithShape="1">
            <a:blip r:embed="rId4">
              <a:alphaModFix/>
            </a:blip>
            <a:srcRect b="0" l="2080" r="2089" t="0"/>
            <a:stretch/>
          </p:blipFill>
          <p:spPr>
            <a:xfrm>
              <a:off x="6667500" y="1905000"/>
              <a:ext cx="4381500" cy="3429000"/>
            </a:xfrm>
            <a:prstGeom prst="roundRect">
              <a:avLst>
                <a:gd fmla="val 2777" name="adj"/>
              </a:avLst>
            </a:prstGeom>
            <a:noFill/>
            <a:ln>
              <a:noFill/>
            </a:ln>
          </p:spPr>
        </p:pic>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pic>
        <p:nvPicPr>
          <p:cNvPr descr="A very light blue, minimalist background featuring a subtle, semi-transparent pattern of random programming code snippets (like brackets, semicolons, and functions) scattered artistically. The style is clean, professional, and corporate, ensuring high contrast for dark text overlays." id="392" name="Google Shape;392;p29"/>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93" name="Google Shape;393;p29"/>
          <p:cNvSpPr txBox="1"/>
          <p:nvPr/>
        </p:nvSpPr>
        <p:spPr>
          <a:xfrm>
            <a:off x="609600" y="381000"/>
            <a:ext cx="10972800" cy="952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pt-BR" sz="4800">
                <a:solidFill>
                  <a:srgbClr val="1B2631"/>
                </a:solidFill>
                <a:latin typeface="Playfair Display"/>
                <a:ea typeface="Playfair Display"/>
                <a:cs typeface="Playfair Display"/>
                <a:sym typeface="Playfair Display"/>
              </a:rPr>
              <a:t>Decomposição da Solução</a:t>
            </a:r>
            <a:endParaRPr b="1" sz="4800">
              <a:solidFill>
                <a:srgbClr val="1B2631"/>
              </a:solidFill>
              <a:latin typeface="Playfair Display"/>
              <a:ea typeface="Playfair Display"/>
              <a:cs typeface="Playfair Display"/>
              <a:sym typeface="Playfair Display"/>
            </a:endParaRPr>
          </a:p>
        </p:txBody>
      </p:sp>
      <p:grpSp>
        <p:nvGrpSpPr>
          <p:cNvPr id="394" name="Google Shape;394;p29"/>
          <p:cNvGrpSpPr/>
          <p:nvPr/>
        </p:nvGrpSpPr>
        <p:grpSpPr>
          <a:xfrm>
            <a:off x="762000" y="1714500"/>
            <a:ext cx="5334000" cy="1143000"/>
            <a:chOff x="762000" y="1714500"/>
            <a:chExt cx="5334000" cy="1143000"/>
          </a:xfrm>
        </p:grpSpPr>
        <p:sp>
          <p:nvSpPr>
            <p:cNvPr id="395" name="Google Shape;395;p29"/>
            <p:cNvSpPr/>
            <p:nvPr/>
          </p:nvSpPr>
          <p:spPr>
            <a:xfrm>
              <a:off x="762000" y="1714500"/>
              <a:ext cx="5334000" cy="1143000"/>
            </a:xfrm>
            <a:prstGeom prst="roundRect">
              <a:avLst>
                <a:gd fmla="val 12500" name="adj"/>
              </a:avLst>
            </a:prstGeom>
            <a:solidFill>
              <a:srgbClr val="FFFFFF">
                <a:alpha val="8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6" name="Google Shape;396;p29"/>
            <p:cNvSpPr txBox="1"/>
            <p:nvPr/>
          </p:nvSpPr>
          <p:spPr>
            <a:xfrm>
              <a:off x="952500" y="2052828"/>
              <a:ext cx="5715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pt-BR" sz="3600">
                  <a:solidFill>
                    <a:srgbClr val="C0392B"/>
                  </a:solidFill>
                  <a:latin typeface="Material Icons"/>
                  <a:ea typeface="Material Icons"/>
                  <a:cs typeface="Material Icons"/>
                  <a:sym typeface="Material Icons"/>
                </a:rPr>
                <a:t>functions</a:t>
              </a:r>
              <a:endParaRPr b="0" sz="3600">
                <a:solidFill>
                  <a:srgbClr val="C0392B"/>
                </a:solidFill>
                <a:latin typeface="Material Icons"/>
                <a:ea typeface="Material Icons"/>
                <a:cs typeface="Material Icons"/>
                <a:sym typeface="Material Icons"/>
              </a:endParaRPr>
            </a:p>
          </p:txBody>
        </p:sp>
        <p:sp>
          <p:nvSpPr>
            <p:cNvPr id="397" name="Google Shape;397;p29"/>
            <p:cNvSpPr txBox="1"/>
            <p:nvPr/>
          </p:nvSpPr>
          <p:spPr>
            <a:xfrm>
              <a:off x="1714500" y="1809750"/>
              <a:ext cx="4191000" cy="952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pt-BR" sz="2000">
                  <a:solidFill>
                    <a:srgbClr val="1B2631"/>
                  </a:solidFill>
                  <a:latin typeface="Playfair Display"/>
                  <a:ea typeface="Playfair Display"/>
                  <a:cs typeface="Playfair Display"/>
                  <a:sym typeface="Playfair Display"/>
                </a:rPr>
                <a:t>Função 1 – </a:t>
              </a:r>
              <a:r>
                <a:rPr b="1" lang="pt-BR" sz="2000">
                  <a:solidFill>
                    <a:srgbClr val="C0392B"/>
                  </a:solidFill>
                  <a:latin typeface="Courier New"/>
                  <a:ea typeface="Courier New"/>
                  <a:cs typeface="Courier New"/>
                  <a:sym typeface="Courier New"/>
                </a:rPr>
                <a:t>Calcular média</a:t>
              </a:r>
              <a:endParaRPr b="1" sz="2000">
                <a:solidFill>
                  <a:srgbClr val="1B2631"/>
                </a:solidFill>
                <a:latin typeface="Playfair Display"/>
                <a:ea typeface="Playfair Display"/>
                <a:cs typeface="Playfair Display"/>
                <a:sym typeface="Playfair Display"/>
              </a:endParaRPr>
            </a:p>
            <a:p>
              <a:pPr indent="0" lvl="0" marL="0" rtl="0" algn="l">
                <a:spcBef>
                  <a:spcPts val="0"/>
                </a:spcBef>
                <a:spcAft>
                  <a:spcPts val="0"/>
                </a:spcAft>
                <a:buNone/>
              </a:pPr>
              <a:r>
                <a:rPr b="0" lang="pt-BR" sz="1600">
                  <a:solidFill>
                    <a:srgbClr val="34495E"/>
                  </a:solidFill>
                  <a:latin typeface="Playfair Display"/>
                  <a:ea typeface="Playfair Display"/>
                  <a:cs typeface="Playfair Display"/>
                  <a:sym typeface="Playfair Display"/>
                </a:rPr>
                <a:t>Processamento lógico dos valores</a:t>
              </a:r>
              <a:endParaRPr b="0" sz="1600">
                <a:solidFill>
                  <a:srgbClr val="34495E"/>
                </a:solidFill>
                <a:latin typeface="Playfair Display"/>
                <a:ea typeface="Playfair Display"/>
                <a:cs typeface="Playfair Display"/>
                <a:sym typeface="Playfair Display"/>
              </a:endParaRPr>
            </a:p>
          </p:txBody>
        </p:sp>
      </p:grpSp>
      <p:grpSp>
        <p:nvGrpSpPr>
          <p:cNvPr id="398" name="Google Shape;398;p29"/>
          <p:cNvGrpSpPr/>
          <p:nvPr/>
        </p:nvGrpSpPr>
        <p:grpSpPr>
          <a:xfrm>
            <a:off x="762000" y="3048000"/>
            <a:ext cx="5334000" cy="1143000"/>
            <a:chOff x="762000" y="3048000"/>
            <a:chExt cx="5334000" cy="1143000"/>
          </a:xfrm>
        </p:grpSpPr>
        <p:sp>
          <p:nvSpPr>
            <p:cNvPr id="399" name="Google Shape;399;p29"/>
            <p:cNvSpPr/>
            <p:nvPr/>
          </p:nvSpPr>
          <p:spPr>
            <a:xfrm>
              <a:off x="762000" y="3048000"/>
              <a:ext cx="5334000" cy="1143000"/>
            </a:xfrm>
            <a:prstGeom prst="roundRect">
              <a:avLst>
                <a:gd fmla="val 12500" name="adj"/>
              </a:avLst>
            </a:prstGeom>
            <a:solidFill>
              <a:srgbClr val="FFFFFF">
                <a:alpha val="8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0" name="Google Shape;400;p29"/>
            <p:cNvSpPr txBox="1"/>
            <p:nvPr/>
          </p:nvSpPr>
          <p:spPr>
            <a:xfrm>
              <a:off x="952500" y="3386328"/>
              <a:ext cx="5715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pt-BR" sz="3600">
                  <a:solidFill>
                    <a:srgbClr val="C0392B"/>
                  </a:solidFill>
                  <a:latin typeface="Material Icons"/>
                  <a:ea typeface="Material Icons"/>
                  <a:cs typeface="Material Icons"/>
                  <a:sym typeface="Material Icons"/>
                </a:rPr>
                <a:t>rule</a:t>
              </a:r>
              <a:endParaRPr b="0" sz="3600">
                <a:solidFill>
                  <a:srgbClr val="C0392B"/>
                </a:solidFill>
                <a:latin typeface="Material Icons"/>
                <a:ea typeface="Material Icons"/>
                <a:cs typeface="Material Icons"/>
                <a:sym typeface="Material Icons"/>
              </a:endParaRPr>
            </a:p>
          </p:txBody>
        </p:sp>
        <p:sp>
          <p:nvSpPr>
            <p:cNvPr id="401" name="Google Shape;401;p29"/>
            <p:cNvSpPr txBox="1"/>
            <p:nvPr/>
          </p:nvSpPr>
          <p:spPr>
            <a:xfrm>
              <a:off x="1714500" y="3143250"/>
              <a:ext cx="4191000" cy="952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pt-BR" sz="2000">
                  <a:solidFill>
                    <a:srgbClr val="1B2631"/>
                  </a:solidFill>
                  <a:latin typeface="Playfair Display"/>
                  <a:ea typeface="Playfair Display"/>
                  <a:cs typeface="Playfair Display"/>
                  <a:sym typeface="Playfair Display"/>
                </a:rPr>
                <a:t>Função 2 – </a:t>
              </a:r>
              <a:r>
                <a:rPr b="1" lang="pt-BR" sz="2000">
                  <a:solidFill>
                    <a:srgbClr val="C0392B"/>
                  </a:solidFill>
                  <a:latin typeface="Courier New"/>
                  <a:ea typeface="Courier New"/>
                  <a:cs typeface="Courier New"/>
                  <a:sym typeface="Courier New"/>
                </a:rPr>
                <a:t>Verificar situação</a:t>
              </a:r>
              <a:endParaRPr b="1" sz="2000">
                <a:solidFill>
                  <a:srgbClr val="1B2631"/>
                </a:solidFill>
                <a:latin typeface="Playfair Display"/>
                <a:ea typeface="Playfair Display"/>
                <a:cs typeface="Playfair Display"/>
                <a:sym typeface="Playfair Display"/>
              </a:endParaRPr>
            </a:p>
            <a:p>
              <a:pPr indent="0" lvl="0" marL="0" rtl="0" algn="l">
                <a:spcBef>
                  <a:spcPts val="0"/>
                </a:spcBef>
                <a:spcAft>
                  <a:spcPts val="0"/>
                </a:spcAft>
                <a:buNone/>
              </a:pPr>
              <a:r>
                <a:rPr b="0" lang="pt-BR" sz="1600">
                  <a:solidFill>
                    <a:srgbClr val="34495E"/>
                  </a:solidFill>
                  <a:latin typeface="Playfair Display"/>
                  <a:ea typeface="Playfair Display"/>
                  <a:cs typeface="Playfair Display"/>
                  <a:sym typeface="Playfair Display"/>
                </a:rPr>
                <a:t>Validação baseada nos critérios</a:t>
              </a:r>
              <a:endParaRPr b="0" sz="1600">
                <a:solidFill>
                  <a:srgbClr val="34495E"/>
                </a:solidFill>
                <a:latin typeface="Playfair Display"/>
                <a:ea typeface="Playfair Display"/>
                <a:cs typeface="Playfair Display"/>
                <a:sym typeface="Playfair Display"/>
              </a:endParaRPr>
            </a:p>
          </p:txBody>
        </p:sp>
      </p:grpSp>
      <p:grpSp>
        <p:nvGrpSpPr>
          <p:cNvPr id="402" name="Google Shape;402;p29"/>
          <p:cNvGrpSpPr/>
          <p:nvPr/>
        </p:nvGrpSpPr>
        <p:grpSpPr>
          <a:xfrm>
            <a:off x="762000" y="4381500"/>
            <a:ext cx="5334000" cy="1143000"/>
            <a:chOff x="762000" y="4381500"/>
            <a:chExt cx="5334000" cy="1143000"/>
          </a:xfrm>
        </p:grpSpPr>
        <p:sp>
          <p:nvSpPr>
            <p:cNvPr id="403" name="Google Shape;403;p29"/>
            <p:cNvSpPr/>
            <p:nvPr/>
          </p:nvSpPr>
          <p:spPr>
            <a:xfrm>
              <a:off x="762000" y="4381500"/>
              <a:ext cx="5334000" cy="1143000"/>
            </a:xfrm>
            <a:prstGeom prst="roundRect">
              <a:avLst>
                <a:gd fmla="val 12500" name="adj"/>
              </a:avLst>
            </a:prstGeom>
            <a:solidFill>
              <a:srgbClr val="FFFFFF">
                <a:alpha val="8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4" name="Google Shape;404;p29"/>
            <p:cNvSpPr txBox="1"/>
            <p:nvPr/>
          </p:nvSpPr>
          <p:spPr>
            <a:xfrm>
              <a:off x="952500" y="4719828"/>
              <a:ext cx="5715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pt-BR" sz="3600">
                  <a:solidFill>
                    <a:srgbClr val="C0392B"/>
                  </a:solidFill>
                  <a:latin typeface="Material Icons"/>
                  <a:ea typeface="Material Icons"/>
                  <a:cs typeface="Material Icons"/>
                  <a:sym typeface="Material Icons"/>
                </a:rPr>
                <a:t>settings</a:t>
              </a:r>
              <a:endParaRPr b="0" sz="3600">
                <a:solidFill>
                  <a:srgbClr val="C0392B"/>
                </a:solidFill>
                <a:latin typeface="Material Icons"/>
                <a:ea typeface="Material Icons"/>
                <a:cs typeface="Material Icons"/>
                <a:sym typeface="Material Icons"/>
              </a:endParaRPr>
            </a:p>
          </p:txBody>
        </p:sp>
        <p:sp>
          <p:nvSpPr>
            <p:cNvPr id="405" name="Google Shape;405;p29"/>
            <p:cNvSpPr txBox="1"/>
            <p:nvPr/>
          </p:nvSpPr>
          <p:spPr>
            <a:xfrm>
              <a:off x="1714500" y="4476750"/>
              <a:ext cx="4191000" cy="952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pt-BR" sz="2000">
                  <a:solidFill>
                    <a:srgbClr val="1B2631"/>
                  </a:solidFill>
                  <a:latin typeface="Playfair Display"/>
                  <a:ea typeface="Playfair Display"/>
                  <a:cs typeface="Playfair Display"/>
                  <a:sym typeface="Playfair Display"/>
                </a:rPr>
                <a:t>Principal – </a:t>
              </a:r>
              <a:r>
                <a:rPr b="1" lang="pt-BR" sz="2000">
                  <a:solidFill>
                    <a:srgbClr val="C0392B"/>
                  </a:solidFill>
                  <a:latin typeface="Courier New"/>
                  <a:ea typeface="Courier New"/>
                  <a:cs typeface="Courier New"/>
                  <a:sym typeface="Courier New"/>
                </a:rPr>
                <a:t>Organizar interação</a:t>
              </a:r>
              <a:endParaRPr b="1" sz="2000">
                <a:solidFill>
                  <a:srgbClr val="1B2631"/>
                </a:solidFill>
                <a:latin typeface="Playfair Display"/>
                <a:ea typeface="Playfair Display"/>
                <a:cs typeface="Playfair Display"/>
                <a:sym typeface="Playfair Display"/>
              </a:endParaRPr>
            </a:p>
            <a:p>
              <a:pPr indent="0" lvl="0" marL="0" rtl="0" algn="l">
                <a:spcBef>
                  <a:spcPts val="0"/>
                </a:spcBef>
                <a:spcAft>
                  <a:spcPts val="0"/>
                </a:spcAft>
                <a:buNone/>
              </a:pPr>
              <a:r>
                <a:rPr b="0" lang="pt-BR" sz="1600">
                  <a:solidFill>
                    <a:srgbClr val="34495E"/>
                  </a:solidFill>
                  <a:latin typeface="Playfair Display"/>
                  <a:ea typeface="Playfair Display"/>
                  <a:cs typeface="Playfair Display"/>
                  <a:sym typeface="Playfair Display"/>
                </a:rPr>
                <a:t>Orquestração do fluxo do programa</a:t>
              </a:r>
              <a:endParaRPr b="0" sz="1600">
                <a:solidFill>
                  <a:srgbClr val="34495E"/>
                </a:solidFill>
                <a:latin typeface="Playfair Display"/>
                <a:ea typeface="Playfair Display"/>
                <a:cs typeface="Playfair Display"/>
                <a:sym typeface="Playfair Display"/>
              </a:endParaRPr>
            </a:p>
          </p:txBody>
        </p:sp>
      </p:grpSp>
      <p:grpSp>
        <p:nvGrpSpPr>
          <p:cNvPr id="406" name="Google Shape;406;p29"/>
          <p:cNvGrpSpPr/>
          <p:nvPr/>
        </p:nvGrpSpPr>
        <p:grpSpPr>
          <a:xfrm>
            <a:off x="6477000" y="1714500"/>
            <a:ext cx="4762500" cy="3810000"/>
            <a:chOff x="6477000" y="1714500"/>
            <a:chExt cx="4762500" cy="3810000"/>
          </a:xfrm>
        </p:grpSpPr>
        <p:sp>
          <p:nvSpPr>
            <p:cNvPr id="407" name="Google Shape;407;p29"/>
            <p:cNvSpPr/>
            <p:nvPr/>
          </p:nvSpPr>
          <p:spPr>
            <a:xfrm>
              <a:off x="6477000" y="1714500"/>
              <a:ext cx="4762500" cy="3810000"/>
            </a:xfrm>
            <a:prstGeom prst="roundRect">
              <a:avLst>
                <a:gd fmla="val 3750" name="adj"/>
              </a:avLst>
            </a:prstGeom>
            <a:solidFill>
              <a:srgbClr val="FFFFFF">
                <a:alpha val="9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descr="A professional infographic representing software modularization. It shows three distinct blocks labeled 'Entrada', 'Processamento', and 'Saída' connected by arrows, illustrating how functions break down a complex problem into smaller, manageable units. Clean, modern vector style with a blue and red color palette." id="408" name="Google Shape;408;p29"/>
            <p:cNvPicPr preferRelativeResize="0"/>
            <p:nvPr/>
          </p:nvPicPr>
          <p:blipFill rotWithShape="1">
            <a:blip r:embed="rId4">
              <a:alphaModFix/>
            </a:blip>
            <a:srcRect b="0" l="2080" r="2089" t="0"/>
            <a:stretch/>
          </p:blipFill>
          <p:spPr>
            <a:xfrm>
              <a:off x="6667500" y="1905000"/>
              <a:ext cx="4381500" cy="3429000"/>
            </a:xfrm>
            <a:prstGeom prst="rect">
              <a:avLst/>
            </a:prstGeom>
            <a:noFill/>
            <a:ln>
              <a:noFill/>
            </a:ln>
          </p:spPr>
        </p:pic>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pic>
        <p:nvPicPr>
          <p:cNvPr id="413" name="Google Shape;413;p3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414" name="Google Shape;414;p30"/>
          <p:cNvSpPr txBox="1"/>
          <p:nvPr/>
        </p:nvSpPr>
        <p:spPr>
          <a:xfrm>
            <a:off x="609600" y="381000"/>
            <a:ext cx="10972800" cy="952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pt-BR" sz="4800">
                <a:solidFill>
                  <a:srgbClr val="1B2631"/>
                </a:solidFill>
                <a:latin typeface="Playfair Display"/>
                <a:ea typeface="Playfair Display"/>
                <a:cs typeface="Playfair Display"/>
                <a:sym typeface="Playfair Display"/>
              </a:rPr>
              <a:t>Erros Comuns de Iniciantes</a:t>
            </a:r>
            <a:endParaRPr b="1" sz="4800">
              <a:solidFill>
                <a:srgbClr val="1B2631"/>
              </a:solidFill>
              <a:latin typeface="Playfair Display"/>
              <a:ea typeface="Playfair Display"/>
              <a:cs typeface="Playfair Display"/>
              <a:sym typeface="Playfair Display"/>
            </a:endParaRPr>
          </a:p>
        </p:txBody>
      </p:sp>
      <p:grpSp>
        <p:nvGrpSpPr>
          <p:cNvPr id="415" name="Google Shape;415;p30"/>
          <p:cNvGrpSpPr/>
          <p:nvPr/>
        </p:nvGrpSpPr>
        <p:grpSpPr>
          <a:xfrm>
            <a:off x="762000" y="1714500"/>
            <a:ext cx="5334000" cy="1143000"/>
            <a:chOff x="762000" y="1714500"/>
            <a:chExt cx="5334000" cy="1143000"/>
          </a:xfrm>
        </p:grpSpPr>
        <p:sp>
          <p:nvSpPr>
            <p:cNvPr id="416" name="Google Shape;416;p30"/>
            <p:cNvSpPr/>
            <p:nvPr/>
          </p:nvSpPr>
          <p:spPr>
            <a:xfrm>
              <a:off x="762000" y="1714500"/>
              <a:ext cx="5334000" cy="1143000"/>
            </a:xfrm>
            <a:prstGeom prst="roundRect">
              <a:avLst>
                <a:gd fmla="val 12500" name="adj"/>
              </a:avLst>
            </a:prstGeom>
            <a:solidFill>
              <a:srgbClr val="FFFFFF">
                <a:alpha val="8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7" name="Google Shape;417;p30"/>
            <p:cNvSpPr txBox="1"/>
            <p:nvPr/>
          </p:nvSpPr>
          <p:spPr>
            <a:xfrm>
              <a:off x="952500" y="2052828"/>
              <a:ext cx="5715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lang="pt-BR" sz="3600">
                  <a:solidFill>
                    <a:srgbClr val="C0392B"/>
                  </a:solidFill>
                  <a:latin typeface="Material Icons"/>
                  <a:ea typeface="Material Icons"/>
                  <a:cs typeface="Material Icons"/>
                  <a:sym typeface="Material Icons"/>
                </a:rPr>
                <a:t>view_headline</a:t>
              </a:r>
              <a:endParaRPr sz="3600">
                <a:solidFill>
                  <a:srgbClr val="C0392B"/>
                </a:solidFill>
                <a:latin typeface="Material Icons"/>
                <a:ea typeface="Material Icons"/>
                <a:cs typeface="Material Icons"/>
                <a:sym typeface="Material Icons"/>
              </a:endParaRPr>
            </a:p>
          </p:txBody>
        </p:sp>
        <p:sp>
          <p:nvSpPr>
            <p:cNvPr id="418" name="Google Shape;418;p30"/>
            <p:cNvSpPr txBox="1"/>
            <p:nvPr/>
          </p:nvSpPr>
          <p:spPr>
            <a:xfrm>
              <a:off x="1714500" y="1809750"/>
              <a:ext cx="4191000" cy="952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pt-BR" sz="2000">
                  <a:solidFill>
                    <a:srgbClr val="C0392B"/>
                  </a:solidFill>
                  <a:latin typeface="Courier New"/>
                  <a:ea typeface="Courier New"/>
                  <a:cs typeface="Courier New"/>
                  <a:sym typeface="Courier New"/>
                </a:rPr>
                <a:t>Funções longas</a:t>
              </a:r>
              <a:endParaRPr b="1" sz="2000">
                <a:solidFill>
                  <a:srgbClr val="1B2631"/>
                </a:solidFill>
                <a:latin typeface="Playfair Display"/>
                <a:ea typeface="Playfair Display"/>
                <a:cs typeface="Playfair Display"/>
                <a:sym typeface="Playfair Display"/>
              </a:endParaRPr>
            </a:p>
            <a:p>
              <a:pPr indent="0" lvl="0" marL="0" rtl="0" algn="l">
                <a:spcBef>
                  <a:spcPts val="0"/>
                </a:spcBef>
                <a:spcAft>
                  <a:spcPts val="0"/>
                </a:spcAft>
                <a:buNone/>
              </a:pPr>
              <a:r>
                <a:rPr b="0" lang="pt-BR" sz="1600">
                  <a:solidFill>
                    <a:srgbClr val="34495E"/>
                  </a:solidFill>
                  <a:latin typeface="Playfair Display"/>
                  <a:ea typeface="Playfair Display"/>
                  <a:cs typeface="Playfair Display"/>
                  <a:sym typeface="Playfair Display"/>
                </a:rPr>
                <a:t>Muitas responsabilidades</a:t>
              </a:r>
              <a:endParaRPr b="0" sz="1600">
                <a:solidFill>
                  <a:srgbClr val="34495E"/>
                </a:solidFill>
                <a:latin typeface="Playfair Display"/>
                <a:ea typeface="Playfair Display"/>
                <a:cs typeface="Playfair Display"/>
                <a:sym typeface="Playfair Display"/>
              </a:endParaRPr>
            </a:p>
          </p:txBody>
        </p:sp>
      </p:grpSp>
      <p:grpSp>
        <p:nvGrpSpPr>
          <p:cNvPr id="419" name="Google Shape;419;p30"/>
          <p:cNvGrpSpPr/>
          <p:nvPr/>
        </p:nvGrpSpPr>
        <p:grpSpPr>
          <a:xfrm>
            <a:off x="762000" y="3048000"/>
            <a:ext cx="5334000" cy="1143000"/>
            <a:chOff x="762000" y="3048000"/>
            <a:chExt cx="5334000" cy="1143000"/>
          </a:xfrm>
        </p:grpSpPr>
        <p:sp>
          <p:nvSpPr>
            <p:cNvPr id="420" name="Google Shape;420;p30"/>
            <p:cNvSpPr/>
            <p:nvPr/>
          </p:nvSpPr>
          <p:spPr>
            <a:xfrm>
              <a:off x="762000" y="3048000"/>
              <a:ext cx="5334000" cy="1143000"/>
            </a:xfrm>
            <a:prstGeom prst="roundRect">
              <a:avLst>
                <a:gd fmla="val 12500" name="adj"/>
              </a:avLst>
            </a:prstGeom>
            <a:solidFill>
              <a:srgbClr val="FFFFFF">
                <a:alpha val="8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1" name="Google Shape;421;p30"/>
            <p:cNvSpPr txBox="1"/>
            <p:nvPr/>
          </p:nvSpPr>
          <p:spPr>
            <a:xfrm>
              <a:off x="952500" y="3386328"/>
              <a:ext cx="5715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lang="pt-BR" sz="3600">
                  <a:solidFill>
                    <a:srgbClr val="C0392B"/>
                  </a:solidFill>
                  <a:latin typeface="Material Icons"/>
                  <a:ea typeface="Material Icons"/>
                  <a:cs typeface="Material Icons"/>
                  <a:sym typeface="Material Icons"/>
                </a:rPr>
                <a:t>bug_report</a:t>
              </a:r>
              <a:endParaRPr sz="3600">
                <a:solidFill>
                  <a:srgbClr val="C0392B"/>
                </a:solidFill>
                <a:latin typeface="Material Icons"/>
                <a:ea typeface="Material Icons"/>
                <a:cs typeface="Material Icons"/>
                <a:sym typeface="Material Icons"/>
              </a:endParaRPr>
            </a:p>
          </p:txBody>
        </p:sp>
        <p:sp>
          <p:nvSpPr>
            <p:cNvPr id="422" name="Google Shape;422;p30"/>
            <p:cNvSpPr txBox="1"/>
            <p:nvPr/>
          </p:nvSpPr>
          <p:spPr>
            <a:xfrm>
              <a:off x="1714500" y="3143250"/>
              <a:ext cx="4191000" cy="952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pt-BR" sz="2000">
                  <a:solidFill>
                    <a:srgbClr val="1B2631"/>
                  </a:solidFill>
                  <a:latin typeface="Playfair Display"/>
                  <a:ea typeface="Playfair Display"/>
                  <a:cs typeface="Playfair Display"/>
                  <a:sym typeface="Playfair Display"/>
                </a:rPr>
                <a:t>Sem testes</a:t>
              </a:r>
              <a:endParaRPr b="1" sz="2000">
                <a:solidFill>
                  <a:srgbClr val="1B2631"/>
                </a:solidFill>
                <a:latin typeface="Playfair Display"/>
                <a:ea typeface="Playfair Display"/>
                <a:cs typeface="Playfair Display"/>
                <a:sym typeface="Playfair Display"/>
              </a:endParaRPr>
            </a:p>
            <a:p>
              <a:pPr indent="0" lvl="0" marL="0" rtl="0" algn="l">
                <a:spcBef>
                  <a:spcPts val="0"/>
                </a:spcBef>
                <a:spcAft>
                  <a:spcPts val="0"/>
                </a:spcAft>
                <a:buNone/>
              </a:pPr>
              <a:r>
                <a:rPr b="0" lang="pt-BR" sz="1600">
                  <a:solidFill>
                    <a:srgbClr val="34495E"/>
                  </a:solidFill>
                  <a:latin typeface="Playfair Display"/>
                  <a:ea typeface="Playfair Display"/>
                  <a:cs typeface="Playfair Display"/>
                  <a:sym typeface="Playfair Display"/>
                </a:rPr>
                <a:t>Confiança excessiva</a:t>
              </a:r>
              <a:endParaRPr b="0" sz="1600">
                <a:solidFill>
                  <a:srgbClr val="34495E"/>
                </a:solidFill>
                <a:latin typeface="Playfair Display"/>
                <a:ea typeface="Playfair Display"/>
                <a:cs typeface="Playfair Display"/>
                <a:sym typeface="Playfair Display"/>
              </a:endParaRPr>
            </a:p>
          </p:txBody>
        </p:sp>
      </p:grpSp>
      <p:grpSp>
        <p:nvGrpSpPr>
          <p:cNvPr id="423" name="Google Shape;423;p30"/>
          <p:cNvGrpSpPr/>
          <p:nvPr/>
        </p:nvGrpSpPr>
        <p:grpSpPr>
          <a:xfrm>
            <a:off x="762000" y="4381500"/>
            <a:ext cx="5334000" cy="1143000"/>
            <a:chOff x="762000" y="4381500"/>
            <a:chExt cx="5334000" cy="1143000"/>
          </a:xfrm>
        </p:grpSpPr>
        <p:sp>
          <p:nvSpPr>
            <p:cNvPr id="424" name="Google Shape;424;p30"/>
            <p:cNvSpPr/>
            <p:nvPr/>
          </p:nvSpPr>
          <p:spPr>
            <a:xfrm>
              <a:off x="762000" y="4381500"/>
              <a:ext cx="5334000" cy="1143000"/>
            </a:xfrm>
            <a:prstGeom prst="roundRect">
              <a:avLst>
                <a:gd fmla="val 12500" name="adj"/>
              </a:avLst>
            </a:prstGeom>
            <a:solidFill>
              <a:srgbClr val="FFFFFF">
                <a:alpha val="8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5" name="Google Shape;425;p30"/>
            <p:cNvSpPr txBox="1"/>
            <p:nvPr/>
          </p:nvSpPr>
          <p:spPr>
            <a:xfrm>
              <a:off x="952500" y="4719828"/>
              <a:ext cx="5715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lang="pt-BR" sz="3600">
                  <a:solidFill>
                    <a:srgbClr val="C0392B"/>
                  </a:solidFill>
                  <a:latin typeface="Material Icons"/>
                  <a:ea typeface="Material Icons"/>
                  <a:cs typeface="Material Icons"/>
                  <a:sym typeface="Material Icons"/>
                </a:rPr>
                <a:t>public</a:t>
              </a:r>
              <a:endParaRPr sz="3600">
                <a:solidFill>
                  <a:srgbClr val="C0392B"/>
                </a:solidFill>
                <a:latin typeface="Material Icons"/>
                <a:ea typeface="Material Icons"/>
                <a:cs typeface="Material Icons"/>
                <a:sym typeface="Material Icons"/>
              </a:endParaRPr>
            </a:p>
          </p:txBody>
        </p:sp>
        <p:sp>
          <p:nvSpPr>
            <p:cNvPr id="426" name="Google Shape;426;p30"/>
            <p:cNvSpPr txBox="1"/>
            <p:nvPr/>
          </p:nvSpPr>
          <p:spPr>
            <a:xfrm>
              <a:off x="1714500" y="4476750"/>
              <a:ext cx="4191000" cy="952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pt-BR" sz="2000">
                  <a:solidFill>
                    <a:srgbClr val="C0392B"/>
                  </a:solidFill>
                  <a:latin typeface="Courier New"/>
                  <a:ea typeface="Courier New"/>
                  <a:cs typeface="Courier New"/>
                  <a:sym typeface="Courier New"/>
                </a:rPr>
                <a:t>Globais</a:t>
              </a:r>
              <a:endParaRPr b="1" sz="2000">
                <a:solidFill>
                  <a:srgbClr val="1B2631"/>
                </a:solidFill>
                <a:latin typeface="Playfair Display"/>
                <a:ea typeface="Playfair Display"/>
                <a:cs typeface="Playfair Display"/>
                <a:sym typeface="Playfair Display"/>
              </a:endParaRPr>
            </a:p>
            <a:p>
              <a:pPr indent="0" lvl="0" marL="0" rtl="0" algn="l">
                <a:spcBef>
                  <a:spcPts val="0"/>
                </a:spcBef>
                <a:spcAft>
                  <a:spcPts val="0"/>
                </a:spcAft>
                <a:buNone/>
              </a:pPr>
              <a:r>
                <a:rPr b="0" lang="pt-BR" sz="1600">
                  <a:solidFill>
                    <a:srgbClr val="34495E"/>
                  </a:solidFill>
                  <a:latin typeface="Playfair Display"/>
                  <a:ea typeface="Playfair Display"/>
                  <a:cs typeface="Playfair Display"/>
                  <a:sym typeface="Playfair Display"/>
                </a:rPr>
                <a:t>Uso indevido de variáveis globais</a:t>
              </a:r>
              <a:endParaRPr b="0" sz="1600">
                <a:solidFill>
                  <a:srgbClr val="34495E"/>
                </a:solidFill>
                <a:latin typeface="Playfair Display"/>
                <a:ea typeface="Playfair Display"/>
                <a:cs typeface="Playfair Display"/>
                <a:sym typeface="Playfair Display"/>
              </a:endParaRPr>
            </a:p>
          </p:txBody>
        </p:sp>
      </p:grpSp>
      <p:grpSp>
        <p:nvGrpSpPr>
          <p:cNvPr id="427" name="Google Shape;427;p30"/>
          <p:cNvGrpSpPr/>
          <p:nvPr/>
        </p:nvGrpSpPr>
        <p:grpSpPr>
          <a:xfrm>
            <a:off x="6477000" y="1714500"/>
            <a:ext cx="4762500" cy="3810000"/>
            <a:chOff x="6477000" y="1714500"/>
            <a:chExt cx="4762500" cy="3810000"/>
          </a:xfrm>
        </p:grpSpPr>
        <p:sp>
          <p:nvSpPr>
            <p:cNvPr id="428" name="Google Shape;428;p30"/>
            <p:cNvSpPr/>
            <p:nvPr/>
          </p:nvSpPr>
          <p:spPr>
            <a:xfrm>
              <a:off x="6477000" y="1714500"/>
              <a:ext cx="4762500" cy="3810000"/>
            </a:xfrm>
            <a:prstGeom prst="roundRect">
              <a:avLst>
                <a:gd fmla="val 3750" name="adj"/>
              </a:avLst>
            </a:prstGeom>
            <a:solidFill>
              <a:srgbClr val="FFFFFF">
                <a:alpha val="9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descr="A clean, modern infographic illustrating common coding errors like &quot;Long Functions&quot; and &quot;Global Variables&quot;. Use a professional red and blue color palette with icons for 'warning', 'code', and 'testing'. The style should match a technical presentation with high legibility." id="429" name="Google Shape;429;p30"/>
            <p:cNvPicPr preferRelativeResize="0"/>
            <p:nvPr/>
          </p:nvPicPr>
          <p:blipFill rotWithShape="1">
            <a:blip r:embed="rId4">
              <a:alphaModFix/>
            </a:blip>
            <a:srcRect b="0" l="2080" r="2089" t="0"/>
            <a:stretch/>
          </p:blipFill>
          <p:spPr>
            <a:xfrm>
              <a:off x="6667500" y="1905000"/>
              <a:ext cx="4381500" cy="3429000"/>
            </a:xfrm>
            <a:prstGeom prst="roundRect">
              <a:avLst>
                <a:gd fmla="val 2777" name="adj"/>
              </a:avLst>
            </a:prstGeom>
            <a:noFill/>
            <a:ln>
              <a:noFill/>
            </a:ln>
          </p:spPr>
        </p:pic>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33" name="Shape 433"/>
        <p:cNvGrpSpPr/>
        <p:nvPr/>
      </p:nvGrpSpPr>
      <p:grpSpPr>
        <a:xfrm>
          <a:off x="0" y="0"/>
          <a:ext cx="0" cy="0"/>
          <a:chOff x="0" y="0"/>
          <a:chExt cx="0" cy="0"/>
        </a:xfrm>
      </p:grpSpPr>
      <p:pic>
        <p:nvPicPr>
          <p:cNvPr id="434" name="Google Shape;434;p31"/>
          <p:cNvPicPr preferRelativeResize="0"/>
          <p:nvPr/>
        </p:nvPicPr>
        <p:blipFill rotWithShape="1">
          <a:blip r:embed="rId4">
            <a:alphaModFix/>
          </a:blip>
          <a:srcRect b="0" l="1513" r="1522" t="0"/>
          <a:stretch/>
        </p:blipFill>
        <p:spPr>
          <a:xfrm>
            <a:off x="0" y="0"/>
            <a:ext cx="12192000" cy="6858000"/>
          </a:xfrm>
          <a:prstGeom prst="rect">
            <a:avLst/>
          </a:prstGeom>
          <a:noFill/>
          <a:ln>
            <a:noFill/>
          </a:ln>
        </p:spPr>
      </p:pic>
      <p:sp>
        <p:nvSpPr>
          <p:cNvPr id="435" name="Google Shape;435;p31"/>
          <p:cNvSpPr txBox="1"/>
          <p:nvPr/>
        </p:nvSpPr>
        <p:spPr>
          <a:xfrm>
            <a:off x="609600" y="381000"/>
            <a:ext cx="10972800" cy="952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pt-BR" sz="4800">
                <a:solidFill>
                  <a:srgbClr val="1B2631"/>
                </a:solidFill>
                <a:latin typeface="Playfair Display"/>
                <a:ea typeface="Playfair Display"/>
                <a:cs typeface="Playfair Display"/>
                <a:sym typeface="Playfair Display"/>
              </a:rPr>
              <a:t>Síntese da Aula</a:t>
            </a:r>
            <a:endParaRPr b="1" sz="4800">
              <a:solidFill>
                <a:srgbClr val="1B2631"/>
              </a:solidFill>
              <a:latin typeface="Playfair Display"/>
              <a:ea typeface="Playfair Display"/>
              <a:cs typeface="Playfair Display"/>
              <a:sym typeface="Playfair Display"/>
            </a:endParaRPr>
          </a:p>
        </p:txBody>
      </p:sp>
      <p:grpSp>
        <p:nvGrpSpPr>
          <p:cNvPr id="436" name="Google Shape;436;p31"/>
          <p:cNvGrpSpPr/>
          <p:nvPr/>
        </p:nvGrpSpPr>
        <p:grpSpPr>
          <a:xfrm>
            <a:off x="762000" y="1714500"/>
            <a:ext cx="5334000" cy="1143000"/>
            <a:chOff x="762000" y="1714500"/>
            <a:chExt cx="5334000" cy="1143000"/>
          </a:xfrm>
        </p:grpSpPr>
        <p:sp>
          <p:nvSpPr>
            <p:cNvPr id="437" name="Google Shape;437;p31"/>
            <p:cNvSpPr/>
            <p:nvPr/>
          </p:nvSpPr>
          <p:spPr>
            <a:xfrm>
              <a:off x="762000" y="1714500"/>
              <a:ext cx="5334000" cy="1143000"/>
            </a:xfrm>
            <a:prstGeom prst="roundRect">
              <a:avLst>
                <a:gd fmla="val 12500" name="adj"/>
              </a:avLst>
            </a:prstGeom>
            <a:solidFill>
              <a:srgbClr val="FFFFFF">
                <a:alpha val="8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8" name="Google Shape;438;p31"/>
            <p:cNvSpPr txBox="1"/>
            <p:nvPr/>
          </p:nvSpPr>
          <p:spPr>
            <a:xfrm>
              <a:off x="952500" y="2052828"/>
              <a:ext cx="5715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lang="pt-BR" sz="3600">
                  <a:solidFill>
                    <a:srgbClr val="C0392B"/>
                  </a:solidFill>
                  <a:latin typeface="Material Icons"/>
                  <a:ea typeface="Material Icons"/>
                  <a:cs typeface="Material Icons"/>
                  <a:sym typeface="Material Icons"/>
                </a:rPr>
                <a:t>account_tree</a:t>
              </a:r>
              <a:endParaRPr sz="3600">
                <a:solidFill>
                  <a:srgbClr val="C0392B"/>
                </a:solidFill>
                <a:latin typeface="Material Icons"/>
                <a:ea typeface="Material Icons"/>
                <a:cs typeface="Material Icons"/>
                <a:sym typeface="Material Icons"/>
              </a:endParaRPr>
            </a:p>
          </p:txBody>
        </p:sp>
        <p:sp>
          <p:nvSpPr>
            <p:cNvPr id="439" name="Google Shape;439;p31"/>
            <p:cNvSpPr txBox="1"/>
            <p:nvPr/>
          </p:nvSpPr>
          <p:spPr>
            <a:xfrm>
              <a:off x="1714500" y="1809750"/>
              <a:ext cx="4191000" cy="952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pt-BR" sz="2000">
                  <a:solidFill>
                    <a:srgbClr val="C0392B"/>
                  </a:solidFill>
                  <a:latin typeface="Courier New"/>
                  <a:ea typeface="Courier New"/>
                  <a:cs typeface="Courier New"/>
                  <a:sym typeface="Courier New"/>
                </a:rPr>
                <a:t>Funções</a:t>
              </a:r>
              <a:r>
                <a:rPr b="1" lang="pt-BR" sz="2000">
                  <a:solidFill>
                    <a:srgbClr val="1B2631"/>
                  </a:solidFill>
                  <a:latin typeface="Playfair Display"/>
                  <a:ea typeface="Playfair Display"/>
                  <a:cs typeface="Playfair Display"/>
                  <a:sym typeface="Playfair Display"/>
                </a:rPr>
                <a:t> – Organizam o raciocínio</a:t>
              </a:r>
              <a:endParaRPr b="1" sz="2000">
                <a:solidFill>
                  <a:srgbClr val="1B2631"/>
                </a:solidFill>
                <a:latin typeface="Playfair Display"/>
                <a:ea typeface="Playfair Display"/>
                <a:cs typeface="Playfair Display"/>
                <a:sym typeface="Playfair Display"/>
              </a:endParaRPr>
            </a:p>
          </p:txBody>
        </p:sp>
      </p:grpSp>
      <p:grpSp>
        <p:nvGrpSpPr>
          <p:cNvPr id="440" name="Google Shape;440;p31"/>
          <p:cNvGrpSpPr/>
          <p:nvPr/>
        </p:nvGrpSpPr>
        <p:grpSpPr>
          <a:xfrm>
            <a:off x="762000" y="3048000"/>
            <a:ext cx="5334000" cy="1143000"/>
            <a:chOff x="762000" y="3048000"/>
            <a:chExt cx="5334000" cy="1143000"/>
          </a:xfrm>
        </p:grpSpPr>
        <p:sp>
          <p:nvSpPr>
            <p:cNvPr id="441" name="Google Shape;441;p31"/>
            <p:cNvSpPr/>
            <p:nvPr/>
          </p:nvSpPr>
          <p:spPr>
            <a:xfrm>
              <a:off x="762000" y="3048000"/>
              <a:ext cx="5334000" cy="1143000"/>
            </a:xfrm>
            <a:prstGeom prst="roundRect">
              <a:avLst>
                <a:gd fmla="val 12500" name="adj"/>
              </a:avLst>
            </a:prstGeom>
            <a:solidFill>
              <a:srgbClr val="FFFFFF">
                <a:alpha val="8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2" name="Google Shape;442;p31"/>
            <p:cNvSpPr txBox="1"/>
            <p:nvPr/>
          </p:nvSpPr>
          <p:spPr>
            <a:xfrm>
              <a:off x="952500" y="3386328"/>
              <a:ext cx="5715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lang="pt-BR" sz="3600">
                  <a:solidFill>
                    <a:srgbClr val="C0392B"/>
                  </a:solidFill>
                  <a:latin typeface="Material Icons"/>
                  <a:ea typeface="Material Icons"/>
                  <a:cs typeface="Material Icons"/>
                  <a:sym typeface="Material Icons"/>
                </a:rPr>
                <a:t>view_module</a:t>
              </a:r>
              <a:endParaRPr sz="3600">
                <a:solidFill>
                  <a:srgbClr val="C0392B"/>
                </a:solidFill>
                <a:latin typeface="Material Icons"/>
                <a:ea typeface="Material Icons"/>
                <a:cs typeface="Material Icons"/>
                <a:sym typeface="Material Icons"/>
              </a:endParaRPr>
            </a:p>
          </p:txBody>
        </p:sp>
        <p:sp>
          <p:nvSpPr>
            <p:cNvPr id="443" name="Google Shape;443;p31"/>
            <p:cNvSpPr txBox="1"/>
            <p:nvPr/>
          </p:nvSpPr>
          <p:spPr>
            <a:xfrm>
              <a:off x="1714500" y="3143250"/>
              <a:ext cx="4191000" cy="952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pt-BR" sz="2000">
                  <a:solidFill>
                    <a:srgbClr val="C0392B"/>
                  </a:solidFill>
                  <a:latin typeface="Courier New"/>
                  <a:ea typeface="Courier New"/>
                  <a:cs typeface="Courier New"/>
                  <a:sym typeface="Courier New"/>
                </a:rPr>
                <a:t>Modularização</a:t>
              </a:r>
              <a:r>
                <a:rPr b="1" lang="pt-BR" sz="2000">
                  <a:solidFill>
                    <a:srgbClr val="1B2631"/>
                  </a:solidFill>
                  <a:latin typeface="Playfair Display"/>
                  <a:ea typeface="Playfair Display"/>
                  <a:cs typeface="Playfair Display"/>
                  <a:sym typeface="Playfair Display"/>
                </a:rPr>
                <a:t> – Reduz complexidade</a:t>
              </a:r>
              <a:endParaRPr b="1" sz="2000">
                <a:solidFill>
                  <a:srgbClr val="1B2631"/>
                </a:solidFill>
                <a:latin typeface="Playfair Display"/>
                <a:ea typeface="Playfair Display"/>
                <a:cs typeface="Playfair Display"/>
                <a:sym typeface="Playfair Display"/>
              </a:endParaRPr>
            </a:p>
          </p:txBody>
        </p:sp>
      </p:grpSp>
      <p:grpSp>
        <p:nvGrpSpPr>
          <p:cNvPr id="444" name="Google Shape;444;p31"/>
          <p:cNvGrpSpPr/>
          <p:nvPr/>
        </p:nvGrpSpPr>
        <p:grpSpPr>
          <a:xfrm>
            <a:off x="762000" y="4381500"/>
            <a:ext cx="5334000" cy="1143000"/>
            <a:chOff x="762000" y="4381500"/>
            <a:chExt cx="5334000" cy="1143000"/>
          </a:xfrm>
        </p:grpSpPr>
        <p:sp>
          <p:nvSpPr>
            <p:cNvPr id="445" name="Google Shape;445;p31"/>
            <p:cNvSpPr/>
            <p:nvPr/>
          </p:nvSpPr>
          <p:spPr>
            <a:xfrm>
              <a:off x="762000" y="4381500"/>
              <a:ext cx="5334000" cy="1143000"/>
            </a:xfrm>
            <a:prstGeom prst="roundRect">
              <a:avLst>
                <a:gd fmla="val 12500" name="adj"/>
              </a:avLst>
            </a:prstGeom>
            <a:solidFill>
              <a:srgbClr val="FFFFFF">
                <a:alpha val="8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6" name="Google Shape;446;p31"/>
            <p:cNvSpPr txBox="1"/>
            <p:nvPr/>
          </p:nvSpPr>
          <p:spPr>
            <a:xfrm>
              <a:off x="952500" y="4719828"/>
              <a:ext cx="5715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lang="pt-BR" sz="3600">
                  <a:solidFill>
                    <a:srgbClr val="C0392B"/>
                  </a:solidFill>
                  <a:latin typeface="Material Icons"/>
                  <a:ea typeface="Material Icons"/>
                  <a:cs typeface="Material Icons"/>
                  <a:sym typeface="Material Icons"/>
                </a:rPr>
                <a:t>bug_report</a:t>
              </a:r>
              <a:endParaRPr sz="3600">
                <a:solidFill>
                  <a:srgbClr val="C0392B"/>
                </a:solidFill>
                <a:latin typeface="Material Icons"/>
                <a:ea typeface="Material Icons"/>
                <a:cs typeface="Material Icons"/>
                <a:sym typeface="Material Icons"/>
              </a:endParaRPr>
            </a:p>
          </p:txBody>
        </p:sp>
        <p:sp>
          <p:nvSpPr>
            <p:cNvPr id="447" name="Google Shape;447;p31"/>
            <p:cNvSpPr txBox="1"/>
            <p:nvPr/>
          </p:nvSpPr>
          <p:spPr>
            <a:xfrm>
              <a:off x="1714500" y="4476750"/>
              <a:ext cx="4191000" cy="952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pt-BR" sz="2000">
                  <a:solidFill>
                    <a:srgbClr val="C0392B"/>
                  </a:solidFill>
                  <a:latin typeface="Courier New"/>
                  <a:ea typeface="Courier New"/>
                  <a:cs typeface="Courier New"/>
                  <a:sym typeface="Courier New"/>
                </a:rPr>
                <a:t>Depuração</a:t>
              </a:r>
              <a:r>
                <a:rPr b="1" lang="pt-BR" sz="2000">
                  <a:solidFill>
                    <a:srgbClr val="1B2631"/>
                  </a:solidFill>
                  <a:latin typeface="Playfair Display"/>
                  <a:ea typeface="Playfair Display"/>
                  <a:cs typeface="Playfair Display"/>
                  <a:sym typeface="Playfair Display"/>
                </a:rPr>
                <a:t> – Garante confiabilidade</a:t>
              </a:r>
              <a:endParaRPr b="1" sz="2000">
                <a:solidFill>
                  <a:srgbClr val="1B2631"/>
                </a:solidFill>
                <a:latin typeface="Playfair Display"/>
                <a:ea typeface="Playfair Display"/>
                <a:cs typeface="Playfair Display"/>
                <a:sym typeface="Playfair Display"/>
              </a:endParaRPr>
            </a:p>
          </p:txBody>
        </p:sp>
      </p:grpSp>
      <p:grpSp>
        <p:nvGrpSpPr>
          <p:cNvPr id="448" name="Google Shape;448;p31"/>
          <p:cNvGrpSpPr/>
          <p:nvPr/>
        </p:nvGrpSpPr>
        <p:grpSpPr>
          <a:xfrm>
            <a:off x="6477000" y="1714500"/>
            <a:ext cx="4762500" cy="3810000"/>
            <a:chOff x="6477000" y="1714500"/>
            <a:chExt cx="4762500" cy="3810000"/>
          </a:xfrm>
        </p:grpSpPr>
        <p:sp>
          <p:nvSpPr>
            <p:cNvPr id="449" name="Google Shape;449;p31"/>
            <p:cNvSpPr/>
            <p:nvPr/>
          </p:nvSpPr>
          <p:spPr>
            <a:xfrm>
              <a:off x="6477000" y="1714500"/>
              <a:ext cx="4762500" cy="3810000"/>
            </a:xfrm>
            <a:prstGeom prst="roundRect">
              <a:avLst>
                <a:gd fmla="val 3750" name="adj"/>
              </a:avLst>
            </a:prstGeom>
            <a:solidFill>
              <a:srgbClr val="FFFFFF">
                <a:alpha val="9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descr="A professional, modern infographic in a blue and red color palette showing a loop of code development: writing functions, connecting modules, and debugging code to achieve a final stable product. Minimalist vector style." id="450" name="Google Shape;450;p31"/>
            <p:cNvPicPr preferRelativeResize="0"/>
            <p:nvPr/>
          </p:nvPicPr>
          <p:blipFill rotWithShape="1">
            <a:blip r:embed="rId5">
              <a:alphaModFix/>
            </a:blip>
            <a:srcRect b="0" l="2080" r="2089" t="0"/>
            <a:stretch/>
          </p:blipFill>
          <p:spPr>
            <a:xfrm>
              <a:off x="6667500" y="1905000"/>
              <a:ext cx="4381500" cy="3429000"/>
            </a:xfrm>
            <a:prstGeom prst="roundRect">
              <a:avLst>
                <a:gd fmla="val 2777" name="adj"/>
              </a:avLst>
            </a:prstGeom>
            <a:noFill/>
            <a:ln>
              <a:noFill/>
            </a:ln>
          </p:spPr>
        </p:pic>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pic>
        <p:nvPicPr>
          <p:cNvPr descr="A very light blue, minimalist background featuring a subtle, semi-transparent pattern of random programming code snippets like brackets, semicolons, and curly braces scattered artistically. The style is clean and professional, ensuring high contrast for dark text overlays." id="455" name="Google Shape;455;p3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456" name="Google Shape;456;p32"/>
          <p:cNvSpPr txBox="1"/>
          <p:nvPr/>
        </p:nvSpPr>
        <p:spPr>
          <a:xfrm>
            <a:off x="609600" y="381000"/>
            <a:ext cx="10972800" cy="952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pt-BR" sz="4800">
                <a:solidFill>
                  <a:srgbClr val="1B2631"/>
                </a:solidFill>
                <a:latin typeface="Playfair Display"/>
                <a:ea typeface="Playfair Display"/>
                <a:cs typeface="Playfair Display"/>
                <a:sym typeface="Playfair Display"/>
              </a:rPr>
              <a:t>Encerramento</a:t>
            </a:r>
            <a:endParaRPr b="1" sz="4800">
              <a:solidFill>
                <a:srgbClr val="1B2631"/>
              </a:solidFill>
              <a:latin typeface="Playfair Display"/>
              <a:ea typeface="Playfair Display"/>
              <a:cs typeface="Playfair Display"/>
              <a:sym typeface="Playfair Display"/>
            </a:endParaRPr>
          </a:p>
        </p:txBody>
      </p:sp>
      <p:grpSp>
        <p:nvGrpSpPr>
          <p:cNvPr id="457" name="Google Shape;457;p32"/>
          <p:cNvGrpSpPr/>
          <p:nvPr/>
        </p:nvGrpSpPr>
        <p:grpSpPr>
          <a:xfrm>
            <a:off x="762000" y="1714500"/>
            <a:ext cx="5334000" cy="1238400"/>
            <a:chOff x="762000" y="1714500"/>
            <a:chExt cx="5334000" cy="1238400"/>
          </a:xfrm>
        </p:grpSpPr>
        <p:sp>
          <p:nvSpPr>
            <p:cNvPr id="458" name="Google Shape;458;p32"/>
            <p:cNvSpPr/>
            <p:nvPr/>
          </p:nvSpPr>
          <p:spPr>
            <a:xfrm>
              <a:off x="762000" y="1714500"/>
              <a:ext cx="5334000" cy="1238400"/>
            </a:xfrm>
            <a:prstGeom prst="roundRect">
              <a:avLst>
                <a:gd fmla="val 11538" name="adj"/>
              </a:avLst>
            </a:prstGeom>
            <a:solidFill>
              <a:srgbClr val="FFFFFF">
                <a:alpha val="8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9" name="Google Shape;459;p32"/>
            <p:cNvSpPr txBox="1"/>
            <p:nvPr/>
          </p:nvSpPr>
          <p:spPr>
            <a:xfrm>
              <a:off x="952500" y="2100453"/>
              <a:ext cx="571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pt-BR" sz="3600">
                  <a:solidFill>
                    <a:srgbClr val="C0392B"/>
                  </a:solidFill>
                  <a:latin typeface="Material Icons"/>
                  <a:ea typeface="Material Icons"/>
                  <a:cs typeface="Material Icons"/>
                  <a:sym typeface="Material Icons"/>
                </a:rPr>
                <a:t>arrow_forward</a:t>
              </a:r>
              <a:endParaRPr sz="3600">
                <a:solidFill>
                  <a:srgbClr val="C0392B"/>
                </a:solidFill>
                <a:latin typeface="Material Icons"/>
                <a:ea typeface="Material Icons"/>
                <a:cs typeface="Material Icons"/>
                <a:sym typeface="Material Icons"/>
              </a:endParaRPr>
            </a:p>
          </p:txBody>
        </p:sp>
        <p:sp>
          <p:nvSpPr>
            <p:cNvPr id="460" name="Google Shape;460;p32"/>
            <p:cNvSpPr txBox="1"/>
            <p:nvPr/>
          </p:nvSpPr>
          <p:spPr>
            <a:xfrm>
              <a:off x="1714500" y="1857375"/>
              <a:ext cx="4191000" cy="9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pt-BR" sz="2000">
                  <a:solidFill>
                    <a:srgbClr val="1B2631"/>
                  </a:solidFill>
                  <a:latin typeface="Playfair Display"/>
                  <a:ea typeface="Playfair Display"/>
                  <a:cs typeface="Playfair Display"/>
                  <a:sym typeface="Playfair Display"/>
                </a:rPr>
                <a:t>Próximo passo – </a:t>
              </a:r>
              <a:r>
                <a:rPr b="1" lang="pt-BR" sz="2000">
                  <a:solidFill>
                    <a:srgbClr val="C0392B"/>
                  </a:solidFill>
                  <a:latin typeface="Courier New"/>
                  <a:ea typeface="Courier New"/>
                  <a:cs typeface="Courier New"/>
                  <a:sym typeface="Courier New"/>
                </a:rPr>
                <a:t>Lista Prática 3</a:t>
              </a:r>
              <a:endParaRPr b="1" sz="2000">
                <a:solidFill>
                  <a:srgbClr val="1B2631"/>
                </a:solidFill>
                <a:latin typeface="Playfair Display"/>
                <a:ea typeface="Playfair Display"/>
                <a:cs typeface="Playfair Display"/>
                <a:sym typeface="Playfair Display"/>
              </a:endParaRPr>
            </a:p>
            <a:p>
              <a:pPr indent="0" lvl="0" marL="0" rtl="0" algn="l">
                <a:spcBef>
                  <a:spcPts val="300"/>
                </a:spcBef>
                <a:spcAft>
                  <a:spcPts val="0"/>
                </a:spcAft>
                <a:buNone/>
              </a:pPr>
              <a:r>
                <a:rPr b="0" lang="pt-BR" sz="1600">
                  <a:solidFill>
                    <a:srgbClr val="34495E"/>
                  </a:solidFill>
                  <a:latin typeface="Playfair Display"/>
                  <a:ea typeface="Playfair Display"/>
                  <a:cs typeface="Playfair Display"/>
                  <a:sym typeface="Playfair Display"/>
                </a:rPr>
                <a:t>Atividades de fixação do conteúdo</a:t>
              </a:r>
              <a:endParaRPr b="0" sz="1600">
                <a:solidFill>
                  <a:srgbClr val="34495E"/>
                </a:solidFill>
                <a:latin typeface="Playfair Display"/>
                <a:ea typeface="Playfair Display"/>
                <a:cs typeface="Playfair Display"/>
                <a:sym typeface="Playfair Display"/>
              </a:endParaRPr>
            </a:p>
          </p:txBody>
        </p:sp>
      </p:grpSp>
      <p:grpSp>
        <p:nvGrpSpPr>
          <p:cNvPr id="461" name="Google Shape;461;p32"/>
          <p:cNvGrpSpPr/>
          <p:nvPr/>
        </p:nvGrpSpPr>
        <p:grpSpPr>
          <a:xfrm>
            <a:off x="762000" y="3238500"/>
            <a:ext cx="5334000" cy="1238400"/>
            <a:chOff x="762000" y="3238500"/>
            <a:chExt cx="5334000" cy="1238400"/>
          </a:xfrm>
        </p:grpSpPr>
        <p:sp>
          <p:nvSpPr>
            <p:cNvPr id="462" name="Google Shape;462;p32"/>
            <p:cNvSpPr/>
            <p:nvPr/>
          </p:nvSpPr>
          <p:spPr>
            <a:xfrm>
              <a:off x="762000" y="3238500"/>
              <a:ext cx="5334000" cy="1238400"/>
            </a:xfrm>
            <a:prstGeom prst="roundRect">
              <a:avLst>
                <a:gd fmla="val 11538" name="adj"/>
              </a:avLst>
            </a:prstGeom>
            <a:solidFill>
              <a:srgbClr val="FFFFFF">
                <a:alpha val="8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3" name="Google Shape;463;p32"/>
            <p:cNvSpPr txBox="1"/>
            <p:nvPr/>
          </p:nvSpPr>
          <p:spPr>
            <a:xfrm>
              <a:off x="952500" y="3624453"/>
              <a:ext cx="571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pt-BR" sz="3600">
                  <a:solidFill>
                    <a:srgbClr val="C0392B"/>
                  </a:solidFill>
                  <a:latin typeface="Material Icons"/>
                  <a:ea typeface="Material Icons"/>
                  <a:cs typeface="Material Icons"/>
                  <a:sym typeface="Material Icons"/>
                </a:rPr>
                <a:t>assignment</a:t>
              </a:r>
              <a:endParaRPr sz="3600">
                <a:solidFill>
                  <a:srgbClr val="C0392B"/>
                </a:solidFill>
                <a:latin typeface="Material Icons"/>
                <a:ea typeface="Material Icons"/>
                <a:cs typeface="Material Icons"/>
                <a:sym typeface="Material Icons"/>
              </a:endParaRPr>
            </a:p>
          </p:txBody>
        </p:sp>
        <p:sp>
          <p:nvSpPr>
            <p:cNvPr id="464" name="Google Shape;464;p32"/>
            <p:cNvSpPr txBox="1"/>
            <p:nvPr/>
          </p:nvSpPr>
          <p:spPr>
            <a:xfrm>
              <a:off x="1714500" y="3381375"/>
              <a:ext cx="4191000" cy="9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pt-BR" sz="2000">
                  <a:solidFill>
                    <a:srgbClr val="1B2631"/>
                  </a:solidFill>
                  <a:latin typeface="Playfair Display"/>
                  <a:ea typeface="Playfair Display"/>
                  <a:cs typeface="Playfair Display"/>
                  <a:sym typeface="Playfair Display"/>
                </a:rPr>
                <a:t>Preparação – </a:t>
              </a:r>
              <a:r>
                <a:rPr b="1" lang="pt-BR" sz="2000">
                  <a:solidFill>
                    <a:srgbClr val="C0392B"/>
                  </a:solidFill>
                  <a:latin typeface="Courier New"/>
                  <a:ea typeface="Courier New"/>
                  <a:cs typeface="Courier New"/>
                  <a:sym typeface="Courier New"/>
                </a:rPr>
                <a:t>Projeto Integrador</a:t>
              </a:r>
              <a:endParaRPr b="1" sz="2000">
                <a:solidFill>
                  <a:srgbClr val="1B2631"/>
                </a:solidFill>
                <a:latin typeface="Playfair Display"/>
                <a:ea typeface="Playfair Display"/>
                <a:cs typeface="Playfair Display"/>
                <a:sym typeface="Playfair Display"/>
              </a:endParaRPr>
            </a:p>
            <a:p>
              <a:pPr indent="0" lvl="0" marL="0" rtl="0" algn="l">
                <a:spcBef>
                  <a:spcPts val="300"/>
                </a:spcBef>
                <a:spcAft>
                  <a:spcPts val="0"/>
                </a:spcAft>
                <a:buNone/>
              </a:pPr>
              <a:r>
                <a:rPr b="0" lang="pt-BR" sz="1600">
                  <a:solidFill>
                    <a:srgbClr val="34495E"/>
                  </a:solidFill>
                  <a:latin typeface="Playfair Display"/>
                  <a:ea typeface="Playfair Display"/>
                  <a:cs typeface="Playfair Display"/>
                  <a:sym typeface="Playfair Display"/>
                </a:rPr>
                <a:t>Aplicação prática dos conhecimentos</a:t>
              </a:r>
              <a:endParaRPr b="0" sz="1600">
                <a:solidFill>
                  <a:srgbClr val="34495E"/>
                </a:solidFill>
                <a:latin typeface="Playfair Display"/>
                <a:ea typeface="Playfair Display"/>
                <a:cs typeface="Playfair Display"/>
                <a:sym typeface="Playfair Display"/>
              </a:endParaRPr>
            </a:p>
          </p:txBody>
        </p:sp>
      </p:grpSp>
      <p:grpSp>
        <p:nvGrpSpPr>
          <p:cNvPr id="465" name="Google Shape;465;p32"/>
          <p:cNvGrpSpPr/>
          <p:nvPr/>
        </p:nvGrpSpPr>
        <p:grpSpPr>
          <a:xfrm>
            <a:off x="6477000" y="1714500"/>
            <a:ext cx="4762500" cy="4000500"/>
            <a:chOff x="6477000" y="1714500"/>
            <a:chExt cx="4762500" cy="4000500"/>
          </a:xfrm>
        </p:grpSpPr>
        <p:sp>
          <p:nvSpPr>
            <p:cNvPr id="466" name="Google Shape;466;p32"/>
            <p:cNvSpPr/>
            <p:nvPr/>
          </p:nvSpPr>
          <p:spPr>
            <a:xfrm>
              <a:off x="6477000" y="1714500"/>
              <a:ext cx="4762500" cy="4000500"/>
            </a:xfrm>
            <a:prstGeom prst="roundRect">
              <a:avLst>
                <a:gd fmla="val 3571" name="adj"/>
              </a:avLst>
            </a:prstGeom>
            <a:solidFill>
              <a:srgbClr val="FFFFFF">
                <a:alpha val="9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descr="A professional, modern infographic in a blue and red color palette illustrating a student or programmer finishing a project, checking off a list, and a hand waving goodbye. Clean vector style, high legibility, corporate technical aesthetic." id="467" name="Google Shape;467;p32"/>
            <p:cNvPicPr preferRelativeResize="0"/>
            <p:nvPr/>
          </p:nvPicPr>
          <p:blipFill rotWithShape="1">
            <a:blip r:embed="rId4">
              <a:alphaModFix/>
            </a:blip>
            <a:srcRect b="0" l="4603" r="4603" t="0"/>
            <a:stretch/>
          </p:blipFill>
          <p:spPr>
            <a:xfrm>
              <a:off x="6667500" y="1905000"/>
              <a:ext cx="4381500" cy="3619500"/>
            </a:xfrm>
            <a:prstGeom prst="roundRect">
              <a:avLst>
                <a:gd fmla="val 2631" name="adj"/>
              </a:avLst>
            </a:prstGeom>
            <a:noFill/>
            <a:ln>
              <a:noFill/>
            </a:ln>
          </p:spPr>
        </p:pic>
      </p:gr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